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498603c48804216" /><Relationship Type="http://schemas.openxmlformats.org/officeDocument/2006/relationships/extended-properties" Target="/docProps/app.xml" Id="Rf6392e042cfd4632" /><Relationship Type="http://schemas.openxmlformats.org/officeDocument/2006/relationships/officeDocument" Target="/ppt/presentation.xml" Id="R9f503811db674392" /></Relationships>
</file>

<file path=ppt/presentation.xml><?xml version="1.0" encoding="utf-8"?>
<p:presentation xmlns:p="http://schemas.openxmlformats.org/presentationml/2006/main">
  <p:sldMasterIdLst>
    <p:sldMasterId xmlns:r="http://schemas.openxmlformats.org/officeDocument/2006/relationships" id="2147483648" r:id="Rcde983cec52d4f02"/>
  </p:sldMasterIdLst>
  <p:notesMasterIdLst>
    <p:notesMasterId xmlns:r="http://schemas.openxmlformats.org/officeDocument/2006/relationships" r:id="Re6aed399e67047be"/>
  </p:notesMasterIdLst>
  <p:sldIdLst>
    <p:sldId xmlns:r="http://schemas.openxmlformats.org/officeDocument/2006/relationships" id="256" r:id="R5bdbcf4ec81c4832"/>
    <p:sldId xmlns:r="http://schemas.openxmlformats.org/officeDocument/2006/relationships" id="257" r:id="R6fb52934a2744f8b"/>
    <p:sldId xmlns:r="http://schemas.openxmlformats.org/officeDocument/2006/relationships" id="258" r:id="R8c714137460f4def"/>
    <p:sldId xmlns:r="http://schemas.openxmlformats.org/officeDocument/2006/relationships" id="259" r:id="Raaca1a9ab3c545c0"/>
    <p:sldId xmlns:r="http://schemas.openxmlformats.org/officeDocument/2006/relationships" id="260" r:id="Rcf3ca0e1c5034b0d"/>
    <p:sldId xmlns:r="http://schemas.openxmlformats.org/officeDocument/2006/relationships" id="261" r:id="R211e8cb2b30f47ae"/>
    <p:sldId xmlns:r="http://schemas.openxmlformats.org/officeDocument/2006/relationships" id="262" r:id="Reedd58b3098f4d03"/>
    <p:sldId xmlns:r="http://schemas.openxmlformats.org/officeDocument/2006/relationships" id="263" r:id="R279de99094a34939"/>
    <p:sldId xmlns:r="http://schemas.openxmlformats.org/officeDocument/2006/relationships" id="264" r:id="R583efadd679a459d"/>
    <p:sldId xmlns:r="http://schemas.openxmlformats.org/officeDocument/2006/relationships" id="265" r:id="R358c3e1aca214495"/>
    <p:sldId xmlns:r="http://schemas.openxmlformats.org/officeDocument/2006/relationships" id="266" r:id="R695b93ab4e934206"/>
    <p:sldId xmlns:r="http://schemas.openxmlformats.org/officeDocument/2006/relationships" id="267" r:id="Raef5ed1f948944c9"/>
    <p:sldId xmlns:r="http://schemas.openxmlformats.org/officeDocument/2006/relationships" id="268" r:id="R73f03f41a2774df1"/>
    <p:sldId xmlns:r="http://schemas.openxmlformats.org/officeDocument/2006/relationships" id="269" r:id="Re5e2c476f7cc4e56"/>
    <p:sldId xmlns:r="http://schemas.openxmlformats.org/officeDocument/2006/relationships" id="270" r:id="Rbc9236ad01a94bf0"/>
    <p:sldId xmlns:r="http://schemas.openxmlformats.org/officeDocument/2006/relationships" id="271" r:id="R4ecc0e52b74f45a3"/>
    <p:sldId xmlns:r="http://schemas.openxmlformats.org/officeDocument/2006/relationships" id="272" r:id="Rd9afc60fd0954314"/>
    <p:sldId xmlns:r="http://schemas.openxmlformats.org/officeDocument/2006/relationships" id="273" r:id="Rdd6aeb207cdc44ed"/>
    <p:sldId xmlns:r="http://schemas.openxmlformats.org/officeDocument/2006/relationships" id="274" r:id="R691bc19f681544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7089a6cd304eba" /><Relationship Type="http://schemas.openxmlformats.org/officeDocument/2006/relationships/slideMaster" Target="/ppt/slideMasters/slideMaster1.xml" Id="Rcde983cec52d4f02" /><Relationship Type="http://schemas.openxmlformats.org/officeDocument/2006/relationships/notesMaster" Target="/ppt/notesMasters/notesMaster1.xml" Id="Re6aed399e67047be" /><Relationship Type="http://schemas.openxmlformats.org/officeDocument/2006/relationships/presProps" Target="/ppt/presProps.xml" Id="R624e4e379b8f49ce" /><Relationship Type="http://schemas.openxmlformats.org/officeDocument/2006/relationships/tableStyles" Target="/ppt/tableStyles.xml" Id="Ra0cc77964ccd4f83" /><Relationship Type="http://schemas.openxmlformats.org/officeDocument/2006/relationships/slide" Target="/ppt/slides/slide1.xml" Id="R5bdbcf4ec81c4832" /><Relationship Type="http://schemas.openxmlformats.org/officeDocument/2006/relationships/slide" Target="/ppt/slides/slide2.xml" Id="R6fb52934a2744f8b" /><Relationship Type="http://schemas.openxmlformats.org/officeDocument/2006/relationships/slide" Target="/ppt/slides/slide3.xml" Id="R8c714137460f4def" /><Relationship Type="http://schemas.openxmlformats.org/officeDocument/2006/relationships/slide" Target="/ppt/slides/slide4.xml" Id="Raaca1a9ab3c545c0" /><Relationship Type="http://schemas.openxmlformats.org/officeDocument/2006/relationships/slide" Target="/ppt/slides/slide5.xml" Id="Rcf3ca0e1c5034b0d" /><Relationship Type="http://schemas.openxmlformats.org/officeDocument/2006/relationships/slide" Target="/ppt/slides/slide6.xml" Id="R211e8cb2b30f47ae" /><Relationship Type="http://schemas.openxmlformats.org/officeDocument/2006/relationships/slide" Target="/ppt/slides/slide7.xml" Id="Reedd58b3098f4d03" /><Relationship Type="http://schemas.openxmlformats.org/officeDocument/2006/relationships/slide" Target="/ppt/slides/slide8.xml" Id="R279de99094a34939" /><Relationship Type="http://schemas.openxmlformats.org/officeDocument/2006/relationships/slide" Target="/ppt/slides/slide9.xml" Id="R583efadd679a459d" /><Relationship Type="http://schemas.openxmlformats.org/officeDocument/2006/relationships/slide" Target="/ppt/slides/slide10.xml" Id="R358c3e1aca214495" /><Relationship Type="http://schemas.openxmlformats.org/officeDocument/2006/relationships/slide" Target="/ppt/slides/slide11.xml" Id="R695b93ab4e934206" /><Relationship Type="http://schemas.openxmlformats.org/officeDocument/2006/relationships/slide" Target="/ppt/slides/slide12.xml" Id="Raef5ed1f948944c9" /><Relationship Type="http://schemas.openxmlformats.org/officeDocument/2006/relationships/slide" Target="/ppt/slides/slide13.xml" Id="R73f03f41a2774df1" /><Relationship Type="http://schemas.openxmlformats.org/officeDocument/2006/relationships/slide" Target="/ppt/slides/slide14.xml" Id="Re5e2c476f7cc4e56" /><Relationship Type="http://schemas.openxmlformats.org/officeDocument/2006/relationships/slide" Target="/ppt/slides/slide15.xml" Id="Rbc9236ad01a94bf0" /><Relationship Type="http://schemas.openxmlformats.org/officeDocument/2006/relationships/slide" Target="/ppt/slides/slide16.xml" Id="R4ecc0e52b74f45a3" /><Relationship Type="http://schemas.openxmlformats.org/officeDocument/2006/relationships/slide" Target="/ppt/slides/slide17.xml" Id="Rd9afc60fd0954314" /><Relationship Type="http://schemas.openxmlformats.org/officeDocument/2006/relationships/slide" Target="/ppt/slides/slide18.xml" Id="Rdd6aeb207cdc44ed" /><Relationship Type="http://schemas.openxmlformats.org/officeDocument/2006/relationships/slide" Target="/ppt/slides/slide19.xml" Id="R691bc19f681544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5a059e1b084d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Scientific Editorial">
      <a:dk1>
        <a:srgbClr val="15181F"/>
      </a:dk1>
      <a:lt1>
        <a:srgbClr val="FFFFFF"/>
      </a:lt1>
      <a:dk2>
        <a:srgbClr val="252B36"/>
      </a:dk2>
      <a:lt2>
        <a:srgbClr val="F3F6FB"/>
      </a:lt2>
      <a:accent1>
        <a:srgbClr val="2457FF"/>
      </a:accent1>
      <a:accent2>
        <a:srgbClr val="A6B5D7"/>
      </a:accent2>
      <a:accent3>
        <a:srgbClr val="15181F"/>
      </a:accent3>
      <a:accent4>
        <a:srgbClr val="8B94A5"/>
      </a:accent4>
      <a:accent5>
        <a:srgbClr val="CFD8EE"/>
      </a:accent5>
      <a:accent6>
        <a:srgbClr val="DCE4F7"/>
      </a:accent6>
      <a:hlink>
        <a:srgbClr val="2457FF"/>
      </a:hlink>
      <a:folHlink>
        <a:srgbClr val="2457FF"/>
      </a:folHlink>
    </a:clrScheme>
    <a:fontScheme name="">
      <a:majorFont>
        <a:latin typeface="Cairo"/>
        <a:ea typeface=""/>
        <a:cs typeface=""/>
      </a:majorFont>
      <a:minorFont>
        <a:latin typeface="Cairo"/>
        <a:ea typeface=""/>
        <a:cs typeface=""/>
      </a:minorFont>
    </a:fontScheme>
    <a:fmtScheme name="Scientific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b2cece482c433c" /><Relationship Type="http://schemas.openxmlformats.org/officeDocument/2006/relationships/notesMaster" Target="/ppt/notesMasters/notesMaster1.xml" Id="R507ce446f1a247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fb2e82d6c7401c" /><Relationship Type="http://schemas.openxmlformats.org/officeDocument/2006/relationships/notesMaster" Target="/ppt/notesMasters/notesMaster1.xml" Id="R9c6325d5bc094f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adb082eec140ed" /><Relationship Type="http://schemas.openxmlformats.org/officeDocument/2006/relationships/notesMaster" Target="/ppt/notesMasters/notesMaster1.xml" Id="R566c38742f384d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a37fc73e2347a1" /><Relationship Type="http://schemas.openxmlformats.org/officeDocument/2006/relationships/notesMaster" Target="/ppt/notesMasters/notesMaster1.xml" Id="R8c8048c39ffa4e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0976b335aa4e82" /><Relationship Type="http://schemas.openxmlformats.org/officeDocument/2006/relationships/notesMaster" Target="/ppt/notesMasters/notesMaster1.xml" Id="R7147ed13f2b74a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0a510467bf4105" /><Relationship Type="http://schemas.openxmlformats.org/officeDocument/2006/relationships/notesMaster" Target="/ppt/notesMasters/notesMaster1.xml" Id="R94870c8eccd448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d30b66432e4439" /><Relationship Type="http://schemas.openxmlformats.org/officeDocument/2006/relationships/notesMaster" Target="/ppt/notesMasters/notesMaster1.xml" Id="R16ef88c15d6640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35768f98c4c47af" /><Relationship Type="http://schemas.openxmlformats.org/officeDocument/2006/relationships/notesMaster" Target="/ppt/notesMasters/notesMaster1.xml" Id="Rd71014f551b940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14e0dda0b2f401d" /><Relationship Type="http://schemas.openxmlformats.org/officeDocument/2006/relationships/notesMaster" Target="/ppt/notesMasters/notesMaster1.xml" Id="Re2e31491b16640a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a3b2731e080487d" /><Relationship Type="http://schemas.openxmlformats.org/officeDocument/2006/relationships/notesMaster" Target="/ppt/notesMasters/notesMaster1.xml" Id="R95f6b8184c1d4bb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5f698a6e9174a74" /><Relationship Type="http://schemas.openxmlformats.org/officeDocument/2006/relationships/notesMaster" Target="/ppt/notesMasters/notesMaster1.xml" Id="R00d769d14dcc49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f8fec9e69bc46be" /><Relationship Type="http://schemas.openxmlformats.org/officeDocument/2006/relationships/notesMaster" Target="/ppt/notesMasters/notesMaster1.xml" Id="R9fdffe6565d6404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05cca20f253486d" /><Relationship Type="http://schemas.openxmlformats.org/officeDocument/2006/relationships/notesMaster" Target="/ppt/notesMasters/notesMaster1.xml" Id="Ree01aa69fbc9459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04ab57db2944b50" /><Relationship Type="http://schemas.openxmlformats.org/officeDocument/2006/relationships/notesMaster" Target="/ppt/notesMasters/notesMaster1.xml" Id="Rce5e0591c2c9432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5aa3938313e4188" /><Relationship Type="http://schemas.openxmlformats.org/officeDocument/2006/relationships/notesMaster" Target="/ppt/notesMasters/notesMaster1.xml" Id="Rc6b248f1185f46e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d33e481f3ff4546" /><Relationship Type="http://schemas.openxmlformats.org/officeDocument/2006/relationships/notesMaster" Target="/ppt/notesMasters/notesMaster1.xml" Id="R65265fa312f7441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a728ac0472a435f" /><Relationship Type="http://schemas.openxmlformats.org/officeDocument/2006/relationships/notesMaster" Target="/ppt/notesMasters/notesMaster1.xml" Id="R62604c17a4da4fa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52335b4153b4e09" /><Relationship Type="http://schemas.openxmlformats.org/officeDocument/2006/relationships/notesMaster" Target="/ppt/notesMasters/notesMaster1.xml" Id="R8acc8e7f4eae4a0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1802ac842a24de8" /><Relationship Type="http://schemas.openxmlformats.org/officeDocument/2006/relationships/notesMaster" Target="/ppt/notesMasters/notesMaster1.xml" Id="Ra6f30cf80a5540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 seconds. Planned interval 0:00 to 0:20.</a:t>
            </a:r>
          </a:p>
          <a:p xmlns:a="http://schemas.openxmlformats.org/drawingml/2006/main">
            <a:r>
              <a:t/>
            </a:r>
          </a:p>
          <a:p xmlns:a="http://schemas.openxmlformats.org/drawingml/2006/main">
            <a:r>
              <a:t>Introduce the analysis as a comparison of three paired-end samples with REL606. The cutaway is generated conceptual art, not a laboratory image. The analysis targets candidate small variants and read-level evidence.</a:t>
            </a:r>
          </a:p>
          <a:p xmlns:a="http://schemas.openxmlformats.org/drawingml/2006/main">
            <a:r>
              <a:t/>
            </a:r>
          </a:p>
          <a:p xmlns:a="http://schemas.openxmlformats.org/drawingml/2006/main">
            <a:r>
              <a:t>SOURCE: Original project report and uploaded BAM/VCF/QC/IGV files, with shared_variants_gene_summary.tsv and shared_variants_protein_effects.tsv. Values preserved from the verified project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Planned interval 0:20 to 1:05.</a:t>
            </a:r>
          </a:p>
          <a:p xmlns:a="http://schemas.openxmlformats.org/drawingml/2006/main">
            <a:r>
              <a:t/>
            </a:r>
          </a:p>
          <a:p xmlns:a="http://schemas.openxmlformats.org/drawingml/2006/main">
            <a:r>
              <a:t>Each sample contains 175000 pairs, or 350000 primary reads. We used supplied trimmed subsets, not all reads in the original study. REL606 is the same reference for every sample and the later GFF annotation.</a:t>
            </a:r>
          </a:p>
          <a:p xmlns:a="http://schemas.openxmlformats.org/drawingml/2006/main">
            <a:r>
              <a:t/>
            </a:r>
          </a:p>
          <a:p xmlns:a="http://schemas.openxmlformats.org/drawingml/2006/main">
            <a:r>
              <a:t>SOURCE: Original project report and uploaded BAM/VCF/QC/IGV files, with shared_variants_gene_summary.tsv and shared_variants_protein_effects.tsv. Values preserved from the verified project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 seconds. Planned interval 1:05 to 1:55.</a:t>
            </a:r>
          </a:p>
          <a:p xmlns:a="http://schemas.openxmlformats.org/drawingml/2006/main">
            <a:r>
              <a:t/>
            </a:r>
          </a:p>
          <a:p xmlns:a="http://schemas.openxmlformats.org/drawingml/2006/main">
            <a:r>
              <a:t>Walk through the dependency order. QC does not modify reads. All three samples followed the alignment and calling workflow. Normalization precedes exact-allele comparison. Gene annotation and coding-effect predictions were an extension for the six shared variants.</a:t>
            </a:r>
          </a:p>
          <a:p xmlns:a="http://schemas.openxmlformats.org/drawingml/2006/main">
            <a:r>
              <a:t/>
            </a:r>
          </a:p>
          <a:p xmlns:a="http://schemas.openxmlformats.org/drawingml/2006/main">
            <a:r>
              <a:t>SOURCE: Original project report and uploaded BAM/VCF/QC/IGV files, with shared_variants_gene_summary.tsv and shared_variants_protein_effects.tsv. Values preserved from the verified project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 seconds. Planned interval 1:55 to 2:45.</a:t>
            </a:r>
          </a:p>
          <a:p xmlns:a="http://schemas.openxmlformats.org/drawingml/2006/main">
            <a:r>
              <a:t/>
            </a:r>
          </a:p>
          <a:p xmlns:a="http://schemas.openxmlformats.org/drawingml/2006/main">
            <a:r>
              <a:t>Six FastQC reports were combined using MultiQC. Base quality and adapter content passed. GC and length distributions triggered warnings, and composition failures occurred in some reads. These flags require contextual interpretation. We did not run another trimming step.</a:t>
            </a:r>
          </a:p>
          <a:p xmlns:a="http://schemas.openxmlformats.org/drawingml/2006/main">
            <a:r>
              <a:t/>
            </a:r>
          </a:p>
          <a:p xmlns:a="http://schemas.openxmlformats.org/drawingml/2006/main">
            <a:r>
              <a:t>SOURCE: Original project report and uploaded BAM/VCF/QC/IGV files, with shared_variants_gene_summary.tsv and shared_variants_protein_effects.tsv. Values preserved from the verified project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Planned interval 2:45 to 3:40.</a:t>
            </a:r>
          </a:p>
          <a:p xmlns:a="http://schemas.openxmlformats.org/drawingml/2006/main">
            <a:r>
              <a:t/>
            </a:r>
          </a:p>
          <a:p xmlns:a="http://schemas.openxmlformats.org/drawingml/2006/main">
            <a:r>
              <a:t>The actual sequence was SAM to BAM, collate, fixmate -m, coordinate sort, markdup and indexing. Markdup flagged duplicates, rather than removing their records. Fixmate adds mate information needed by markdup. The basic quickcheck does not validate every record.</a:t>
            </a:r>
          </a:p>
          <a:p xmlns:a="http://schemas.openxmlformats.org/drawingml/2006/main">
            <a:r>
              <a:t/>
            </a:r>
          </a:p>
          <a:p xmlns:a="http://schemas.openxmlformats.org/drawingml/2006/main">
            <a:r>
              <a:t>SOURCE: Original project report and uploaded BAM/VCF/QC/IGV files, with shared_variants_gene_summary.tsv and shared_variants_protein_effects.tsv. Values preserved from the verified project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 Planned interval 3:40 to 4:40.</a:t>
            </a:r>
          </a:p>
          <a:p xmlns:a="http://schemas.openxmlformats.org/drawingml/2006/main">
            <a:r>
              <a:t/>
            </a:r>
          </a:p>
          <a:p xmlns:a="http://schemas.openxmlformats.org/drawingml/2006/main">
            <a:r>
              <a:t>Report the exact coverage and mapping metrics. Mean depths were 9.89791, 9.95870 and 9.96615. Genome coverage was lower for 4866 even though its mapping rate was highest. Mapping percentage and fraction of reference covered measure different things.</a:t>
            </a:r>
          </a:p>
          <a:p xmlns:a="http://schemas.openxmlformats.org/drawingml/2006/main">
            <a:r>
              <a:t/>
            </a:r>
          </a:p>
          <a:p xmlns:a="http://schemas.openxmlformats.org/drawingml/2006/main">
            <a:r>
              <a:t>SOURCE: Original project report and uploaded BAM/VCF/QC/IGV files, with shared_variants_gene_summary.tsv and shared_variants_protein_effects.tsv. Values preserved from the verified project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65 seconds. Planned interval 4:40 to 5:45.</a:t>
            </a:r>
          </a:p>
          <a:p xmlns:a="http://schemas.openxmlformats.org/drawingml/2006/main">
            <a:r>
              <a:t/>
            </a:r>
          </a:p>
          <a:p xmlns:a="http://schemas.openxmlformats.org/drawingml/2006/main">
            <a:r>
              <a:t>Call variants using BCFtools mpileup and call --ploidy 1. Record DP and AD. VCFtools uses site QUAL at least 30 and genotype FORMAT/DP at least 5. Genotypes failing depth become missing, then max-missing 1 excludes those sites. Filtering does not prove every retained call correct.</a:t>
            </a:r>
          </a:p>
          <a:p xmlns:a="http://schemas.openxmlformats.org/drawingml/2006/main">
            <a:r>
              <a:t/>
            </a:r>
          </a:p>
          <a:p xmlns:a="http://schemas.openxmlformats.org/drawingml/2006/main">
            <a:r>
              <a:t>SOURCE: Original project report and uploaded BAM/VCF/QC/IGV files, with shared_variants_gene_summary.tsv and shared_variants_protein_effects.tsv. Values preserved from the verified project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75 seconds. Planned interval 5:45 to 7:00.</a:t>
            </a:r>
          </a:p>
          <a:p xmlns:a="http://schemas.openxmlformats.org/drawingml/2006/main">
            <a:r>
              <a:t/>
            </a:r>
          </a:p>
          <a:p xmlns:a="http://schemas.openxmlformats.org/drawingml/2006/main">
            <a:r>
              <a:t>Counts are records in the VCF call sets, not numbers of affected genes. Raw records were 28, 792 and 12. Filtered records were 22, 710 and 8, with the displayed SNP and indel counts. Larger counts alone do not establish mutation rates or selection.</a:t>
            </a:r>
          </a:p>
          <a:p xmlns:a="http://schemas.openxmlformats.org/drawingml/2006/main">
            <a:r>
              <a:t/>
            </a:r>
          </a:p>
          <a:p xmlns:a="http://schemas.openxmlformats.org/drawingml/2006/main">
            <a:r>
              <a:t>SOURCE: Original project report and uploaded BAM/VCF/QC/IGV files, with shared_variants_gene_summary.tsv and shared_variants_protein_effects.tsv. Values preserved from the verified project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65 seconds. Planned interval 7:00 to 8:05.</a:t>
            </a:r>
          </a:p>
          <a:p xmlns:a="http://schemas.openxmlformats.org/drawingml/2006/main">
            <a:r>
              <a:t/>
            </a:r>
          </a:p>
          <a:p xmlns:a="http://schemas.openxmlformats.org/drawingml/2006/main">
            <a:r>
              <a:t>We normalized indels against the same reference before exact REF and ALT matching. Six calls were common to all three samples: five SNPs and one GG deletion. Pairwise overlaps include those six shared calls. Unique filtered-call counts were 3, 691 and 2, conditional on coverage and filtering.</a:t>
            </a:r>
          </a:p>
          <a:p xmlns:a="http://schemas.openxmlformats.org/drawingml/2006/main">
            <a:r>
              <a:t/>
            </a:r>
          </a:p>
          <a:p xmlns:a="http://schemas.openxmlformats.org/drawingml/2006/main">
            <a:r>
              <a:t>SOURCE: Original project report and uploaded BAM/VCF/QC/IGV files, with shared_variants_gene_summary.tsv and shared_variants_protein_effects.tsv. Values preserved from the verified project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 Planned interval 8:05 to 9:05.</a:t>
            </a:r>
          </a:p>
          <a:p xmlns:a="http://schemas.openxmlformats.org/drawingml/2006/main">
            <a:r>
              <a:t/>
            </a:r>
          </a:p>
          <a:p xmlns:a="http://schemas.openxmlformats.org/drawingml/2006/main">
            <a:r>
              <a:t>Use the actual IGV screenshot. The locus is CP000819.1:648692. The exact C-to-T call is shared across the three filtered files. The screenshot supports read-level review. It does not establish functional change or fixation across all cells.</a:t>
            </a:r>
          </a:p>
          <a:p xmlns:a="http://schemas.openxmlformats.org/drawingml/2006/main">
            <a:r>
              <a:t/>
            </a:r>
          </a:p>
          <a:p xmlns:a="http://schemas.openxmlformats.org/drawingml/2006/main">
            <a:r>
              <a:t>SOURCE: Original project report and uploaded BAM/VCF/QC/IGV files, with shared_variants_gene_summary.tsv and shared_variants_protein_effects.tsv. Values preserved from the verified project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 Planned interval 9:05 to 10:05.</a:t>
            </a:r>
          </a:p>
          <a:p xmlns:a="http://schemas.openxmlformats.org/drawingml/2006/main">
            <a:r>
              <a:t/>
            </a:r>
          </a:p>
          <a:p xmlns:a="http://schemas.openxmlformats.org/drawingml/2006/main">
            <a:r>
              <a:t>Explain the anchor explicitly. TGG to T removes GG at 4431394 and 4431395, while keeping the T at 4431393. The deleted bases fall inside the annotated ytfN CDS. The frameshift prediction follows from the sequence and frame analysis described later.</a:t>
            </a:r>
          </a:p>
          <a:p xmlns:a="http://schemas.openxmlformats.org/drawingml/2006/main">
            <a:r>
              <a:t/>
            </a:r>
          </a:p>
          <a:p xmlns:a="http://schemas.openxmlformats.org/drawingml/2006/main">
            <a:r>
              <a:t>SOURCE: Original project report and uploaded BAM/VCF/QC/IGV files, with shared_variants_gene_summary.tsv and shared_variants_protein_effects.tsv. Values preserved from the verified project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65 seconds. Planned interval 10:05 to 11:10.</a:t>
            </a:r>
          </a:p>
          <a:p xmlns:a="http://schemas.openxmlformats.org/drawingml/2006/main">
            <a:r>
              <a:t/>
            </a:r>
          </a:p>
          <a:p xmlns:a="http://schemas.openxmlformats.org/drawingml/2006/main">
            <a:r>
              <a:t>The 4616538 A-to-C call was retained in 4863 with DP 9 and AD 0,9. In 4866 it had DP 4 and AD 0,4 in the raw VCF, below the minimum depth. The example shows why filtered absence cannot be treated as biological absence.</a:t>
            </a:r>
          </a:p>
          <a:p xmlns:a="http://schemas.openxmlformats.org/drawingml/2006/main">
            <a:r>
              <a:t/>
            </a:r>
          </a:p>
          <a:p xmlns:a="http://schemas.openxmlformats.org/drawingml/2006/main">
            <a:r>
              <a:t>SOURCE: Original project report and uploaded BAM/VCF/QC/IGV files, with shared_variants_gene_summary.tsv and shared_variants_protein_effects.tsv. Values preserved from the verified project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75 seconds. Planned interval 11:10 to 12:25.</a:t>
            </a:r>
          </a:p>
          <a:p xmlns:a="http://schemas.openxmlformats.org/drawingml/2006/main">
            <a:r>
              <a:t/>
            </a:r>
          </a:p>
          <a:p xmlns:a="http://schemas.openxmlformats.org/drawingml/2006/main">
            <a:r>
              <a:t>SAMtools depth -aa identified a contiguous zero-depth interval in 4866 from 4289284 to 4333227 inclusive. The length is end minus start plus one. Inspect both boundary screenshots. These data motivated a possible structural-change hypothesis, but no confirmed deletion junction was established. Keep it separate from small VCF deletions.</a:t>
            </a:r>
          </a:p>
          <a:p xmlns:a="http://schemas.openxmlformats.org/drawingml/2006/main">
            <a:r>
              <a:t/>
            </a:r>
          </a:p>
          <a:p xmlns:a="http://schemas.openxmlformats.org/drawingml/2006/main">
            <a:r>
              <a:t>SOURCE: Original project report and uploaded BAM/VCF/QC/IGV files, with shared_variants_gene_summary.tsv and shared_variants_protein_effects.tsv. Values preserved from the verified project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90 seconds. Planned interval 12:25 to 13:55.</a:t>
            </a:r>
          </a:p>
          <a:p xmlns:a="http://schemas.openxmlformats.org/drawingml/2006/main">
            <a:r>
              <a:t/>
            </a:r>
          </a:p>
          <a:p xmlns:a="http://schemas.openxmlformats.org/drawingml/2006/main">
            <a:r>
              <a:t>Map the six shared variants with the matching NCBI GFF and retrieve reference codons using SAMtools faidx. Negative-strand genes mrdB and hslU require reverse complements. Five SNPs predict amino-acid substitutions. The two-base ytfN deletion predicts p.Gly1176ProfsTer5. Each prediction is isolated against the reference CDS; complete sample protein haplotypes were not reconstructed. The molecular image is generated conceptual art.</a:t>
            </a:r>
          </a:p>
          <a:p xmlns:a="http://schemas.openxmlformats.org/drawingml/2006/main">
            <a:r>
              <a:t/>
            </a:r>
          </a:p>
          <a:p xmlns:a="http://schemas.openxmlformats.org/drawingml/2006/main">
            <a:r>
              <a:t>SOURCE: Original project report and uploaded BAM/VCF/QC/IGV files, with shared_variants_gene_summary.tsv and shared_variants_protein_effects.tsv. Values preserved from the verified project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65 seconds. Planned interval 13:55 to 15:00.</a:t>
            </a:r>
          </a:p>
          <a:p xmlns:a="http://schemas.openxmlformats.org/drawingml/2006/main">
            <a:r>
              <a:t/>
            </a:r>
          </a:p>
          <a:p xmlns:a="http://schemas.openxmlformats.org/drawingml/2006/main">
            <a:r>
              <a:t>Close with the verified results and the boundaries of inference. We delivered indexed BAM and VCF files, QC reports, comparison and annotation tables, and IGV evidence. The study supports candidate sequence differences, not experimentally proven adaptation mechanisms, selection, or function.</a:t>
            </a:r>
          </a:p>
          <a:p xmlns:a="http://schemas.openxmlformats.org/drawingml/2006/main">
            <a:r>
              <a:t/>
            </a:r>
          </a:p>
          <a:p xmlns:a="http://schemas.openxmlformats.org/drawingml/2006/main">
            <a:r>
              <a:t>SOURCE: Original project report and uploaded BAM/VCF/QC/IGV files, with shared_variants_gene_summary.tsv and shared_variants_protein_effects.tsv. Values preserved from the verified project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outside the planned 15-minute talk.</a:t>
            </a:r>
          </a:p>
          <a:p xmlns:a="http://schemas.openxmlformats.org/drawingml/2006/main">
            <a:r>
              <a:t/>
            </a:r>
          </a:p>
          <a:p xmlns:a="http://schemas.openxmlformats.org/drawingml/2006/main">
            <a:r>
              <a:t>Backup reference showing the complete dependency order. Apply sample alignment and variant-analysis stages to all three accessions. This is a native editable diagram, not a generated data figure.</a:t>
            </a:r>
          </a:p>
          <a:p xmlns:a="http://schemas.openxmlformats.org/drawingml/2006/main">
            <a:r>
              <a:t/>
            </a:r>
          </a:p>
          <a:p xmlns:a="http://schemas.openxmlformats.org/drawingml/2006/main">
            <a:r>
              <a:t>SOURCE: Original project report and uploaded BAM/VCF/QC/IGV files, with shared_variants_gene_summary.tsv and shared_variants_protein_effects.tsv. Values preserved from the verified project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outside the planned 15-minute talk.</a:t>
            </a:r>
          </a:p>
          <a:p xmlns:a="http://schemas.openxmlformats.org/drawingml/2006/main">
            <a:r>
              <a:t/>
            </a:r>
          </a:p>
          <a:p xmlns:a="http://schemas.openxmlformats.org/drawingml/2006/main">
            <a:r>
              <a:t>Use this slide only for methods questions. The complete command examples, output files and explanations appear in the report and detailed learning guide.</a:t>
            </a:r>
          </a:p>
          <a:p xmlns:a="http://schemas.openxmlformats.org/drawingml/2006/main">
            <a:r>
              <a:t/>
            </a:r>
          </a:p>
          <a:p xmlns:a="http://schemas.openxmlformats.org/drawingml/2006/main">
            <a:r>
              <a:t>SOURCE: Original project report and uploaded BAM/VCF/QC/IGV files, with shared_variants_gene_summary.tsv and shared_variants_protein_effects.tsv. Values preserved from the verified project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outside the planned 15-minute talk.</a:t>
            </a:r>
          </a:p>
          <a:p xmlns:a="http://schemas.openxmlformats.org/drawingml/2006/main">
            <a:r>
              <a:t/>
            </a:r>
          </a:p>
          <a:p xmlns:a="http://schemas.openxmlformats.org/drawingml/2006/main">
            <a:r>
              <a:t>The variant TGG to T retains its anchor and deletes GG. The first deleted base is at coding offset 3525 in a continuous positive-strand phase-zero CDS. The shifted sequence produces Pro Asp Cys Gly STOP, giving p.Gly1176ProfsTer5. This is a sequence consequence, not proof of functional knockout.</a:t>
            </a:r>
          </a:p>
          <a:p xmlns:a="http://schemas.openxmlformats.org/drawingml/2006/main">
            <a:r>
              <a:t/>
            </a:r>
          </a:p>
          <a:p xmlns:a="http://schemas.openxmlformats.org/drawingml/2006/main">
            <a:r>
              <a:t>SOURCE: Original project report and uploaded BAM/VCF/QC/IGV files, with shared_variants_gene_summary.tsv and shared_variants_protein_effects.tsv. Values preserved from the verified project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outside the planned 15-minute talk.</a:t>
            </a:r>
          </a:p>
          <a:p xmlns:a="http://schemas.openxmlformats.org/drawingml/2006/main">
            <a:r>
              <a:t/>
            </a:r>
          </a:p>
          <a:p xmlns:a="http://schemas.openxmlformats.org/drawingml/2006/main">
            <a:r>
              <a:t>This actual IGV comparison shows 4866 and 9044. The raw 4863 call at 9972 had depth four and failed the minimum-depth filter.</a:t>
            </a:r>
          </a:p>
          <a:p xmlns:a="http://schemas.openxmlformats.org/drawingml/2006/main">
            <a:r>
              <a:t/>
            </a:r>
          </a:p>
          <a:p xmlns:a="http://schemas.openxmlformats.org/drawingml/2006/main">
            <a:r>
              <a:t>SOURCE: Original project report and uploaded BAM/VCF/QC/IGV files, with shared_variants_gene_summary.tsv and shared_variants_protein_effects.tsv. Values preserved from the verified project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fa2935cfef4e9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e3d67779033427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d5397fcfb22491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abe938fcef848f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46b5c822e214bf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032587479a741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382760E-10DE-4F97-82BF-0C151BE8491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75F5C48-B423-46A0-BC93-1C7AA64A7AB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D74F813-A94E-4170-BD69-F1F7D1ED7A2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26BDBB-656D-4A43-BA7D-8373DCC5A75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891668E-3569-48F3-94B2-C81A811EB3C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85FE85-602F-4F7E-8139-A36911BF07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7A54EDE-29C8-4EC2-8B9F-A156658F858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040010D-017D-44D1-8709-3D020CDAE4E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32DBAE9-B78D-46C5-A0BC-315EEA93AC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C4A052C-F49B-4653-B222-046E85A50E6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1a125f947d4584" /><Relationship Type="http://schemas.openxmlformats.org/officeDocument/2006/relationships/slideLayout" Target="/ppt/slideLayouts/slideLayout1.xml" Id="R4ceb7b0f0b4341f6" /><Relationship Type="http://schemas.openxmlformats.org/officeDocument/2006/relationships/slideLayout" Target="/ppt/slideLayouts/slideLayout2.xml" Id="R3f80ba96f20f482a" /><Relationship Type="http://schemas.openxmlformats.org/officeDocument/2006/relationships/slideLayout" Target="/ppt/slideLayouts/slideLayout3.xml" Id="Ra51be32997f64779" /><Relationship Type="http://schemas.openxmlformats.org/officeDocument/2006/relationships/slideLayout" Target="/ppt/slideLayouts/slideLayout4.xml" Id="Rb6a24cd9ee554293" /><Relationship Type="http://schemas.openxmlformats.org/officeDocument/2006/relationships/slideLayout" Target="/ppt/slideLayouts/slideLayout5.xml" Id="R78fb4c3ca1b443f6" /><Relationship Type="http://schemas.openxmlformats.org/officeDocument/2006/relationships/slideLayout" Target="/ppt/slideLayouts/slideLayout6.xml" Id="R04c062d94f2a49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eb7b0f0b4341f6"/>
    <p:sldLayoutId xmlns:r="http://schemas.openxmlformats.org/officeDocument/2006/relationships" id="2147483650" r:id="R3f80ba96f20f482a"/>
    <p:sldLayoutId xmlns:r="http://schemas.openxmlformats.org/officeDocument/2006/relationships" id="2147483651" r:id="Ra51be32997f64779"/>
    <p:sldLayoutId xmlns:r="http://schemas.openxmlformats.org/officeDocument/2006/relationships" id="2147483652" r:id="Rb6a24cd9ee554293"/>
    <p:sldLayoutId xmlns:r="http://schemas.openxmlformats.org/officeDocument/2006/relationships" id="2147483653" r:id="R78fb4c3ca1b443f6"/>
    <p:sldLayoutId xmlns:r="http://schemas.openxmlformats.org/officeDocument/2006/relationships" id="2147483654" r:id="R04c062d94f2a49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Scientific Editorial">
      <a:dk1>
        <a:srgbClr val="15181F"/>
      </a:dk1>
      <a:lt1>
        <a:srgbClr val="FFFFFF"/>
      </a:lt1>
      <a:dk2>
        <a:srgbClr val="252B36"/>
      </a:dk2>
      <a:lt2>
        <a:srgbClr val="F3F6FB"/>
      </a:lt2>
      <a:accent1>
        <a:srgbClr val="2457FF"/>
      </a:accent1>
      <a:accent2>
        <a:srgbClr val="A6B5D7"/>
      </a:accent2>
      <a:accent3>
        <a:srgbClr val="15181F"/>
      </a:accent3>
      <a:accent4>
        <a:srgbClr val="8B94A5"/>
      </a:accent4>
      <a:accent5>
        <a:srgbClr val="CFD8EE"/>
      </a:accent5>
      <a:accent6>
        <a:srgbClr val="DCE4F7"/>
      </a:accent6>
      <a:hlink>
        <a:srgbClr val="2457FF"/>
      </a:hlink>
      <a:folHlink>
        <a:srgbClr val="2457FF"/>
      </a:folHlink>
    </a:clrScheme>
    <a:fontScheme name="">
      <a:majorFont>
        <a:latin typeface="Cairo"/>
        <a:ea typeface=""/>
        <a:cs typeface=""/>
      </a:majorFont>
      <a:minorFont>
        <a:latin typeface="Cairo"/>
        <a:ea typeface=""/>
        <a:cs typeface=""/>
      </a:minorFont>
    </a:fontScheme>
    <a:fmtScheme name="Scientific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6cff7562b914dc7" /><Relationship Type="http://schemas.openxmlformats.org/officeDocument/2006/relationships/image" Target="/ppt/media/image.png" Id="R400918bef81a4236" /><Relationship Type="http://schemas.openxmlformats.org/officeDocument/2006/relationships/notesSlide" Target="/ppt/notesSlides/notesSlide1.xml" Id="Rb9f4e4f0f47449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088d9b0c576456b" /><Relationship Type="http://schemas.openxmlformats.org/officeDocument/2006/relationships/notesSlide" Target="/ppt/notesSlides/notesSlide2.xml" Id="Rfff89283d63b46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591a9cfe9fc4649" /><Relationship Type="http://schemas.openxmlformats.org/officeDocument/2006/relationships/notesSlide" Target="/ppt/notesSlides/notesSlide3.xml" Id="Ra8f87ae9144b4d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6dea2a5a8b54d6e" /><Relationship Type="http://schemas.openxmlformats.org/officeDocument/2006/relationships/image" Target="/ppt/media/image2.png" Id="R0f617335b44245f3" /><Relationship Type="http://schemas.openxmlformats.org/officeDocument/2006/relationships/notesSlide" Target="/ppt/notesSlides/notesSlide4.xml" Id="R246a7e214a8b4a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d724552fbe34570" /><Relationship Type="http://schemas.openxmlformats.org/officeDocument/2006/relationships/notesSlide" Target="/ppt/notesSlides/notesSlide5.xml" Id="Red3b6d7267e24c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fa17211dba24ecb" /><Relationship Type="http://schemas.openxmlformats.org/officeDocument/2006/relationships/chart" Target="/ppt/slides/charts/chart1.xml" Id="Rd552aae72181464b" /><Relationship Type="http://schemas.openxmlformats.org/officeDocument/2006/relationships/notesSlide" Target="/ppt/notesSlides/notesSlide6.xml" Id="Ra53f7a8e578141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731ada52b52424f" /><Relationship Type="http://schemas.openxmlformats.org/officeDocument/2006/relationships/notesSlide" Target="/ppt/notesSlides/notesSlide7.xml" Id="Re9cd599ca9b341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695477d551c4d3f" /><Relationship Type="http://schemas.openxmlformats.org/officeDocument/2006/relationships/chart" Target="/ppt/slides/charts/chart2.xml" Id="R81cf1999536249a5" /><Relationship Type="http://schemas.openxmlformats.org/officeDocument/2006/relationships/notesSlide" Target="/ppt/notesSlides/notesSlide8.xml" Id="R7c4f590ab4b1404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63c210873894d22" /><Relationship Type="http://schemas.openxmlformats.org/officeDocument/2006/relationships/notesSlide" Target="/ppt/notesSlides/notesSlide9.xml" Id="R057024fe88be49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5f8e296dae24c7f" /><Relationship Type="http://schemas.openxmlformats.org/officeDocument/2006/relationships/image" Target="/ppt/media/image3.png" Id="R479233bacf184c73" /><Relationship Type="http://schemas.openxmlformats.org/officeDocument/2006/relationships/notesSlide" Target="/ppt/notesSlides/notesSlide10.xml" Id="R2d7b8490b3a84d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b6ddb4529744f90" /><Relationship Type="http://schemas.openxmlformats.org/officeDocument/2006/relationships/image" Target="/ppt/media/image4.png" Id="Rf94396da4e3d496e" /><Relationship Type="http://schemas.openxmlformats.org/officeDocument/2006/relationships/notesSlide" Target="/ppt/notesSlides/notesSlide11.xml" Id="R4e015b03ec66481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8d0e30b8f9143f0" /><Relationship Type="http://schemas.openxmlformats.org/officeDocument/2006/relationships/image" Target="/ppt/media/image5.png" Id="R8b529c3d02fb4953" /><Relationship Type="http://schemas.openxmlformats.org/officeDocument/2006/relationships/notesSlide" Target="/ppt/notesSlides/notesSlide12.xml" Id="R230a513938364e5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85c9e05cbb4430c" /><Relationship Type="http://schemas.openxmlformats.org/officeDocument/2006/relationships/image" Target="/ppt/media/image6.png" Id="R6efda64a2c1840d8" /><Relationship Type="http://schemas.openxmlformats.org/officeDocument/2006/relationships/image" Target="/ppt/media/image7.png" Id="Rda0530ebecc34989" /><Relationship Type="http://schemas.openxmlformats.org/officeDocument/2006/relationships/notesSlide" Target="/ppt/notesSlides/notesSlide13.xml" Id="R5dcbc0ec2d9d428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25c74b269e84546" /><Relationship Type="http://schemas.openxmlformats.org/officeDocument/2006/relationships/image" Target="/ppt/media/image8.png" Id="R8343e0a673eb475b" /><Relationship Type="http://schemas.openxmlformats.org/officeDocument/2006/relationships/notesSlide" Target="/ppt/notesSlides/notesSlide14.xml" Id="R76b59f3c0bb04ca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4b85a7fa50e479e" /><Relationship Type="http://schemas.openxmlformats.org/officeDocument/2006/relationships/notesSlide" Target="/ppt/notesSlides/notesSlide15.xml" Id="Rceb06a32e8664c9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97f361845584579" /><Relationship Type="http://schemas.openxmlformats.org/officeDocument/2006/relationships/notesSlide" Target="/ppt/notesSlides/notesSlide16.xml" Id="R8508cdf21ee5468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1cb2727c59f4e39" /><Relationship Type="http://schemas.openxmlformats.org/officeDocument/2006/relationships/notesSlide" Target="/ppt/notesSlides/notesSlide17.xml" Id="Rc3ea71f5b4e04de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4354b86d1a440ce" /><Relationship Type="http://schemas.openxmlformats.org/officeDocument/2006/relationships/notesSlide" Target="/ppt/notesSlides/notesSlide18.xml" Id="R5b6a95795383430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c6f8047d3c84706" /><Relationship Type="http://schemas.openxmlformats.org/officeDocument/2006/relationships/image" Target="/ppt/media/image9.png" Id="R40138fa2b1c44a7b" /><Relationship Type="http://schemas.openxmlformats.org/officeDocument/2006/relationships/notesSlide" Target="/ppt/notesSlides/notesSlide19.xml" Id="Rb161bb0300754f1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Genome covered</c:v>
          </c:tx>
          <c:spPr>
            <a:solidFill xmlns:a="http://schemas.openxmlformats.org/drawingml/2006/main">
              <a:srgbClr val="2457FF"/>
            </a:solidFill>
          </c:spPr>
          <c:invertIfNegative val="0"/>
          <c:cat>
            <c:numRef>
              <c:f>'Chart Data'!$A$2:$A$4</c:f>
              <c:numCache>
                <c:formatCode>General</c:formatCode>
                <c:ptCount val="3"/>
                <c:pt idx="0">
                  <c:v>4863</c:v>
                </c:pt>
                <c:pt idx="1">
                  <c:v>4866</c:v>
                </c:pt>
                <c:pt idx="2">
                  <c:v>9044</c:v>
                </c:pt>
              </c:numCache>
            </c:numRef>
          </c:cat>
          <c:val>
            <c:numRef>
              <c:f>'Chart Data'!$B$2:$B$4</c:f>
              <c:numCache>
                <c:formatCode>General</c:formatCode>
                <c:ptCount val="3"/>
                <c:pt idx="0">
                  <c:v>99.7893</c:v>
                </c:pt>
                <c:pt idx="1">
                  <c:v>93.0207</c:v>
                </c:pt>
                <c:pt idx="2">
                  <c:v>99.8077</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5181F"/>
                  </a:solidFill>
                  <a:latin typeface="Cairo"/>
                  <a:ea typeface="Cairo"/>
                  <a:cs typeface="Cairo"/>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87182"/>
                </a:solidFill>
                <a:latin typeface="Cairo"/>
                <a:ea typeface="Cairo"/>
                <a:cs typeface="Cairo"/>
              </a:defRPr>
            </a:pPr>
          </a:p>
        </c:txPr>
        <c:crossAx val="48672768"/>
      </c:catAx>
      <c:valAx>
        <c:axId val="48672768"/>
        <c:scaling>
          <c:orientation val="minMax"/>
          <c:max val="100"/>
          <c:min val="0"/>
        </c:scaling>
        <c:delete val="0"/>
        <c:axPos val="l"/>
        <c:majorGridlines>
          <c:spPr>
            <a:ln xmlns:a="http://schemas.openxmlformats.org/drawingml/2006/main" w="9525">
              <a:solidFill>
                <a:srgbClr val="E6EBF2"/>
              </a:solidFill>
              <a:prstDash val="solid"/>
            </a:ln>
          </c:spPr>
        </c:majorGridlines>
        <c:title>
          <c:tx>
            <c:rich>
              <a:bodyPr xmlns:a="http://schemas.openxmlformats.org/drawingml/2006/main"/>
              <a:lstStyle xmlns:a="http://schemas.openxmlformats.org/drawingml/2006/main"/>
              <a:p xmlns:a="http://schemas.openxmlformats.org/drawingml/2006/main">
                <a:r>
                  <a:rPr>
                    <a:latin typeface="Cairo"/>
                    <a:ea typeface="Cairo"/>
                    <a:cs typeface="Cairo"/>
                  </a:rPr>
                  <a:t>Genome covered (%)</a:t>
                </a:r>
              </a:p>
            </c:rich>
          </c:tx>
          <c:overlay val="0"/>
          <c:txPr>
            <a:bodyPr xmlns:a="http://schemas.openxmlformats.org/drawingml/2006/main" anchorCtr="1"/>
            <a:lstStyle xmlns:a="http://schemas.openxmlformats.org/drawingml/2006/main"/>
            <a:p xmlns:a="http://schemas.openxmlformats.org/drawingml/2006/main">
              <a:pPr>
                <a:defRPr>
                  <a:latin typeface="Cairo"/>
                  <a:ea typeface="Cairo"/>
                  <a:cs typeface="Cairo"/>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87182"/>
                </a:solidFill>
                <a:latin typeface="Cairo"/>
                <a:ea typeface="Cairo"/>
                <a:cs typeface="Cair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Raw</c:v>
          </c:tx>
          <c:spPr>
            <a:solidFill xmlns:a="http://schemas.openxmlformats.org/drawingml/2006/main">
              <a:srgbClr val="A6B5D7"/>
            </a:solidFill>
          </c:spPr>
          <c:invertIfNegative val="0"/>
          <c:cat>
            <c:numRef>
              <c:f>'Chart Data'!$A$2:$A$4</c:f>
              <c:numCache>
                <c:formatCode>General</c:formatCode>
                <c:ptCount val="3"/>
                <c:pt idx="0">
                  <c:v>4863</c:v>
                </c:pt>
                <c:pt idx="1">
                  <c:v>4866</c:v>
                </c:pt>
                <c:pt idx="2">
                  <c:v>9044</c:v>
                </c:pt>
              </c:numCache>
            </c:numRef>
          </c:cat>
          <c:val>
            <c:numRef>
              <c:f>'Chart Data'!$B$2:$B$4</c:f>
              <c:numCache>
                <c:formatCode>General</c:formatCode>
                <c:ptCount val="3"/>
                <c:pt idx="0">
                  <c:v>28</c:v>
                </c:pt>
                <c:pt idx="1">
                  <c:v>792</c:v>
                </c:pt>
                <c:pt idx="2">
                  <c:v>12</c:v>
                </c:pt>
              </c:numCache>
            </c:numRef>
          </c:val>
        </c:ser>
        <c:ser>
          <c:idx val="1"/>
          <c:order val="1"/>
          <c:tx>
            <c:v>Filtered</c:v>
          </c:tx>
          <c:spPr>
            <a:solidFill xmlns:a="http://schemas.openxmlformats.org/drawingml/2006/main">
              <a:srgbClr val="2457FF"/>
            </a:solidFill>
          </c:spPr>
          <c:invertIfNegative val="0"/>
          <c:cat>
            <c:numRef>
              <c:f>'Chart Data'!$C$2:$C$4</c:f>
              <c:numCache>
                <c:formatCode>General</c:formatCode>
                <c:ptCount val="3"/>
                <c:pt idx="0">
                  <c:v>4863</c:v>
                </c:pt>
                <c:pt idx="1">
                  <c:v>4866</c:v>
                </c:pt>
                <c:pt idx="2">
                  <c:v>9044</c:v>
                </c:pt>
              </c:numCache>
            </c:numRef>
          </c:cat>
          <c:val>
            <c:numRef>
              <c:f>'Chart Data'!$D$2:$D$4</c:f>
              <c:numCache>
                <c:formatCode>General</c:formatCode>
                <c:ptCount val="3"/>
                <c:pt idx="0">
                  <c:v>22</c:v>
                </c:pt>
                <c:pt idx="1">
                  <c:v>710</c:v>
                </c:pt>
                <c:pt idx="2">
                  <c:v>8</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5181F"/>
                  </a:solidFill>
                  <a:latin typeface="Cairo"/>
                  <a:ea typeface="Cairo"/>
                  <a:cs typeface="Cairo"/>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87182"/>
                </a:solidFill>
                <a:latin typeface="Cairo"/>
                <a:ea typeface="Cairo"/>
                <a:cs typeface="Cairo"/>
              </a:defRPr>
            </a:pPr>
          </a:p>
        </c:txPr>
        <c:crossAx val="48672768"/>
      </c:catAx>
      <c:valAx>
        <c:axId val="48672768"/>
        <c:scaling>
          <c:orientation val="minMax"/>
          <c:max val="900"/>
          <c:min val="0"/>
        </c:scaling>
        <c:delete val="0"/>
        <c:axPos val="l"/>
        <c:majorGridlines>
          <c:spPr>
            <a:ln xmlns:a="http://schemas.openxmlformats.org/drawingml/2006/main" w="9525">
              <a:solidFill>
                <a:srgbClr val="E6EBF2"/>
              </a:solidFill>
              <a:prstDash val="solid"/>
            </a:ln>
          </c:spPr>
        </c:majorGridlines>
        <c:title>
          <c:tx>
            <c:rich>
              <a:bodyPr xmlns:a="http://schemas.openxmlformats.org/drawingml/2006/main"/>
              <a:lstStyle xmlns:a="http://schemas.openxmlformats.org/drawingml/2006/main"/>
              <a:p xmlns:a="http://schemas.openxmlformats.org/drawingml/2006/main">
                <a:r>
                  <a:rPr>
                    <a:latin typeface="Cairo"/>
                    <a:ea typeface="Cairo"/>
                    <a:cs typeface="Cairo"/>
                  </a:rPr>
                  <a:t>Variant records</a:t>
                </a:r>
              </a:p>
            </c:rich>
          </c:tx>
          <c:overlay val="0"/>
          <c:txPr>
            <a:bodyPr xmlns:a="http://schemas.openxmlformats.org/drawingml/2006/main" anchorCtr="1"/>
            <a:lstStyle xmlns:a="http://schemas.openxmlformats.org/drawingml/2006/main"/>
            <a:p xmlns:a="http://schemas.openxmlformats.org/drawingml/2006/main">
              <a:pPr>
                <a:defRPr>
                  <a:latin typeface="Cairo"/>
                  <a:ea typeface="Cairo"/>
                  <a:cs typeface="Cairo"/>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87182"/>
                </a:solidFill>
                <a:latin typeface="Cairo"/>
                <a:ea typeface="Cairo"/>
                <a:cs typeface="Cairo"/>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687182"/>
              </a:solidFill>
              <a:latin typeface="Cairo"/>
              <a:ea typeface="Cairo"/>
              <a:cs typeface="Cairo"/>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8FC379BA-53B0-40AB-9D42-0C7C9B1007AC}"/>
              </a:ext>
            </a:extLst>
          </p:cNvPr>
          <p:cNvSpPr>
            <a:spLocks xmlns:a="http://schemas.openxmlformats.org/drawingml/2006/main" noGrp="1"/>
          </p:cNvSpPr>
          <p:nvPr/>
        </p:nvSpPr>
        <p:spPr>
          <a:xfrm xmlns:a="http://schemas.openxmlformats.org/drawingml/2006/main">
            <a:off x="533400" y="2571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2457FF"/>
                </a:solidFill>
                <a:latin typeface="Cairo"/>
                <a:ea typeface="Cairo"/>
                <a:cs typeface="Cairo"/>
              </a:defRPr>
            </a:defPPr>
          </a:lstStyle>
          <a:p xmlns:a="http://schemas.openxmlformats.org/drawingml/2006/main">
            <a:pPr>
              <a:defRPr sz="1200" b="1">
                <a:solidFill>
                  <a:srgbClr val="2457FF"/>
                </a:solidFill>
                <a:latin typeface="Cairo"/>
                <a:ea typeface="Cairo"/>
                <a:cs typeface="Cairo"/>
              </a:defRPr>
            </a:pPr>
            <a:r>
              <a:rPr sz="1200" b="1">
                <a:solidFill>
                  <a:srgbClr val="2457FF"/>
                </a:solidFill>
                <a:latin typeface="Cairo"/>
                <a:ea typeface="Cairo"/>
                <a:cs typeface="Cairo"/>
              </a:rPr>
              <a:t>BIOINFORMATICS PROJECT</a:t>
            </a:r>
          </a:p>
        </p:txBody>
      </p:sp>
      <p:sp>
        <p:nvSpPr>
          <p:cNvPr id="2" name="text-1">
            <a:extLst xmlns:a="http://schemas.openxmlformats.org/drawingml/2006/main">
              <a:ext uri="{FF2B5EF4-FFF2-40B4-BE49-F238E27FC236}">
                <a16:creationId xmlns:a16="http://schemas.microsoft.com/office/drawing/2014/main" id="{ACAD37B0-E749-44A9-ABDF-2BB9AF7699E2}"/>
              </a:ext>
            </a:extLst>
          </p:cNvPr>
          <p:cNvSpPr>
            <a:spLocks xmlns:a="http://schemas.openxmlformats.org/drawingml/2006/main" noGrp="1"/>
          </p:cNvSpPr>
          <p:nvPr/>
        </p:nvSpPr>
        <p:spPr>
          <a:xfrm xmlns:a="http://schemas.openxmlformats.org/drawingml/2006/main">
            <a:off x="533400" y="64770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5181F"/>
                </a:solidFill>
                <a:latin typeface="Cairo"/>
                <a:ea typeface="Cairo"/>
                <a:cs typeface="Cairo"/>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CE9CDBC1-4834-4694-AAE7-E6833CBC1347}"/>
              </a:ext>
            </a:extLst>
          </p:cNvPr>
          <p:cNvSpPr>
            <a:spLocks xmlns:a="http://schemas.openxmlformats.org/drawingml/2006/main" noGrp="1"/>
          </p:cNvSpPr>
          <p:nvPr/>
        </p:nvSpPr>
        <p:spPr>
          <a:xfrm xmlns:a="http://schemas.openxmlformats.org/drawingml/2006/main">
            <a:off x="11144250" y="64103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687182"/>
                </a:solidFill>
                <a:latin typeface="Cairo"/>
                <a:ea typeface="Cairo"/>
                <a:cs typeface="Cairo"/>
              </a:defRPr>
            </a:defPPr>
          </a:lstStyle>
          <a:p xmlns:a="http://schemas.openxmlformats.org/drawingml/2006/main">
            <a:pPr>
              <a:defRPr sz="1125" b="0">
                <a:solidFill>
                  <a:srgbClr val="687182"/>
                </a:solidFill>
                <a:latin typeface="Cairo"/>
                <a:ea typeface="Cairo"/>
                <a:cs typeface="Cairo"/>
              </a:defRPr>
            </a:pPr>
            <a:r>
              <a:rPr sz="1125" b="0">
                <a:solidFill>
                  <a:srgbClr val="687182"/>
                </a:solidFill>
                <a:latin typeface="Cairo"/>
                <a:ea typeface="Cairo"/>
                <a:cs typeface="Cairo"/>
              </a:rPr>
              <a:t>01</a:t>
            </a:r>
          </a:p>
        </p:txBody>
      </p:sp>
      <p:pic>
        <p:nvPicPr>
          <p:cNvPr id="4" name="">
            <a:extLst xmlns:a="http://schemas.openxmlformats.org/drawingml/2006/main">
              <a:ext uri="{FF2B5EF4-FFF2-40B4-BE49-F238E27FC236}">
                <a16:creationId xmlns:a16="http://schemas.microsoft.com/office/drawing/2014/main" id="{C6EA631C-FCBD-447C-8177-018F2CB189DD}"/>
              </a:ext>
            </a:extLst>
          </p:cNvPr>
          <p:cNvPicPr>
            <a:picLocks xmlns:a="http://schemas.openxmlformats.org/drawingml/2006/main" noChangeAspect="1"/>
          </p:cNvPicPr>
          <p:nvPr/>
        </p:nvPicPr>
        <p:blipFill>
          <a:blip xmlns:r="http://schemas.openxmlformats.org/officeDocument/2006/relationships" xmlns:a="http://schemas.openxmlformats.org/drawingml/2006/main" r:embed="R400918bef81a423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31CCE61B-1405-4CD4-9AAF-7ED47434E35D}"/>
              </a:ext>
            </a:extLst>
          </p:cNvPr>
          <p:cNvSpPr>
            <a:spLocks xmlns:a="http://schemas.openxmlformats.org/drawingml/2006/main" noGrp="1"/>
          </p:cNvSpPr>
          <p:nvPr/>
        </p:nvSpPr>
        <p:spPr>
          <a:xfrm xmlns:a="http://schemas.openxmlformats.org/drawingml/2006/main">
            <a:off x="533400" y="1162050"/>
            <a:ext cx="58102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5700" b="1">
                <a:solidFill>
                  <a:srgbClr val="15181F"/>
                </a:solidFill>
                <a:latin typeface="Cairo"/>
                <a:ea typeface="Cairo"/>
                <a:cs typeface="Cairo"/>
              </a:defRPr>
            </a:defPPr>
          </a:lstStyle>
          <a:p xmlns:a="http://schemas.openxmlformats.org/drawingml/2006/main">
            <a:pPr>
              <a:defRPr sz="5700" b="1">
                <a:solidFill>
                  <a:srgbClr val="15181F"/>
                </a:solidFill>
                <a:latin typeface="Cairo"/>
                <a:ea typeface="Cairo"/>
                <a:cs typeface="Cairo"/>
              </a:defRPr>
            </a:pPr>
            <a:r>
              <a:rPr sz="5700" b="1">
                <a:solidFill>
                  <a:srgbClr val="15181F"/>
                </a:solidFill>
                <a:latin typeface="Cairo"/>
                <a:ea typeface="Cairo"/>
                <a:cs typeface="Cairo"/>
              </a:rPr>
              <a:t>E. coli</a:t>
            </a:r>
          </a:p>
        </p:txBody>
      </p:sp>
      <p:sp>
        <p:nvSpPr>
          <p:cNvPr id="6" name="text-4">
            <a:extLst xmlns:a="http://schemas.openxmlformats.org/drawingml/2006/main">
              <a:ext uri="{FF2B5EF4-FFF2-40B4-BE49-F238E27FC236}">
                <a16:creationId xmlns:a16="http://schemas.microsoft.com/office/drawing/2014/main" id="{C746B24B-D1AB-4CA1-BD4A-CE8A23740CDE}"/>
              </a:ext>
            </a:extLst>
          </p:cNvPr>
          <p:cNvSpPr>
            <a:spLocks xmlns:a="http://schemas.openxmlformats.org/drawingml/2006/main" noGrp="1"/>
          </p:cNvSpPr>
          <p:nvPr/>
        </p:nvSpPr>
        <p:spPr>
          <a:xfrm xmlns:a="http://schemas.openxmlformats.org/drawingml/2006/main">
            <a:off x="533400" y="2124075"/>
            <a:ext cx="609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4275" b="1">
                <a:solidFill>
                  <a:srgbClr val="15181F"/>
                </a:solidFill>
                <a:latin typeface="Cairo"/>
                <a:ea typeface="Cairo"/>
                <a:cs typeface="Cairo"/>
              </a:defRPr>
            </a:defPPr>
          </a:lstStyle>
          <a:p xmlns:a="http://schemas.openxmlformats.org/drawingml/2006/main">
            <a:pPr>
              <a:defRPr sz="4275" b="1">
                <a:solidFill>
                  <a:srgbClr val="15181F"/>
                </a:solidFill>
                <a:latin typeface="Cairo"/>
                <a:ea typeface="Cairo"/>
                <a:cs typeface="Cairo"/>
              </a:defRPr>
            </a:pPr>
            <a:r>
              <a:rPr sz="4275" b="1">
                <a:solidFill>
                  <a:srgbClr val="15181F"/>
                </a:solidFill>
                <a:latin typeface="Cairo"/>
                <a:ea typeface="Cairo"/>
                <a:cs typeface="Cairo"/>
              </a:rPr>
              <a:t>Variant analysis</a:t>
            </a:r>
          </a:p>
        </p:txBody>
      </p:sp>
      <p:sp>
        <p:nvSpPr>
          <p:cNvPr id="7" name="text-5">
            <a:extLst xmlns:a="http://schemas.openxmlformats.org/drawingml/2006/main">
              <a:ext uri="{FF2B5EF4-FFF2-40B4-BE49-F238E27FC236}">
                <a16:creationId xmlns:a16="http://schemas.microsoft.com/office/drawing/2014/main" id="{82F2E74E-89D9-49CE-957E-57E2A1B95763}"/>
              </a:ext>
            </a:extLst>
          </p:cNvPr>
          <p:cNvSpPr>
            <a:spLocks xmlns:a="http://schemas.openxmlformats.org/drawingml/2006/main" noGrp="1"/>
          </p:cNvSpPr>
          <p:nvPr/>
        </p:nvSpPr>
        <p:spPr>
          <a:xfrm xmlns:a="http://schemas.openxmlformats.org/drawingml/2006/main">
            <a:off x="533400" y="3238500"/>
            <a:ext cx="542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0">
                <a:solidFill>
                  <a:srgbClr val="687182"/>
                </a:solidFill>
                <a:latin typeface="Cairo"/>
                <a:ea typeface="Cairo"/>
                <a:cs typeface="Cairo"/>
              </a:defRPr>
            </a:defPPr>
          </a:lstStyle>
          <a:p xmlns:a="http://schemas.openxmlformats.org/drawingml/2006/main">
            <a:pPr>
              <a:defRPr sz="2250" b="0">
                <a:solidFill>
                  <a:srgbClr val="687182"/>
                </a:solidFill>
                <a:latin typeface="Cairo"/>
                <a:ea typeface="Cairo"/>
                <a:cs typeface="Cairo"/>
              </a:defRPr>
            </a:pPr>
            <a:r>
              <a:rPr sz="2250" b="0">
                <a:solidFill>
                  <a:srgbClr val="687182"/>
                </a:solidFill>
                <a:latin typeface="Cairo"/>
                <a:ea typeface="Cairo"/>
                <a:cs typeface="Cairo"/>
              </a:rPr>
              <a:t>Three samples compared with</a:t>
            </a:r>
          </a:p>
          <a:p xmlns:a="http://schemas.openxmlformats.org/drawingml/2006/main">
            <a:pPr>
              <a:defRPr sz="2250" b="0">
                <a:solidFill>
                  <a:srgbClr val="687182"/>
                </a:solidFill>
                <a:latin typeface="Cairo"/>
                <a:ea typeface="Cairo"/>
                <a:cs typeface="Cairo"/>
              </a:defRPr>
            </a:pPr>
            <a:r>
              <a:rPr sz="2250" b="0">
                <a:solidFill>
                  <a:srgbClr val="687182"/>
                </a:solidFill>
                <a:latin typeface="Cairo"/>
                <a:ea typeface="Cairo"/>
                <a:cs typeface="Cairo"/>
              </a:rPr>
              <a:t>the REL606 reference genome</a:t>
            </a:r>
          </a:p>
        </p:txBody>
      </p:sp>
      <p:sp>
        <p:nvSpPr>
          <p:cNvPr id="8" name="text-6">
            <a:extLst xmlns:a="http://schemas.openxmlformats.org/drawingml/2006/main">
              <a:ext uri="{FF2B5EF4-FFF2-40B4-BE49-F238E27FC236}">
                <a16:creationId xmlns:a16="http://schemas.microsoft.com/office/drawing/2014/main" id="{C19E9AF5-7250-406F-9572-74D350F4125E}"/>
              </a:ext>
            </a:extLst>
          </p:cNvPr>
          <p:cNvSpPr>
            <a:spLocks xmlns:a="http://schemas.openxmlformats.org/drawingml/2006/main" noGrp="1"/>
          </p:cNvSpPr>
          <p:nvPr/>
        </p:nvSpPr>
        <p:spPr>
          <a:xfrm xmlns:a="http://schemas.openxmlformats.org/drawingml/2006/main">
            <a:off x="533400" y="521970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5181F"/>
                </a:solidFill>
                <a:latin typeface="Cairo"/>
                <a:ea typeface="Cairo"/>
                <a:cs typeface="Cairo"/>
              </a:defRPr>
            </a:defPPr>
          </a:lstStyle>
          <a:p xmlns:a="http://schemas.openxmlformats.org/drawingml/2006/main">
            <a:pPr>
              <a:defRPr sz="2025" b="1">
                <a:solidFill>
                  <a:srgbClr val="15181F"/>
                </a:solidFill>
                <a:latin typeface="Cairo"/>
                <a:ea typeface="Cairo"/>
                <a:cs typeface="Cairo"/>
              </a:defRPr>
            </a:pPr>
            <a:r>
              <a:rPr sz="2025" b="1">
                <a:solidFill>
                  <a:srgbClr val="15181F"/>
                </a:solidFill>
                <a:latin typeface="Cairo"/>
                <a:ea typeface="Cairo"/>
                <a:cs typeface="Cairo"/>
              </a:rPr>
              <a:t>Ziad</a:t>
            </a:r>
          </a:p>
        </p:txBody>
      </p:sp>
      <p:sp>
        <p:nvSpPr>
          <p:cNvPr id="9" name="text-7">
            <a:extLst xmlns:a="http://schemas.openxmlformats.org/drawingml/2006/main">
              <a:ext uri="{FF2B5EF4-FFF2-40B4-BE49-F238E27FC236}">
                <a16:creationId xmlns:a16="http://schemas.microsoft.com/office/drawing/2014/main" id="{BDD7721F-41E4-4EFC-8747-999FB11A01FF}"/>
              </a:ext>
            </a:extLst>
          </p:cNvPr>
          <p:cNvSpPr>
            <a:spLocks xmlns:a="http://schemas.openxmlformats.org/drawingml/2006/main" noGrp="1"/>
          </p:cNvSpPr>
          <p:nvPr/>
        </p:nvSpPr>
        <p:spPr>
          <a:xfrm xmlns:a="http://schemas.openxmlformats.org/drawingml/2006/main">
            <a:off x="533400" y="5657850"/>
            <a:ext cx="5048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687182"/>
                </a:solidFill>
                <a:latin typeface="Cairo"/>
                <a:ea typeface="Cairo"/>
                <a:cs typeface="Cairo"/>
              </a:defRPr>
            </a:defPPr>
          </a:lstStyle>
          <a:p xmlns:a="http://schemas.openxmlformats.org/drawingml/2006/main">
            <a:pPr>
              <a:defRPr sz="1575" b="0">
                <a:solidFill>
                  <a:srgbClr val="687182"/>
                </a:solidFill>
                <a:latin typeface="Cairo"/>
                <a:ea typeface="Cairo"/>
                <a:cs typeface="Cairo"/>
              </a:defRPr>
            </a:pPr>
            <a:r>
              <a:rPr sz="1575" b="0">
                <a:solidFill>
                  <a:srgbClr val="687182"/>
                </a:solidFill>
                <a:latin typeface="Cairo"/>
                <a:ea typeface="Cairo"/>
                <a:cs typeface="Cairo"/>
              </a:rPr>
              <a:t>Read evidence, variant comparison</a:t>
            </a:r>
          </a:p>
          <a:p xmlns:a="http://schemas.openxmlformats.org/drawingml/2006/main">
            <a:pPr>
              <a:defRPr sz="1575" b="0">
                <a:solidFill>
                  <a:srgbClr val="687182"/>
                </a:solidFill>
                <a:latin typeface="Cairo"/>
                <a:ea typeface="Cairo"/>
                <a:cs typeface="Cairo"/>
              </a:defRPr>
            </a:pPr>
            <a:r>
              <a:rPr sz="1575" b="0">
                <a:solidFill>
                  <a:srgbClr val="687182"/>
                </a:solidFill>
                <a:latin typeface="Cairo"/>
                <a:ea typeface="Cairo"/>
                <a:cs typeface="Cairo"/>
              </a:rPr>
              <a:t>and predicted coding effects</a:t>
            </a:r>
          </a:p>
        </p:txBody>
      </p:sp>
    </p:spTree>
    <p:extLst>
      <p:ext uri="{BB962C8B-B14F-4D97-AF65-F5344CB8AC3E}">
        <p14:creationId xmlns:p14="http://schemas.microsoft.com/office/powerpoint/2010/main" val="3978589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E044E4D0-B3DB-4BFB-88DC-9A1687CDFFFC}"/>
              </a:ext>
            </a:extLst>
          </p:cNvPr>
          <p:cNvSpPr>
            <a:spLocks xmlns:a="http://schemas.openxmlformats.org/drawingml/2006/main" noGrp="1"/>
          </p:cNvSpPr>
          <p:nvPr/>
        </p:nvSpPr>
        <p:spPr>
          <a:xfrm xmlns:a="http://schemas.openxmlformats.org/drawingml/2006/main">
            <a:off x="533400" y="2571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2457FF"/>
                </a:solidFill>
                <a:latin typeface="Cairo"/>
                <a:ea typeface="Cairo"/>
                <a:cs typeface="Cairo"/>
              </a:defRPr>
            </a:defPPr>
          </a:lstStyle>
          <a:p xmlns:a="http://schemas.openxmlformats.org/drawingml/2006/main">
            <a:pPr>
              <a:defRPr sz="1200" b="1">
                <a:solidFill>
                  <a:srgbClr val="2457FF"/>
                </a:solidFill>
                <a:latin typeface="Cairo"/>
                <a:ea typeface="Cairo"/>
                <a:cs typeface="Cairo"/>
              </a:defRPr>
            </a:pPr>
            <a:r>
              <a:rPr sz="1200" b="1">
                <a:solidFill>
                  <a:srgbClr val="2457FF"/>
                </a:solidFill>
                <a:latin typeface="Cairo"/>
                <a:ea typeface="Cairo"/>
                <a:cs typeface="Cairo"/>
              </a:rPr>
              <a:t>STUDY DESIGN</a:t>
            </a:r>
          </a:p>
        </p:txBody>
      </p:sp>
      <p:sp>
        <p:nvSpPr>
          <p:cNvPr id="2" name="text-1">
            <a:extLst xmlns:a="http://schemas.openxmlformats.org/drawingml/2006/main">
              <a:ext uri="{FF2B5EF4-FFF2-40B4-BE49-F238E27FC236}">
                <a16:creationId xmlns:a16="http://schemas.microsoft.com/office/drawing/2014/main" id="{A426807A-C3BB-44D6-BAF1-EB21A4720E4C}"/>
              </a:ext>
            </a:extLst>
          </p:cNvPr>
          <p:cNvSpPr>
            <a:spLocks xmlns:a="http://schemas.openxmlformats.org/drawingml/2006/main" noGrp="1"/>
          </p:cNvSpPr>
          <p:nvPr/>
        </p:nvSpPr>
        <p:spPr>
          <a:xfrm xmlns:a="http://schemas.openxmlformats.org/drawingml/2006/main">
            <a:off x="533400" y="64770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5181F"/>
                </a:solidFill>
                <a:latin typeface="Cairo"/>
                <a:ea typeface="Cairo"/>
                <a:cs typeface="Cairo"/>
              </a:defRPr>
            </a:defPPr>
          </a:lstStyle>
          <a:p xmlns:a="http://schemas.openxmlformats.org/drawingml/2006/main">
            <a:pPr>
              <a:defRPr sz="3150" b="1">
                <a:solidFill>
                  <a:srgbClr val="15181F"/>
                </a:solidFill>
                <a:latin typeface="Cairo"/>
                <a:ea typeface="Cairo"/>
                <a:cs typeface="Cairo"/>
              </a:defRPr>
            </a:pPr>
            <a:r>
              <a:rPr sz="3150" b="1">
                <a:solidFill>
                  <a:srgbClr val="15181F"/>
                </a:solidFill>
                <a:latin typeface="Cairo"/>
                <a:ea typeface="Cairo"/>
                <a:cs typeface="Cairo"/>
              </a:rPr>
              <a:t>Three samples. One reference.</a:t>
            </a:r>
          </a:p>
        </p:txBody>
      </p:sp>
      <p:sp>
        <p:nvSpPr>
          <p:cNvPr id="3" name="text-2">
            <a:extLst xmlns:a="http://schemas.openxmlformats.org/drawingml/2006/main">
              <a:ext uri="{FF2B5EF4-FFF2-40B4-BE49-F238E27FC236}">
                <a16:creationId xmlns:a16="http://schemas.microsoft.com/office/drawing/2014/main" id="{B087A046-F3FB-414C-91B6-9C7065CB26E2}"/>
              </a:ext>
            </a:extLst>
          </p:cNvPr>
          <p:cNvSpPr>
            <a:spLocks xmlns:a="http://schemas.openxmlformats.org/drawingml/2006/main" noGrp="1"/>
          </p:cNvSpPr>
          <p:nvPr/>
        </p:nvSpPr>
        <p:spPr>
          <a:xfrm xmlns:a="http://schemas.openxmlformats.org/drawingml/2006/main">
            <a:off x="11144250" y="64103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687182"/>
                </a:solidFill>
                <a:latin typeface="Cairo"/>
                <a:ea typeface="Cairo"/>
                <a:cs typeface="Cairo"/>
              </a:defRPr>
            </a:defPPr>
          </a:lstStyle>
          <a:p xmlns:a="http://schemas.openxmlformats.org/drawingml/2006/main">
            <a:pPr>
              <a:defRPr sz="1125" b="0">
                <a:solidFill>
                  <a:srgbClr val="687182"/>
                </a:solidFill>
                <a:latin typeface="Cairo"/>
                <a:ea typeface="Cairo"/>
                <a:cs typeface="Cairo"/>
              </a:defRPr>
            </a:pPr>
            <a:r>
              <a:rPr sz="1125" b="0">
                <a:solidFill>
                  <a:srgbClr val="687182"/>
                </a:solidFill>
                <a:latin typeface="Cairo"/>
                <a:ea typeface="Cairo"/>
                <a:cs typeface="Cairo"/>
              </a:rPr>
              <a:t>02</a:t>
            </a:r>
          </a:p>
        </p:txBody>
      </p:sp>
      <p:graphicFrame>
        <p:nvGraphicFramePr>
          <p:cNvPr id="4" name="">
            <a:extLst xmlns:a="http://schemas.openxmlformats.org/drawingml/2006/main">
              <a:ext uri="{FF2B5EF4-FFF2-40B4-BE49-F238E27FC236}">
                <a16:creationId xmlns:a16="http://schemas.microsoft.com/office/drawing/2014/main" id="{BA0802B7-EF92-4769-970F-91662897A945}"/>
              </a:ext>
            </a:extLst>
          </p:cNvPr>
          <p:cNvGraphicFramePr/>
          <p:nvPr/>
        </p:nvGraphicFramePr>
        <p:xfrm>
          <a:off xmlns:a="http://schemas.openxmlformats.org/drawingml/2006/main" x="533400" y="1809750"/>
          <a:ext xmlns:a="http://schemas.openxmlformats.org/drawingml/2006/main" cx="6143625" cy="2857500"/>
        </p:xfrm>
        <a:graphic xmlns:a="http://schemas.openxmlformats.org/drawingml/2006/main">
          <a:graphicData uri="http://schemas.openxmlformats.org/drawingml/2006/table">
            <a:tbl>
              <a:tblPr/>
              <a:tblGrid>
                <a:gridCol w="3381375"/>
                <a:gridCol w="2762250"/>
              </a:tblGrid>
              <a:tr h="714375">
                <a:tc>
                  <a:txBody>
                    <a:bodyPr/>
                    <a:lstStyle/>
                    <a:p>
                      <a:r>
                        <a:rPr sz="2100" b="1">
                          <a:solidFill>
                            <a:srgbClr val="FFFFFF"/>
                          </a:solidFill>
                          <a:latin typeface="Cairo"/>
                          <a:ea typeface="Cairo"/>
                          <a:cs typeface="Cairo"/>
                        </a:rPr>
                        <a:t>Sample</a:t>
                      </a:r>
                    </a:p>
                  </a:txBody>
                  <a:tcPr marL="91440" marR="91440" marT="45720" marB="45720">
                    <a:lnL w="9525">
                      <a:solidFill>
                        <a:srgbClr val="E6EBF2"/>
                      </a:solidFill>
                      <a:prstDash val="solid"/>
                    </a:lnL>
                    <a:lnR w="9525">
                      <a:solidFill>
                        <a:srgbClr val="E6EBF2"/>
                      </a:solidFill>
                      <a:prstDash val="solid"/>
                    </a:lnR>
                    <a:lnT w="9525">
                      <a:solidFill>
                        <a:srgbClr val="E6EBF2"/>
                      </a:solidFill>
                      <a:prstDash val="solid"/>
                    </a:lnT>
                    <a:lnB w="9525">
                      <a:solidFill>
                        <a:srgbClr val="E6EBF2"/>
                      </a:solidFill>
                      <a:prstDash val="solid"/>
                    </a:lnB>
                    <a:solidFill>
                      <a:srgbClr val="15181F"/>
                    </a:solidFill>
                  </a:tcPr>
                </a:tc>
                <a:tc>
                  <a:txBody>
                    <a:bodyPr/>
                    <a:lstStyle/>
                    <a:p>
                      <a:r>
                        <a:rPr sz="2100" b="1">
                          <a:solidFill>
                            <a:srgbClr val="FFFFFF"/>
                          </a:solidFill>
                          <a:latin typeface="Cairo"/>
                          <a:ea typeface="Cairo"/>
                          <a:cs typeface="Cairo"/>
                        </a:rPr>
                        <a:t>Read pairs</a:t>
                      </a:r>
                    </a:p>
                  </a:txBody>
                  <a:tcPr marL="91440" marR="91440" marT="45720" marB="45720">
                    <a:lnR w="9525">
                      <a:solidFill>
                        <a:srgbClr val="E6EBF2"/>
                      </a:solidFill>
                      <a:prstDash val="solid"/>
                    </a:lnR>
                    <a:lnT w="9525">
                      <a:solidFill>
                        <a:srgbClr val="E6EBF2"/>
                      </a:solidFill>
                      <a:prstDash val="solid"/>
                    </a:lnT>
                    <a:lnB w="9525">
                      <a:solidFill>
                        <a:srgbClr val="E6EBF2"/>
                      </a:solidFill>
                      <a:prstDash val="solid"/>
                    </a:lnB>
                    <a:solidFill>
                      <a:srgbClr val="15181F"/>
                    </a:solidFill>
                  </a:tcPr>
                </a:tc>
              </a:tr>
              <a:tr h="714375">
                <a:tc>
                  <a:txBody>
                    <a:bodyPr/>
                    <a:lstStyle/>
                    <a:p>
                      <a:r>
                        <a:rPr sz="2100" b="0">
                          <a:solidFill>
                            <a:srgbClr val="15181F"/>
                          </a:solidFill>
                          <a:latin typeface="Cairo"/>
                          <a:ea typeface="Cairo"/>
                          <a:cs typeface="Cairo"/>
                        </a:rPr>
                        <a:t>SRR2584863</a:t>
                      </a:r>
                    </a:p>
                  </a:txBody>
                  <a:tcPr marL="91440" marR="91440" marT="45720" marB="45720">
                    <a:lnL w="9525">
                      <a:solidFill>
                        <a:srgbClr val="E6EBF2"/>
                      </a:solidFill>
                      <a:prstDash val="solid"/>
                    </a:lnL>
                    <a:lnR w="9525">
                      <a:solidFill>
                        <a:srgbClr val="E6EBF2"/>
                      </a:solidFill>
                      <a:prstDash val="solid"/>
                    </a:lnR>
                    <a:lnB w="9525">
                      <a:solidFill>
                        <a:srgbClr val="E6EBF2"/>
                      </a:solidFill>
                      <a:prstDash val="solid"/>
                    </a:lnB>
                    <a:solidFill>
                      <a:srgbClr val="F3F6FB"/>
                    </a:solidFill>
                  </a:tcPr>
                </a:tc>
                <a:tc>
                  <a:txBody>
                    <a:bodyPr/>
                    <a:lstStyle/>
                    <a:p>
                      <a:r>
                        <a:rPr sz="2100" b="0">
                          <a:solidFill>
                            <a:srgbClr val="15181F"/>
                          </a:solidFill>
                          <a:latin typeface="Cairo"/>
                          <a:ea typeface="Cairo"/>
                          <a:cs typeface="Cairo"/>
                        </a:rPr>
                        <a:t>175,000</a:t>
                      </a:r>
                    </a:p>
                  </a:txBody>
                  <a:tcPr marL="91440" marR="91440" marT="45720" marB="45720">
                    <a:lnR w="9525">
                      <a:solidFill>
                        <a:srgbClr val="E6EBF2"/>
                      </a:solidFill>
                      <a:prstDash val="solid"/>
                    </a:lnR>
                    <a:lnB w="9525">
                      <a:solidFill>
                        <a:srgbClr val="E6EBF2"/>
                      </a:solidFill>
                      <a:prstDash val="solid"/>
                    </a:lnB>
                    <a:solidFill>
                      <a:srgbClr val="F3F6FB"/>
                    </a:solidFill>
                  </a:tcPr>
                </a:tc>
              </a:tr>
              <a:tr h="714375">
                <a:tc>
                  <a:txBody>
                    <a:bodyPr/>
                    <a:lstStyle/>
                    <a:p>
                      <a:r>
                        <a:rPr sz="2100" b="0">
                          <a:solidFill>
                            <a:srgbClr val="15181F"/>
                          </a:solidFill>
                          <a:latin typeface="Cairo"/>
                          <a:ea typeface="Cairo"/>
                          <a:cs typeface="Cairo"/>
                        </a:rPr>
                        <a:t>SRR2584866</a:t>
                      </a:r>
                    </a:p>
                  </a:txBody>
                  <a:tcPr marL="91440" marR="91440" marT="45720" marB="45720">
                    <a:lnL w="9525">
                      <a:solidFill>
                        <a:srgbClr val="E6EBF2"/>
                      </a:solidFill>
                      <a:prstDash val="solid"/>
                    </a:lnL>
                    <a:lnR w="9525">
                      <a:solidFill>
                        <a:srgbClr val="E6EBF2"/>
                      </a:solidFill>
                      <a:prstDash val="solid"/>
                    </a:lnR>
                    <a:lnB w="9525">
                      <a:solidFill>
                        <a:srgbClr val="E6EBF2"/>
                      </a:solidFill>
                      <a:prstDash val="solid"/>
                    </a:lnB>
                    <a:solidFill>
                      <a:srgbClr val="FFFFFF"/>
                    </a:solidFill>
                  </a:tcPr>
                </a:tc>
                <a:tc>
                  <a:txBody>
                    <a:bodyPr/>
                    <a:lstStyle/>
                    <a:p>
                      <a:r>
                        <a:rPr sz="2100" b="0">
                          <a:solidFill>
                            <a:srgbClr val="15181F"/>
                          </a:solidFill>
                          <a:latin typeface="Cairo"/>
                          <a:ea typeface="Cairo"/>
                          <a:cs typeface="Cairo"/>
                        </a:rPr>
                        <a:t>175,000</a:t>
                      </a:r>
                    </a:p>
                  </a:txBody>
                  <a:tcPr marL="91440" marR="91440" marT="45720" marB="45720">
                    <a:lnR w="9525">
                      <a:solidFill>
                        <a:srgbClr val="E6EBF2"/>
                      </a:solidFill>
                      <a:prstDash val="solid"/>
                    </a:lnR>
                    <a:lnB w="9525">
                      <a:solidFill>
                        <a:srgbClr val="E6EBF2"/>
                      </a:solidFill>
                      <a:prstDash val="solid"/>
                    </a:lnB>
                    <a:solidFill>
                      <a:srgbClr val="FFFFFF"/>
                    </a:solidFill>
                  </a:tcPr>
                </a:tc>
              </a:tr>
              <a:tr h="714375">
                <a:tc>
                  <a:txBody>
                    <a:bodyPr/>
                    <a:lstStyle/>
                    <a:p>
                      <a:r>
                        <a:rPr sz="2100" b="0">
                          <a:solidFill>
                            <a:srgbClr val="15181F"/>
                          </a:solidFill>
                          <a:latin typeface="Cairo"/>
                          <a:ea typeface="Cairo"/>
                          <a:cs typeface="Cairo"/>
                        </a:rPr>
                        <a:t>SRR2589044</a:t>
                      </a:r>
                    </a:p>
                  </a:txBody>
                  <a:tcPr marL="91440" marR="91440" marT="45720" marB="45720">
                    <a:lnL w="9525">
                      <a:solidFill>
                        <a:srgbClr val="E6EBF2"/>
                      </a:solidFill>
                      <a:prstDash val="solid"/>
                    </a:lnL>
                    <a:lnR w="9525">
                      <a:solidFill>
                        <a:srgbClr val="E6EBF2"/>
                      </a:solidFill>
                      <a:prstDash val="solid"/>
                    </a:lnR>
                    <a:lnB w="9525">
                      <a:solidFill>
                        <a:srgbClr val="E6EBF2"/>
                      </a:solidFill>
                      <a:prstDash val="solid"/>
                    </a:lnB>
                    <a:solidFill>
                      <a:srgbClr val="F3F6FB"/>
                    </a:solidFill>
                  </a:tcPr>
                </a:tc>
                <a:tc>
                  <a:txBody>
                    <a:bodyPr/>
                    <a:lstStyle/>
                    <a:p>
                      <a:r>
                        <a:rPr sz="2100" b="0">
                          <a:solidFill>
                            <a:srgbClr val="15181F"/>
                          </a:solidFill>
                          <a:latin typeface="Cairo"/>
                          <a:ea typeface="Cairo"/>
                          <a:cs typeface="Cairo"/>
                        </a:rPr>
                        <a:t>175,000</a:t>
                      </a:r>
                    </a:p>
                  </a:txBody>
                  <a:tcPr marL="91440" marR="91440" marT="45720" marB="45720">
                    <a:lnR w="9525">
                      <a:solidFill>
                        <a:srgbClr val="E6EBF2"/>
                      </a:solidFill>
                      <a:prstDash val="solid"/>
                    </a:lnR>
                    <a:lnB w="9525">
                      <a:solidFill>
                        <a:srgbClr val="E6EBF2"/>
                      </a:solidFill>
                      <a:prstDash val="solid"/>
                    </a:lnB>
                    <a:solidFill>
                      <a:srgbClr val="F3F6FB"/>
                    </a:solidFill>
                  </a:tcPr>
                </a:tc>
              </a:tr>
            </a:tbl>
          </a:graphicData>
        </a:graphic>
      </p:graphicFrame>
      <p:sp>
        <p:nvSpPr>
          <p:cNvPr id="5" name="text-3">
            <a:extLst xmlns:a="http://schemas.openxmlformats.org/drawingml/2006/main">
              <a:ext uri="{FF2B5EF4-FFF2-40B4-BE49-F238E27FC236}">
                <a16:creationId xmlns:a16="http://schemas.microsoft.com/office/drawing/2014/main" id="{81E6351D-CB8C-40C9-AE46-5FF26318BA51}"/>
              </a:ext>
            </a:extLst>
          </p:cNvPr>
          <p:cNvSpPr>
            <a:spLocks xmlns:a="http://schemas.openxmlformats.org/drawingml/2006/main" noGrp="1"/>
          </p:cNvSpPr>
          <p:nvPr/>
        </p:nvSpPr>
        <p:spPr>
          <a:xfrm xmlns:a="http://schemas.openxmlformats.org/drawingml/2006/main">
            <a:off x="7381875" y="1752600"/>
            <a:ext cx="42386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4875" b="1">
                <a:solidFill>
                  <a:srgbClr val="2457FF"/>
                </a:solidFill>
                <a:latin typeface="Cairo"/>
                <a:ea typeface="Cairo"/>
                <a:cs typeface="Cairo"/>
              </a:defRPr>
            </a:defPPr>
          </a:lstStyle>
          <a:p xmlns:a="http://schemas.openxmlformats.org/drawingml/2006/main">
            <a:pPr>
              <a:defRPr sz="4875" b="1">
                <a:solidFill>
                  <a:srgbClr val="2457FF"/>
                </a:solidFill>
                <a:latin typeface="Cairo"/>
                <a:ea typeface="Cairo"/>
                <a:cs typeface="Cairo"/>
              </a:defRPr>
            </a:pPr>
            <a:r>
              <a:rPr sz="4875" b="1">
                <a:solidFill>
                  <a:srgbClr val="2457FF"/>
                </a:solidFill>
                <a:latin typeface="Cairo"/>
                <a:ea typeface="Cairo"/>
                <a:cs typeface="Cairo"/>
              </a:rPr>
              <a:t>4,629,812</a:t>
            </a:r>
          </a:p>
        </p:txBody>
      </p:sp>
      <p:sp>
        <p:nvSpPr>
          <p:cNvPr id="6" name="text-4">
            <a:extLst xmlns:a="http://schemas.openxmlformats.org/drawingml/2006/main">
              <a:ext uri="{FF2B5EF4-FFF2-40B4-BE49-F238E27FC236}">
                <a16:creationId xmlns:a16="http://schemas.microsoft.com/office/drawing/2014/main" id="{2A01FB79-C457-4C3F-AF33-64B78307E368}"/>
              </a:ext>
            </a:extLst>
          </p:cNvPr>
          <p:cNvSpPr>
            <a:spLocks xmlns:a="http://schemas.openxmlformats.org/drawingml/2006/main" noGrp="1"/>
          </p:cNvSpPr>
          <p:nvPr/>
        </p:nvSpPr>
        <p:spPr>
          <a:xfrm xmlns:a="http://schemas.openxmlformats.org/drawingml/2006/main">
            <a:off x="7429500" y="2647950"/>
            <a:ext cx="3810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687182"/>
                </a:solidFill>
                <a:latin typeface="Cairo"/>
                <a:ea typeface="Cairo"/>
                <a:cs typeface="Cairo"/>
              </a:defRPr>
            </a:defPPr>
          </a:lstStyle>
          <a:p xmlns:a="http://schemas.openxmlformats.org/drawingml/2006/main">
            <a:pPr>
              <a:defRPr sz="2025" b="0">
                <a:solidFill>
                  <a:srgbClr val="687182"/>
                </a:solidFill>
                <a:latin typeface="Cairo"/>
                <a:ea typeface="Cairo"/>
                <a:cs typeface="Cairo"/>
              </a:defRPr>
            </a:pPr>
            <a:r>
              <a:rPr sz="2025" b="0">
                <a:solidFill>
                  <a:srgbClr val="687182"/>
                </a:solidFill>
                <a:latin typeface="Cairo"/>
                <a:ea typeface="Cairo"/>
                <a:cs typeface="Cairo"/>
              </a:rPr>
              <a:t>reference bases</a:t>
            </a:r>
          </a:p>
        </p:txBody>
      </p:sp>
      <p:sp>
        <p:nvSpPr>
          <p:cNvPr id="7" name="">
            <a:extLst xmlns:a="http://schemas.openxmlformats.org/drawingml/2006/main">
              <a:ext uri="{FF2B5EF4-FFF2-40B4-BE49-F238E27FC236}">
                <a16:creationId xmlns:a16="http://schemas.microsoft.com/office/drawing/2014/main" id="{2D273A7C-4763-4295-B255-B56816D914D6}"/>
              </a:ext>
            </a:extLst>
          </p:cNvPr>
          <p:cNvSpPr>
            <a:spLocks xmlns:a="http://schemas.openxmlformats.org/drawingml/2006/main" noGrp="1"/>
          </p:cNvSpPr>
          <p:nvPr/>
        </p:nvSpPr>
        <p:spPr>
          <a:xfrm xmlns:a="http://schemas.openxmlformats.org/drawingml/2006/main">
            <a:off x="7429500" y="3305175"/>
            <a:ext cx="4000500" cy="11430"/>
          </a:xfrm>
          <a:prstGeom xmlns:a="http://schemas.openxmlformats.org/drawingml/2006/main" prst="rect">
            <a:avLst/>
          </a:prstGeom>
          <a:solidFill xmlns:a="http://schemas.openxmlformats.org/drawingml/2006/main">
            <a:srgbClr val="E6EBF2"/>
          </a:solidFill>
          <a:ln xmlns:a="http://schemas.openxmlformats.org/drawingml/2006/main" w="0">
            <a:noFill/>
            <a:prstDash val="solid"/>
          </a:ln>
        </p:spPr>
      </p:sp>
      <p:sp>
        <p:nvSpPr>
          <p:cNvPr id="8" name="text-6">
            <a:extLst xmlns:a="http://schemas.openxmlformats.org/drawingml/2006/main">
              <a:ext uri="{FF2B5EF4-FFF2-40B4-BE49-F238E27FC236}">
                <a16:creationId xmlns:a16="http://schemas.microsoft.com/office/drawing/2014/main" id="{8954E623-42BB-4F65-8F81-8426C197DC04}"/>
              </a:ext>
            </a:extLst>
          </p:cNvPr>
          <p:cNvSpPr>
            <a:spLocks xmlns:a="http://schemas.openxmlformats.org/drawingml/2006/main" noGrp="1"/>
          </p:cNvSpPr>
          <p:nvPr/>
        </p:nvSpPr>
        <p:spPr>
          <a:xfrm xmlns:a="http://schemas.openxmlformats.org/drawingml/2006/main">
            <a:off x="7429500" y="3581400"/>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1">
                <a:solidFill>
                  <a:srgbClr val="15181F"/>
                </a:solidFill>
                <a:latin typeface="Cairo"/>
                <a:ea typeface="Cairo"/>
                <a:cs typeface="Cairo"/>
              </a:defRPr>
            </a:defPPr>
          </a:lstStyle>
          <a:p xmlns:a="http://schemas.openxmlformats.org/drawingml/2006/main">
            <a:pPr>
              <a:defRPr sz="2700" b="1">
                <a:solidFill>
                  <a:srgbClr val="15181F"/>
                </a:solidFill>
                <a:latin typeface="Cairo"/>
                <a:ea typeface="Cairo"/>
                <a:cs typeface="Cairo"/>
              </a:defRPr>
            </a:pPr>
            <a:r>
              <a:rPr sz="2700" b="1">
                <a:solidFill>
                  <a:srgbClr val="15181F"/>
                </a:solidFill>
                <a:latin typeface="Cairo"/>
                <a:ea typeface="Cairo"/>
                <a:cs typeface="Cairo"/>
              </a:rPr>
              <a:t>CP000819.1</a:t>
            </a:r>
          </a:p>
        </p:txBody>
      </p:sp>
      <p:sp>
        <p:nvSpPr>
          <p:cNvPr id="9" name="text-7">
            <a:extLst xmlns:a="http://schemas.openxmlformats.org/drawingml/2006/main">
              <a:ext uri="{FF2B5EF4-FFF2-40B4-BE49-F238E27FC236}">
                <a16:creationId xmlns:a16="http://schemas.microsoft.com/office/drawing/2014/main" id="{2F342BF1-3E03-4FA6-AADB-5C2282F6C608}"/>
              </a:ext>
            </a:extLst>
          </p:cNvPr>
          <p:cNvSpPr>
            <a:spLocks xmlns:a="http://schemas.openxmlformats.org/drawingml/2006/main" noGrp="1"/>
          </p:cNvSpPr>
          <p:nvPr/>
        </p:nvSpPr>
        <p:spPr>
          <a:xfrm xmlns:a="http://schemas.openxmlformats.org/drawingml/2006/main">
            <a:off x="7429500" y="4210050"/>
            <a:ext cx="4000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687182"/>
                </a:solidFill>
                <a:latin typeface="Cairo"/>
                <a:ea typeface="Cairo"/>
                <a:cs typeface="Cairo"/>
              </a:defRPr>
            </a:defPPr>
          </a:lstStyle>
          <a:p xmlns:a="http://schemas.openxmlformats.org/drawingml/2006/main">
            <a:pPr>
              <a:defRPr sz="2025" b="0">
                <a:solidFill>
                  <a:srgbClr val="687182"/>
                </a:solidFill>
                <a:latin typeface="Cairo"/>
                <a:ea typeface="Cairo"/>
                <a:cs typeface="Cairo"/>
              </a:defRPr>
            </a:pPr>
            <a:r>
              <a:rPr sz="2025" b="0">
                <a:solidFill>
                  <a:srgbClr val="687182"/>
                </a:solidFill>
                <a:latin typeface="Cairo"/>
                <a:ea typeface="Cairo"/>
                <a:cs typeface="Cairo"/>
              </a:rPr>
              <a:t>E. coli B strain REL606</a:t>
            </a:r>
          </a:p>
        </p:txBody>
      </p:sp>
      <p:sp>
        <p:nvSpPr>
          <p:cNvPr id="10" name="text-8">
            <a:extLst xmlns:a="http://schemas.openxmlformats.org/drawingml/2006/main">
              <a:ext uri="{FF2B5EF4-FFF2-40B4-BE49-F238E27FC236}">
                <a16:creationId xmlns:a16="http://schemas.microsoft.com/office/drawing/2014/main" id="{EC9F1F91-54D0-47F0-A260-69ECEF033C9F}"/>
              </a:ext>
            </a:extLst>
          </p:cNvPr>
          <p:cNvSpPr>
            <a:spLocks xmlns:a="http://schemas.openxmlformats.org/drawingml/2006/main" noGrp="1"/>
          </p:cNvSpPr>
          <p:nvPr/>
        </p:nvSpPr>
        <p:spPr>
          <a:xfrm xmlns:a="http://schemas.openxmlformats.org/drawingml/2006/main">
            <a:off x="533400" y="6038850"/>
            <a:ext cx="1112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687182"/>
                </a:solidFill>
                <a:latin typeface="Cairo"/>
                <a:ea typeface="Cairo"/>
                <a:cs typeface="Cairo"/>
              </a:defRPr>
            </a:defPPr>
          </a:lstStyle>
          <a:p xmlns:a="http://schemas.openxmlformats.org/drawingml/2006/main">
            <a:pPr>
              <a:defRPr sz="1275" b="0">
                <a:solidFill>
                  <a:srgbClr val="687182"/>
                </a:solidFill>
                <a:latin typeface="Cairo"/>
                <a:ea typeface="Cairo"/>
                <a:cs typeface="Cairo"/>
              </a:defRPr>
            </a:pPr>
            <a:r>
              <a:rPr sz="1275" b="0">
                <a:solidFill>
                  <a:srgbClr val="687182"/>
                </a:solidFill>
                <a:latin typeface="Cairo"/>
                <a:ea typeface="Cairo"/>
                <a:cs typeface="Cairo"/>
              </a:rPr>
              <a:t>Provided FASTQs are pretrimmed subsets. Two files per sample: R1 and R2.</a:t>
            </a:r>
          </a:p>
        </p:txBody>
      </p:sp>
    </p:spTree>
    <p:extLst>
      <p:ext uri="{BB962C8B-B14F-4D97-AF65-F5344CB8AC3E}">
        <p14:creationId xmlns:p14="http://schemas.microsoft.com/office/powerpoint/2010/main" val="559222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ext-0">
            <a:extLst xmlns:a="http://schemas.openxmlformats.org/drawingml/2006/main">
              <a:ext uri="{FF2B5EF4-FFF2-40B4-BE49-F238E27FC236}">
                <a16:creationId xmlns:a16="http://schemas.microsoft.com/office/drawing/2014/main" id="{400F951B-9CE4-496C-947B-31B4EA6B50BA}"/>
              </a:ext>
            </a:extLst>
          </p:cNvPr>
          <p:cNvSpPr>
            <a:spLocks xmlns:a="http://schemas.openxmlformats.org/drawingml/2006/main" noGrp="1"/>
          </p:cNvSpPr>
          <p:nvPr/>
        </p:nvSpPr>
        <p:spPr>
          <a:xfrm xmlns:a="http://schemas.openxmlformats.org/drawingml/2006/main">
            <a:off x="533400" y="2571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2457FF"/>
                </a:solidFill>
                <a:latin typeface="Cairo"/>
                <a:ea typeface="Cairo"/>
                <a:cs typeface="Cairo"/>
              </a:defRPr>
            </a:defPPr>
          </a:lstStyle>
          <a:p xmlns:a="http://schemas.openxmlformats.org/drawingml/2006/main">
            <a:pPr>
              <a:defRPr sz="1200" b="1">
                <a:solidFill>
                  <a:srgbClr val="2457FF"/>
                </a:solidFill>
                <a:latin typeface="Cairo"/>
                <a:ea typeface="Cairo"/>
                <a:cs typeface="Cairo"/>
              </a:defRPr>
            </a:pPr>
            <a:r>
              <a:rPr sz="1200" b="1">
                <a:solidFill>
                  <a:srgbClr val="2457FF"/>
                </a:solidFill>
                <a:latin typeface="Cairo"/>
                <a:ea typeface="Cairo"/>
                <a:cs typeface="Cairo"/>
              </a:rPr>
              <a:t>METHODS</a:t>
            </a:r>
          </a:p>
        </p:txBody>
      </p:sp>
      <p:sp>
        <p:nvSpPr>
          <p:cNvPr id="2" name="text-1">
            <a:extLst xmlns:a="http://schemas.openxmlformats.org/drawingml/2006/main">
              <a:ext uri="{FF2B5EF4-FFF2-40B4-BE49-F238E27FC236}">
                <a16:creationId xmlns:a16="http://schemas.microsoft.com/office/drawing/2014/main" id="{CBC5697B-CC34-4A9E-B64D-7FFA42FC57F7}"/>
              </a:ext>
            </a:extLst>
          </p:cNvPr>
          <p:cNvSpPr>
            <a:spLocks xmlns:a="http://schemas.openxmlformats.org/drawingml/2006/main" noGrp="1"/>
          </p:cNvSpPr>
          <p:nvPr/>
        </p:nvSpPr>
        <p:spPr>
          <a:xfrm xmlns:a="http://schemas.openxmlformats.org/drawingml/2006/main">
            <a:off x="533400" y="64770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5181F"/>
                </a:solidFill>
                <a:latin typeface="Cairo"/>
                <a:ea typeface="Cairo"/>
                <a:cs typeface="Cairo"/>
              </a:defRPr>
            </a:defPPr>
          </a:lstStyle>
          <a:p xmlns:a="http://schemas.openxmlformats.org/drawingml/2006/main">
            <a:pPr>
              <a:defRPr sz="3150" b="1">
                <a:solidFill>
                  <a:srgbClr val="15181F"/>
                </a:solidFill>
                <a:latin typeface="Cairo"/>
                <a:ea typeface="Cairo"/>
                <a:cs typeface="Cairo"/>
              </a:defRPr>
            </a:pPr>
            <a:r>
              <a:rPr sz="3150" b="1">
                <a:solidFill>
                  <a:srgbClr val="15181F"/>
                </a:solidFill>
                <a:latin typeface="Cairo"/>
                <a:ea typeface="Cairo"/>
                <a:cs typeface="Cairo"/>
              </a:rPr>
              <a:t>The analysis workflow</a:t>
            </a:r>
          </a:p>
        </p:txBody>
      </p:sp>
      <p:sp>
        <p:nvSpPr>
          <p:cNvPr id="3" name="text-2">
            <a:extLst xmlns:a="http://schemas.openxmlformats.org/drawingml/2006/main">
              <a:ext uri="{FF2B5EF4-FFF2-40B4-BE49-F238E27FC236}">
                <a16:creationId xmlns:a16="http://schemas.microsoft.com/office/drawing/2014/main" id="{8CB76423-83A9-49E8-B200-9D811807951B}"/>
              </a:ext>
            </a:extLst>
          </p:cNvPr>
          <p:cNvSpPr>
            <a:spLocks xmlns:a="http://schemas.openxmlformats.org/drawingml/2006/main" noGrp="1"/>
          </p:cNvSpPr>
          <p:nvPr/>
        </p:nvSpPr>
        <p:spPr>
          <a:xfrm xmlns:a="http://schemas.openxmlformats.org/drawingml/2006/main">
            <a:off x="11144250" y="64103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687182"/>
                </a:solidFill>
                <a:latin typeface="Cairo"/>
                <a:ea typeface="Cairo"/>
                <a:cs typeface="Cairo"/>
              </a:defRPr>
            </a:defPPr>
          </a:lstStyle>
          <a:p xmlns:a="http://schemas.openxmlformats.org/drawingml/2006/main">
            <a:pPr>
              <a:defRPr sz="1125" b="0">
                <a:solidFill>
                  <a:srgbClr val="687182"/>
                </a:solidFill>
                <a:latin typeface="Cairo"/>
                <a:ea typeface="Cairo"/>
                <a:cs typeface="Cairo"/>
              </a:defRPr>
            </a:pPr>
            <a:r>
              <a:rPr sz="1125" b="0">
                <a:solidFill>
                  <a:srgbClr val="687182"/>
                </a:solidFill>
                <a:latin typeface="Cairo"/>
                <a:ea typeface="Cairo"/>
                <a:cs typeface="Cairo"/>
              </a:rPr>
              <a:t>03</a:t>
            </a:r>
          </a:p>
        </p:txBody>
      </p:sp>
      <p:sp>
        <p:nvSpPr>
          <p:cNvPr id="4" name="text-3">
            <a:extLst xmlns:a="http://schemas.openxmlformats.org/drawingml/2006/main">
              <a:ext uri="{FF2B5EF4-FFF2-40B4-BE49-F238E27FC236}">
                <a16:creationId xmlns:a16="http://schemas.microsoft.com/office/drawing/2014/main" id="{A3355957-1FB0-4F97-B59B-9CEC54F89E8D}"/>
              </a:ext>
            </a:extLst>
          </p:cNvPr>
          <p:cNvSpPr>
            <a:spLocks xmlns:a="http://schemas.openxmlformats.org/drawingml/2006/main" noGrp="1"/>
          </p:cNvSpPr>
          <p:nvPr/>
        </p:nvSpPr>
        <p:spPr>
          <a:xfrm xmlns:a="http://schemas.openxmlformats.org/drawingml/2006/main">
            <a:off x="533400" y="1695450"/>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00" b="1">
                <a:solidFill>
                  <a:srgbClr val="2457FF"/>
                </a:solidFill>
                <a:latin typeface="Cairo"/>
                <a:ea typeface="Cairo"/>
                <a:cs typeface="Cairo"/>
              </a:defRPr>
            </a:defPPr>
          </a:lstStyle>
          <a:p xmlns:a="http://schemas.openxmlformats.org/drawingml/2006/main">
            <a:pPr>
              <a:defRPr sz="3600" b="1">
                <a:solidFill>
                  <a:srgbClr val="2457FF"/>
                </a:solidFill>
                <a:latin typeface="Cairo"/>
                <a:ea typeface="Cairo"/>
                <a:cs typeface="Cairo"/>
              </a:defRPr>
            </a:pPr>
            <a:r>
              <a:rPr sz="3600" b="1">
                <a:solidFill>
                  <a:srgbClr val="2457FF"/>
                </a:solidFill>
                <a:latin typeface="Cairo"/>
                <a:ea typeface="Cairo"/>
                <a:cs typeface="Cairo"/>
              </a:rPr>
              <a:t>01</a:t>
            </a:r>
          </a:p>
        </p:txBody>
      </p:sp>
      <p:sp>
        <p:nvSpPr>
          <p:cNvPr id="5" name="text-4">
            <a:extLst xmlns:a="http://schemas.openxmlformats.org/drawingml/2006/main">
              <a:ext uri="{FF2B5EF4-FFF2-40B4-BE49-F238E27FC236}">
                <a16:creationId xmlns:a16="http://schemas.microsoft.com/office/drawing/2014/main" id="{9E64DC2B-0592-427B-AEE6-5C44AABE3638}"/>
              </a:ext>
            </a:extLst>
          </p:cNvPr>
          <p:cNvSpPr>
            <a:spLocks xmlns:a="http://schemas.openxmlformats.org/drawingml/2006/main" noGrp="1"/>
          </p:cNvSpPr>
          <p:nvPr/>
        </p:nvSpPr>
        <p:spPr>
          <a:xfrm xmlns:a="http://schemas.openxmlformats.org/drawingml/2006/main">
            <a:off x="533400" y="2286000"/>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5181F"/>
                </a:solidFill>
                <a:latin typeface="Cairo"/>
                <a:ea typeface="Cairo"/>
                <a:cs typeface="Cairo"/>
              </a:defRPr>
            </a:defPPr>
          </a:lstStyle>
          <a:p xmlns:a="http://schemas.openxmlformats.org/drawingml/2006/main">
            <a:pPr>
              <a:defRPr sz="2100" b="1">
                <a:solidFill>
                  <a:srgbClr val="15181F"/>
                </a:solidFill>
                <a:latin typeface="Cairo"/>
                <a:ea typeface="Cairo"/>
                <a:cs typeface="Cairo"/>
              </a:defRPr>
            </a:pPr>
            <a:r>
              <a:rPr sz="2100" b="1">
                <a:solidFill>
                  <a:srgbClr val="15181F"/>
                </a:solidFill>
                <a:latin typeface="Cairo"/>
                <a:ea typeface="Cairo"/>
                <a:cs typeface="Cairo"/>
              </a:rPr>
              <a:t>Reads and reference</a:t>
            </a:r>
          </a:p>
        </p:txBody>
      </p:sp>
      <p:sp>
        <p:nvSpPr>
          <p:cNvPr id="6" name="text-5">
            <a:extLst xmlns:a="http://schemas.openxmlformats.org/drawingml/2006/main">
              <a:ext uri="{FF2B5EF4-FFF2-40B4-BE49-F238E27FC236}">
                <a16:creationId xmlns:a16="http://schemas.microsoft.com/office/drawing/2014/main" id="{62E6C0A7-71AD-4BE8-924B-95B835EB63F8}"/>
              </a:ext>
            </a:extLst>
          </p:cNvPr>
          <p:cNvSpPr>
            <a:spLocks xmlns:a="http://schemas.openxmlformats.org/drawingml/2006/main" noGrp="1"/>
          </p:cNvSpPr>
          <p:nvPr/>
        </p:nvSpPr>
        <p:spPr>
          <a:xfrm xmlns:a="http://schemas.openxmlformats.org/drawingml/2006/main">
            <a:off x="533400" y="272415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687182"/>
                </a:solidFill>
                <a:latin typeface="Cairo"/>
                <a:ea typeface="Cairo"/>
                <a:cs typeface="Cairo"/>
              </a:defRPr>
            </a:defPPr>
          </a:lstStyle>
          <a:p xmlns:a="http://schemas.openxmlformats.org/drawingml/2006/main">
            <a:pPr>
              <a:defRPr sz="1575" b="0">
                <a:solidFill>
                  <a:srgbClr val="687182"/>
                </a:solidFill>
                <a:latin typeface="Cairo"/>
                <a:ea typeface="Cairo"/>
                <a:cs typeface="Cairo"/>
              </a:defRPr>
            </a:pPr>
            <a:r>
              <a:rPr sz="1575" b="0">
                <a:solidFill>
                  <a:srgbClr val="687182"/>
                </a:solidFill>
                <a:latin typeface="Cairo"/>
                <a:ea typeface="Cairo"/>
                <a:cs typeface="Cairo"/>
              </a:rPr>
              <a:t>FASTQ + REL606 FASTA</a:t>
            </a:r>
          </a:p>
        </p:txBody>
      </p:sp>
      <p:sp>
        <p:nvSpPr>
          <p:cNvPr id="7" name="text-6">
            <a:extLst xmlns:a="http://schemas.openxmlformats.org/drawingml/2006/main">
              <a:ext uri="{FF2B5EF4-FFF2-40B4-BE49-F238E27FC236}">
                <a16:creationId xmlns:a16="http://schemas.microsoft.com/office/drawing/2014/main" id="{F1312125-1F66-4BBE-8A30-813274338C10}"/>
              </a:ext>
            </a:extLst>
          </p:cNvPr>
          <p:cNvSpPr>
            <a:spLocks xmlns:a="http://schemas.openxmlformats.org/drawingml/2006/main" noGrp="1"/>
          </p:cNvSpPr>
          <p:nvPr/>
        </p:nvSpPr>
        <p:spPr>
          <a:xfrm xmlns:a="http://schemas.openxmlformats.org/drawingml/2006/main">
            <a:off x="533400" y="31432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2457FF"/>
                </a:solidFill>
                <a:latin typeface="Cairo"/>
                <a:ea typeface="Cairo"/>
                <a:cs typeface="Cairo"/>
              </a:defRPr>
            </a:defPPr>
          </a:lstStyle>
          <a:p xmlns:a="http://schemas.openxmlformats.org/drawingml/2006/main">
            <a:pPr>
              <a:defRPr sz="1350" b="0">
                <a:solidFill>
                  <a:srgbClr val="2457FF"/>
                </a:solidFill>
                <a:latin typeface="Cairo"/>
                <a:ea typeface="Cairo"/>
                <a:cs typeface="Cairo"/>
              </a:defRPr>
            </a:pPr>
            <a:r>
              <a:rPr sz="1350" b="0">
                <a:solidFill>
                  <a:srgbClr val="2457FF"/>
                </a:solidFill>
                <a:latin typeface="Cairo"/>
                <a:ea typeface="Cairo"/>
                <a:cs typeface="Cairo"/>
              </a:rPr>
              <a:t>FastQC / MultiQC</a:t>
            </a:r>
          </a:p>
        </p:txBody>
      </p:sp>
      <p:sp>
        <p:nvSpPr>
          <p:cNvPr id="8" name="text-7">
            <a:extLst xmlns:a="http://schemas.openxmlformats.org/drawingml/2006/main">
              <a:ext uri="{FF2B5EF4-FFF2-40B4-BE49-F238E27FC236}">
                <a16:creationId xmlns:a16="http://schemas.microsoft.com/office/drawing/2014/main" id="{BF587A6D-1C6C-47B4-B3A9-E7B9CB47F30A}"/>
              </a:ext>
            </a:extLst>
          </p:cNvPr>
          <p:cNvSpPr>
            <a:spLocks xmlns:a="http://schemas.openxmlformats.org/drawingml/2006/main" noGrp="1"/>
          </p:cNvSpPr>
          <p:nvPr/>
        </p:nvSpPr>
        <p:spPr>
          <a:xfrm xmlns:a="http://schemas.openxmlformats.org/drawingml/2006/main">
            <a:off x="4362450" y="1695450"/>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00" b="1">
                <a:solidFill>
                  <a:srgbClr val="2457FF"/>
                </a:solidFill>
                <a:latin typeface="Cairo"/>
                <a:ea typeface="Cairo"/>
                <a:cs typeface="Cairo"/>
              </a:defRPr>
            </a:defPPr>
          </a:lstStyle>
          <a:p xmlns:a="http://schemas.openxmlformats.org/drawingml/2006/main">
            <a:pPr>
              <a:defRPr sz="3600" b="1">
                <a:solidFill>
                  <a:srgbClr val="2457FF"/>
                </a:solidFill>
                <a:latin typeface="Cairo"/>
                <a:ea typeface="Cairo"/>
                <a:cs typeface="Cairo"/>
              </a:defRPr>
            </a:pPr>
            <a:r>
              <a:rPr sz="3600" b="1">
                <a:solidFill>
                  <a:srgbClr val="2457FF"/>
                </a:solidFill>
                <a:latin typeface="Cairo"/>
                <a:ea typeface="Cairo"/>
                <a:cs typeface="Cairo"/>
              </a:rPr>
              <a:t>02</a:t>
            </a:r>
          </a:p>
        </p:txBody>
      </p:sp>
      <p:sp>
        <p:nvSpPr>
          <p:cNvPr id="9" name="text-8">
            <a:extLst xmlns:a="http://schemas.openxmlformats.org/drawingml/2006/main">
              <a:ext uri="{FF2B5EF4-FFF2-40B4-BE49-F238E27FC236}">
                <a16:creationId xmlns:a16="http://schemas.microsoft.com/office/drawing/2014/main" id="{A3769EFB-BB57-4FE7-A03E-A50BFCFA78B3}"/>
              </a:ext>
            </a:extLst>
          </p:cNvPr>
          <p:cNvSpPr>
            <a:spLocks xmlns:a="http://schemas.openxmlformats.org/drawingml/2006/main" noGrp="1"/>
          </p:cNvSpPr>
          <p:nvPr/>
        </p:nvSpPr>
        <p:spPr>
          <a:xfrm xmlns:a="http://schemas.openxmlformats.org/drawingml/2006/main">
            <a:off x="4362450" y="2286000"/>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5181F"/>
                </a:solidFill>
                <a:latin typeface="Cairo"/>
                <a:ea typeface="Cairo"/>
                <a:cs typeface="Cairo"/>
              </a:defRPr>
            </a:defPPr>
          </a:lstStyle>
          <a:p xmlns:a="http://schemas.openxmlformats.org/drawingml/2006/main">
            <a:pPr>
              <a:defRPr sz="2100" b="1">
                <a:solidFill>
                  <a:srgbClr val="15181F"/>
                </a:solidFill>
                <a:latin typeface="Cairo"/>
                <a:ea typeface="Cairo"/>
                <a:cs typeface="Cairo"/>
              </a:defRPr>
            </a:pPr>
            <a:r>
              <a:rPr sz="2100" b="1">
                <a:solidFill>
                  <a:srgbClr val="15181F"/>
                </a:solidFill>
                <a:latin typeface="Cairo"/>
                <a:ea typeface="Cairo"/>
                <a:cs typeface="Cairo"/>
              </a:rPr>
              <a:t>Alignment</a:t>
            </a:r>
          </a:p>
        </p:txBody>
      </p:sp>
      <p:sp>
        <p:nvSpPr>
          <p:cNvPr id="10" name="text-9">
            <a:extLst xmlns:a="http://schemas.openxmlformats.org/drawingml/2006/main">
              <a:ext uri="{FF2B5EF4-FFF2-40B4-BE49-F238E27FC236}">
                <a16:creationId xmlns:a16="http://schemas.microsoft.com/office/drawing/2014/main" id="{4A2AB644-39C9-4511-84B1-2E1651DC861E}"/>
              </a:ext>
            </a:extLst>
          </p:cNvPr>
          <p:cNvSpPr>
            <a:spLocks xmlns:a="http://schemas.openxmlformats.org/drawingml/2006/main" noGrp="1"/>
          </p:cNvSpPr>
          <p:nvPr/>
        </p:nvSpPr>
        <p:spPr>
          <a:xfrm xmlns:a="http://schemas.openxmlformats.org/drawingml/2006/main">
            <a:off x="4362450" y="272415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687182"/>
                </a:solidFill>
                <a:latin typeface="Cairo"/>
                <a:ea typeface="Cairo"/>
                <a:cs typeface="Cairo"/>
              </a:defRPr>
            </a:defPPr>
          </a:lstStyle>
          <a:p xmlns:a="http://schemas.openxmlformats.org/drawingml/2006/main">
            <a:pPr>
              <a:defRPr sz="1575" b="0">
                <a:solidFill>
                  <a:srgbClr val="687182"/>
                </a:solidFill>
                <a:latin typeface="Cairo"/>
                <a:ea typeface="Cairo"/>
                <a:cs typeface="Cairo"/>
              </a:defRPr>
            </a:pPr>
            <a:r>
              <a:rPr sz="1575" b="0">
                <a:solidFill>
                  <a:srgbClr val="687182"/>
                </a:solidFill>
                <a:latin typeface="Cairo"/>
                <a:ea typeface="Cairo"/>
                <a:cs typeface="Cairo"/>
              </a:rPr>
              <a:t>BWA-MEM + SAMtools</a:t>
            </a:r>
          </a:p>
        </p:txBody>
      </p:sp>
      <p:sp>
        <p:nvSpPr>
          <p:cNvPr id="11" name="text-10">
            <a:extLst xmlns:a="http://schemas.openxmlformats.org/drawingml/2006/main">
              <a:ext uri="{FF2B5EF4-FFF2-40B4-BE49-F238E27FC236}">
                <a16:creationId xmlns:a16="http://schemas.microsoft.com/office/drawing/2014/main" id="{D5514474-31A8-4C73-9A14-F14C6DF42B32}"/>
              </a:ext>
            </a:extLst>
          </p:cNvPr>
          <p:cNvSpPr>
            <a:spLocks xmlns:a="http://schemas.openxmlformats.org/drawingml/2006/main" noGrp="1"/>
          </p:cNvSpPr>
          <p:nvPr/>
        </p:nvSpPr>
        <p:spPr>
          <a:xfrm xmlns:a="http://schemas.openxmlformats.org/drawingml/2006/main">
            <a:off x="4362450" y="31432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2457FF"/>
                </a:solidFill>
                <a:latin typeface="Cairo"/>
                <a:ea typeface="Cairo"/>
                <a:cs typeface="Cairo"/>
              </a:defRPr>
            </a:defPPr>
          </a:lstStyle>
          <a:p xmlns:a="http://schemas.openxmlformats.org/drawingml/2006/main">
            <a:pPr>
              <a:defRPr sz="1350" b="0">
                <a:solidFill>
                  <a:srgbClr val="2457FF"/>
                </a:solidFill>
                <a:latin typeface="Cairo"/>
                <a:ea typeface="Cairo"/>
                <a:cs typeface="Cairo"/>
              </a:defRPr>
            </a:pPr>
            <a:r>
              <a:rPr sz="1350" b="0">
                <a:solidFill>
                  <a:srgbClr val="2457FF"/>
                </a:solidFill>
                <a:latin typeface="Cairo"/>
                <a:ea typeface="Cairo"/>
                <a:cs typeface="Cairo"/>
              </a:rPr>
              <a:t>Indexed, duplicate-marked BAM</a:t>
            </a:r>
          </a:p>
        </p:txBody>
      </p:sp>
      <p:sp>
        <p:nvSpPr>
          <p:cNvPr id="12" name="text-11">
            <a:extLst xmlns:a="http://schemas.openxmlformats.org/drawingml/2006/main">
              <a:ext uri="{FF2B5EF4-FFF2-40B4-BE49-F238E27FC236}">
                <a16:creationId xmlns:a16="http://schemas.microsoft.com/office/drawing/2014/main" id="{D0045DD7-BD9A-468D-A658-658D26649CF6}"/>
              </a:ext>
            </a:extLst>
          </p:cNvPr>
          <p:cNvSpPr>
            <a:spLocks xmlns:a="http://schemas.openxmlformats.org/drawingml/2006/main" noGrp="1"/>
          </p:cNvSpPr>
          <p:nvPr/>
        </p:nvSpPr>
        <p:spPr>
          <a:xfrm xmlns:a="http://schemas.openxmlformats.org/drawingml/2006/main">
            <a:off x="8191500" y="1695450"/>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00" b="1">
                <a:solidFill>
                  <a:srgbClr val="2457FF"/>
                </a:solidFill>
                <a:latin typeface="Cairo"/>
                <a:ea typeface="Cairo"/>
                <a:cs typeface="Cairo"/>
              </a:defRPr>
            </a:defPPr>
          </a:lstStyle>
          <a:p xmlns:a="http://schemas.openxmlformats.org/drawingml/2006/main">
            <a:pPr>
              <a:defRPr sz="3600" b="1">
                <a:solidFill>
                  <a:srgbClr val="2457FF"/>
                </a:solidFill>
                <a:latin typeface="Cairo"/>
                <a:ea typeface="Cairo"/>
                <a:cs typeface="Cairo"/>
              </a:defRPr>
            </a:pPr>
            <a:r>
              <a:rPr sz="3600" b="1">
                <a:solidFill>
                  <a:srgbClr val="2457FF"/>
                </a:solidFill>
                <a:latin typeface="Cairo"/>
                <a:ea typeface="Cairo"/>
                <a:cs typeface="Cairo"/>
              </a:rPr>
              <a:t>03</a:t>
            </a:r>
          </a:p>
        </p:txBody>
      </p:sp>
      <p:sp>
        <p:nvSpPr>
          <p:cNvPr id="13" name="text-12">
            <a:extLst xmlns:a="http://schemas.openxmlformats.org/drawingml/2006/main">
              <a:ext uri="{FF2B5EF4-FFF2-40B4-BE49-F238E27FC236}">
                <a16:creationId xmlns:a16="http://schemas.microsoft.com/office/drawing/2014/main" id="{7E989733-B540-4ED2-9C9A-C4782BEF1EAC}"/>
              </a:ext>
            </a:extLst>
          </p:cNvPr>
          <p:cNvSpPr>
            <a:spLocks xmlns:a="http://schemas.openxmlformats.org/drawingml/2006/main" noGrp="1"/>
          </p:cNvSpPr>
          <p:nvPr/>
        </p:nvSpPr>
        <p:spPr>
          <a:xfrm xmlns:a="http://schemas.openxmlformats.org/drawingml/2006/main">
            <a:off x="8191500" y="2286000"/>
            <a:ext cx="3381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5181F"/>
                </a:solidFill>
                <a:latin typeface="Cairo"/>
                <a:ea typeface="Cairo"/>
                <a:cs typeface="Cairo"/>
              </a:defRPr>
            </a:defPPr>
          </a:lstStyle>
          <a:p xmlns:a="http://schemas.openxmlformats.org/drawingml/2006/main">
            <a:pPr>
              <a:defRPr sz="2100" b="1">
                <a:solidFill>
                  <a:srgbClr val="15181F"/>
                </a:solidFill>
                <a:latin typeface="Cairo"/>
                <a:ea typeface="Cairo"/>
                <a:cs typeface="Cairo"/>
              </a:defRPr>
            </a:pPr>
            <a:r>
              <a:rPr sz="2100" b="1">
                <a:solidFill>
                  <a:srgbClr val="15181F"/>
                </a:solidFill>
                <a:latin typeface="Cairo"/>
                <a:ea typeface="Cairo"/>
                <a:cs typeface="Cairo"/>
              </a:rPr>
              <a:t>Variant calling</a:t>
            </a:r>
          </a:p>
        </p:txBody>
      </p:sp>
      <p:sp>
        <p:nvSpPr>
          <p:cNvPr id="14" name="text-13">
            <a:extLst xmlns:a="http://schemas.openxmlformats.org/drawingml/2006/main">
              <a:ext uri="{FF2B5EF4-FFF2-40B4-BE49-F238E27FC236}">
                <a16:creationId xmlns:a16="http://schemas.microsoft.com/office/drawing/2014/main" id="{1A2735E8-1D6E-46B3-B6BD-8B5A6CEE326C}"/>
              </a:ext>
            </a:extLst>
          </p:cNvPr>
          <p:cNvSpPr>
            <a:spLocks xmlns:a="http://schemas.openxmlformats.org/drawingml/2006/main" noGrp="1"/>
          </p:cNvSpPr>
          <p:nvPr/>
        </p:nvSpPr>
        <p:spPr>
          <a:xfrm xmlns:a="http://schemas.openxmlformats.org/drawingml/2006/main">
            <a:off x="8191500" y="2724150"/>
            <a:ext cx="3381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687182"/>
                </a:solidFill>
                <a:latin typeface="Cairo"/>
                <a:ea typeface="Cairo"/>
                <a:cs typeface="Cairo"/>
              </a:defRPr>
            </a:defPPr>
          </a:lstStyle>
          <a:p xmlns:a="http://schemas.openxmlformats.org/drawingml/2006/main">
            <a:pPr>
              <a:defRPr sz="1575" b="0">
                <a:solidFill>
                  <a:srgbClr val="687182"/>
                </a:solidFill>
                <a:latin typeface="Cairo"/>
                <a:ea typeface="Cairo"/>
                <a:cs typeface="Cairo"/>
              </a:defRPr>
            </a:pPr>
            <a:r>
              <a:rPr sz="1575" b="0">
                <a:solidFill>
                  <a:srgbClr val="687182"/>
                </a:solidFill>
                <a:latin typeface="Cairo"/>
                <a:ea typeface="Cairo"/>
                <a:cs typeface="Cairo"/>
              </a:rPr>
              <a:t>BCFtools, haploid model</a:t>
            </a:r>
          </a:p>
        </p:txBody>
      </p:sp>
      <p:sp>
        <p:nvSpPr>
          <p:cNvPr id="15" name="text-14">
            <a:extLst xmlns:a="http://schemas.openxmlformats.org/drawingml/2006/main">
              <a:ext uri="{FF2B5EF4-FFF2-40B4-BE49-F238E27FC236}">
                <a16:creationId xmlns:a16="http://schemas.microsoft.com/office/drawing/2014/main" id="{29CC5BFA-6BE1-4191-9617-9C177A401604}"/>
              </a:ext>
            </a:extLst>
          </p:cNvPr>
          <p:cNvSpPr>
            <a:spLocks xmlns:a="http://schemas.openxmlformats.org/drawingml/2006/main" noGrp="1"/>
          </p:cNvSpPr>
          <p:nvPr/>
        </p:nvSpPr>
        <p:spPr>
          <a:xfrm xmlns:a="http://schemas.openxmlformats.org/drawingml/2006/main">
            <a:off x="8191500" y="3143250"/>
            <a:ext cx="3381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2457FF"/>
                </a:solidFill>
                <a:latin typeface="Cairo"/>
                <a:ea typeface="Cairo"/>
                <a:cs typeface="Cairo"/>
              </a:defRPr>
            </a:defPPr>
          </a:lstStyle>
          <a:p xmlns:a="http://schemas.openxmlformats.org/drawingml/2006/main">
            <a:pPr>
              <a:defRPr sz="1350" b="0">
                <a:solidFill>
                  <a:srgbClr val="2457FF"/>
                </a:solidFill>
                <a:latin typeface="Cairo"/>
                <a:ea typeface="Cairo"/>
                <a:cs typeface="Cairo"/>
              </a:defRPr>
            </a:pPr>
            <a:r>
              <a:rPr sz="1350" b="0">
                <a:solidFill>
                  <a:srgbClr val="2457FF"/>
                </a:solidFill>
                <a:latin typeface="Cairo"/>
                <a:ea typeface="Cairo"/>
                <a:cs typeface="Cairo"/>
              </a:rPr>
              <a:t>Raw VCF with DP and AD</a:t>
            </a:r>
          </a:p>
        </p:txBody>
      </p:sp>
      <p:sp>
        <p:nvSpPr>
          <p:cNvPr id="16" name="">
            <a:extLst xmlns:a="http://schemas.openxmlformats.org/drawingml/2006/main">
              <a:ext uri="{FF2B5EF4-FFF2-40B4-BE49-F238E27FC236}">
                <a16:creationId xmlns:a16="http://schemas.microsoft.com/office/drawing/2014/main" id="{85E74B19-F9D0-46FE-8D0B-0ABDDBC7AC3D}"/>
              </a:ext>
            </a:extLst>
          </p:cNvPr>
          <p:cNvSpPr>
            <a:spLocks xmlns:a="http://schemas.openxmlformats.org/drawingml/2006/main" noGrp="1"/>
          </p:cNvSpPr>
          <p:nvPr/>
        </p:nvSpPr>
        <p:spPr>
          <a:xfrm xmlns:a="http://schemas.openxmlformats.org/drawingml/2006/main">
            <a:off x="533400" y="3857625"/>
            <a:ext cx="11125200" cy="11430"/>
          </a:xfrm>
          <a:prstGeom xmlns:a="http://schemas.openxmlformats.org/drawingml/2006/main" prst="rect">
            <a:avLst/>
          </a:prstGeom>
          <a:solidFill xmlns:a="http://schemas.openxmlformats.org/drawingml/2006/main">
            <a:srgbClr val="E6EBF2"/>
          </a:solidFill>
          <a:ln xmlns:a="http://schemas.openxmlformats.org/drawingml/2006/main" w="0">
            <a:noFill/>
            <a:prstDash val="solid"/>
          </a:ln>
        </p:spPr>
      </p:sp>
      <p:sp>
        <p:nvSpPr>
          <p:cNvPr id="17" name="text-16">
            <a:extLst xmlns:a="http://schemas.openxmlformats.org/drawingml/2006/main">
              <a:ext uri="{FF2B5EF4-FFF2-40B4-BE49-F238E27FC236}">
                <a16:creationId xmlns:a16="http://schemas.microsoft.com/office/drawing/2014/main" id="{069E12DB-20B0-4094-8C28-C667BA5EB607}"/>
              </a:ext>
            </a:extLst>
          </p:cNvPr>
          <p:cNvSpPr>
            <a:spLocks xmlns:a="http://schemas.openxmlformats.org/drawingml/2006/main" noGrp="1"/>
          </p:cNvSpPr>
          <p:nvPr/>
        </p:nvSpPr>
        <p:spPr>
          <a:xfrm xmlns:a="http://schemas.openxmlformats.org/drawingml/2006/main">
            <a:off x="533400" y="414337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00" b="1">
                <a:solidFill>
                  <a:srgbClr val="2457FF"/>
                </a:solidFill>
                <a:latin typeface="Cairo"/>
                <a:ea typeface="Cairo"/>
                <a:cs typeface="Cairo"/>
              </a:defRPr>
            </a:defPPr>
          </a:lstStyle>
          <a:p xmlns:a="http://schemas.openxmlformats.org/drawingml/2006/main">
            <a:pPr>
              <a:defRPr sz="3600" b="1">
                <a:solidFill>
                  <a:srgbClr val="2457FF"/>
                </a:solidFill>
                <a:latin typeface="Cairo"/>
                <a:ea typeface="Cairo"/>
                <a:cs typeface="Cairo"/>
              </a:defRPr>
            </a:pPr>
            <a:r>
              <a:rPr sz="3600" b="1">
                <a:solidFill>
                  <a:srgbClr val="2457FF"/>
                </a:solidFill>
                <a:latin typeface="Cairo"/>
                <a:ea typeface="Cairo"/>
                <a:cs typeface="Cairo"/>
              </a:rPr>
              <a:t>04</a:t>
            </a:r>
          </a:p>
        </p:txBody>
      </p:sp>
      <p:sp>
        <p:nvSpPr>
          <p:cNvPr id="18" name="text-17">
            <a:extLst xmlns:a="http://schemas.openxmlformats.org/drawingml/2006/main">
              <a:ext uri="{FF2B5EF4-FFF2-40B4-BE49-F238E27FC236}">
                <a16:creationId xmlns:a16="http://schemas.microsoft.com/office/drawing/2014/main" id="{6995D8A5-E656-4C08-BC46-8C7FE847D221}"/>
              </a:ext>
            </a:extLst>
          </p:cNvPr>
          <p:cNvSpPr>
            <a:spLocks xmlns:a="http://schemas.openxmlformats.org/drawingml/2006/main" noGrp="1"/>
          </p:cNvSpPr>
          <p:nvPr/>
        </p:nvSpPr>
        <p:spPr>
          <a:xfrm xmlns:a="http://schemas.openxmlformats.org/drawingml/2006/main">
            <a:off x="533400" y="473392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5181F"/>
                </a:solidFill>
                <a:latin typeface="Cairo"/>
                <a:ea typeface="Cairo"/>
                <a:cs typeface="Cairo"/>
              </a:defRPr>
            </a:defPPr>
          </a:lstStyle>
          <a:p xmlns:a="http://schemas.openxmlformats.org/drawingml/2006/main">
            <a:pPr>
              <a:defRPr sz="2100" b="1">
                <a:solidFill>
                  <a:srgbClr val="15181F"/>
                </a:solidFill>
                <a:latin typeface="Cairo"/>
                <a:ea typeface="Cairo"/>
                <a:cs typeface="Cairo"/>
              </a:defRPr>
            </a:pPr>
            <a:r>
              <a:rPr sz="2100" b="1">
                <a:solidFill>
                  <a:srgbClr val="15181F"/>
                </a:solidFill>
                <a:latin typeface="Cairo"/>
                <a:ea typeface="Cairo"/>
                <a:cs typeface="Cairo"/>
              </a:rPr>
              <a:t>Filtering</a:t>
            </a:r>
          </a:p>
        </p:txBody>
      </p:sp>
      <p:sp>
        <p:nvSpPr>
          <p:cNvPr id="19" name="text-18">
            <a:extLst xmlns:a="http://schemas.openxmlformats.org/drawingml/2006/main">
              <a:ext uri="{FF2B5EF4-FFF2-40B4-BE49-F238E27FC236}">
                <a16:creationId xmlns:a16="http://schemas.microsoft.com/office/drawing/2014/main" id="{D8C319B2-17A0-4A7D-952B-0A5103AB64F2}"/>
              </a:ext>
            </a:extLst>
          </p:cNvPr>
          <p:cNvSpPr>
            <a:spLocks xmlns:a="http://schemas.openxmlformats.org/drawingml/2006/main" noGrp="1"/>
          </p:cNvSpPr>
          <p:nvPr/>
        </p:nvSpPr>
        <p:spPr>
          <a:xfrm xmlns:a="http://schemas.openxmlformats.org/drawingml/2006/main">
            <a:off x="533400" y="5172075"/>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687182"/>
                </a:solidFill>
                <a:latin typeface="Cairo"/>
                <a:ea typeface="Cairo"/>
                <a:cs typeface="Cairo"/>
              </a:defRPr>
            </a:defPPr>
          </a:lstStyle>
          <a:p xmlns:a="http://schemas.openxmlformats.org/drawingml/2006/main">
            <a:pPr>
              <a:defRPr sz="1575" b="0">
                <a:solidFill>
                  <a:srgbClr val="687182"/>
                </a:solidFill>
                <a:latin typeface="Cairo"/>
                <a:ea typeface="Cairo"/>
                <a:cs typeface="Cairo"/>
              </a:defRPr>
            </a:pPr>
            <a:r>
              <a:rPr sz="1575" b="0">
                <a:solidFill>
                  <a:srgbClr val="687182"/>
                </a:solidFill>
                <a:latin typeface="Cairo"/>
                <a:ea typeface="Cairo"/>
                <a:cs typeface="Cairo"/>
              </a:rPr>
              <a:t>QUAL ≥ 30; sample DP ≥ 5</a:t>
            </a:r>
          </a:p>
        </p:txBody>
      </p:sp>
      <p:sp>
        <p:nvSpPr>
          <p:cNvPr id="20" name="text-19">
            <a:extLst xmlns:a="http://schemas.openxmlformats.org/drawingml/2006/main">
              <a:ext uri="{FF2B5EF4-FFF2-40B4-BE49-F238E27FC236}">
                <a16:creationId xmlns:a16="http://schemas.microsoft.com/office/drawing/2014/main" id="{9AD3F86A-7A11-4CF4-8696-10A5FF6979B5}"/>
              </a:ext>
            </a:extLst>
          </p:cNvPr>
          <p:cNvSpPr>
            <a:spLocks xmlns:a="http://schemas.openxmlformats.org/drawingml/2006/main" noGrp="1"/>
          </p:cNvSpPr>
          <p:nvPr/>
        </p:nvSpPr>
        <p:spPr>
          <a:xfrm xmlns:a="http://schemas.openxmlformats.org/drawingml/2006/main">
            <a:off x="533400" y="5591175"/>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2457FF"/>
                </a:solidFill>
                <a:latin typeface="Cairo"/>
                <a:ea typeface="Cairo"/>
                <a:cs typeface="Cairo"/>
              </a:defRPr>
            </a:defPPr>
          </a:lstStyle>
          <a:p xmlns:a="http://schemas.openxmlformats.org/drawingml/2006/main">
            <a:pPr>
              <a:defRPr sz="1350" b="0">
                <a:solidFill>
                  <a:srgbClr val="2457FF"/>
                </a:solidFill>
                <a:latin typeface="Cairo"/>
                <a:ea typeface="Cairo"/>
                <a:cs typeface="Cairo"/>
              </a:defRPr>
            </a:pPr>
            <a:r>
              <a:rPr sz="1350" b="0">
                <a:solidFill>
                  <a:srgbClr val="2457FF"/>
                </a:solidFill>
                <a:latin typeface="Cairo"/>
                <a:ea typeface="Cairo"/>
                <a:cs typeface="Cairo"/>
              </a:rPr>
              <a:t>Filtered, indexed VCF</a:t>
            </a:r>
          </a:p>
        </p:txBody>
      </p:sp>
      <p:sp>
        <p:nvSpPr>
          <p:cNvPr id="21" name="text-20">
            <a:extLst xmlns:a="http://schemas.openxmlformats.org/drawingml/2006/main">
              <a:ext uri="{FF2B5EF4-FFF2-40B4-BE49-F238E27FC236}">
                <a16:creationId xmlns:a16="http://schemas.microsoft.com/office/drawing/2014/main" id="{73462DED-D653-43F3-B2BE-F0916A34D714}"/>
              </a:ext>
            </a:extLst>
          </p:cNvPr>
          <p:cNvSpPr>
            <a:spLocks xmlns:a="http://schemas.openxmlformats.org/drawingml/2006/main" noGrp="1"/>
          </p:cNvSpPr>
          <p:nvPr/>
        </p:nvSpPr>
        <p:spPr>
          <a:xfrm xmlns:a="http://schemas.openxmlformats.org/drawingml/2006/main">
            <a:off x="4362450" y="414337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00" b="1">
                <a:solidFill>
                  <a:srgbClr val="2457FF"/>
                </a:solidFill>
                <a:latin typeface="Cairo"/>
                <a:ea typeface="Cairo"/>
                <a:cs typeface="Cairo"/>
              </a:defRPr>
            </a:defPPr>
          </a:lstStyle>
          <a:p xmlns:a="http://schemas.openxmlformats.org/drawingml/2006/main">
            <a:pPr>
              <a:defRPr sz="3600" b="1">
                <a:solidFill>
                  <a:srgbClr val="2457FF"/>
                </a:solidFill>
                <a:latin typeface="Cairo"/>
                <a:ea typeface="Cairo"/>
                <a:cs typeface="Cairo"/>
              </a:defRPr>
            </a:pPr>
            <a:r>
              <a:rPr sz="3600" b="1">
                <a:solidFill>
                  <a:srgbClr val="2457FF"/>
                </a:solidFill>
                <a:latin typeface="Cairo"/>
                <a:ea typeface="Cairo"/>
                <a:cs typeface="Cairo"/>
              </a:rPr>
              <a:t>05</a:t>
            </a:r>
          </a:p>
        </p:txBody>
      </p:sp>
      <p:sp>
        <p:nvSpPr>
          <p:cNvPr id="22" name="text-21">
            <a:extLst xmlns:a="http://schemas.openxmlformats.org/drawingml/2006/main">
              <a:ext uri="{FF2B5EF4-FFF2-40B4-BE49-F238E27FC236}">
                <a16:creationId xmlns:a16="http://schemas.microsoft.com/office/drawing/2014/main" id="{C8E99BDF-49B3-48F5-ACE1-2F53CEBE9593}"/>
              </a:ext>
            </a:extLst>
          </p:cNvPr>
          <p:cNvSpPr>
            <a:spLocks xmlns:a="http://schemas.openxmlformats.org/drawingml/2006/main" noGrp="1"/>
          </p:cNvSpPr>
          <p:nvPr/>
        </p:nvSpPr>
        <p:spPr>
          <a:xfrm xmlns:a="http://schemas.openxmlformats.org/drawingml/2006/main">
            <a:off x="4362450" y="473392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5181F"/>
                </a:solidFill>
                <a:latin typeface="Cairo"/>
                <a:ea typeface="Cairo"/>
                <a:cs typeface="Cairo"/>
              </a:defRPr>
            </a:defPPr>
          </a:lstStyle>
          <a:p xmlns:a="http://schemas.openxmlformats.org/drawingml/2006/main">
            <a:pPr>
              <a:defRPr sz="2100" b="1">
                <a:solidFill>
                  <a:srgbClr val="15181F"/>
                </a:solidFill>
                <a:latin typeface="Cairo"/>
                <a:ea typeface="Cairo"/>
                <a:cs typeface="Cairo"/>
              </a:defRPr>
            </a:pPr>
            <a:r>
              <a:rPr sz="2100" b="1">
                <a:solidFill>
                  <a:srgbClr val="15181F"/>
                </a:solidFill>
                <a:latin typeface="Cairo"/>
                <a:ea typeface="Cairo"/>
                <a:cs typeface="Cairo"/>
              </a:rPr>
              <a:t>Comparison</a:t>
            </a:r>
          </a:p>
        </p:txBody>
      </p:sp>
      <p:sp>
        <p:nvSpPr>
          <p:cNvPr id="23" name="text-22">
            <a:extLst xmlns:a="http://schemas.openxmlformats.org/drawingml/2006/main">
              <a:ext uri="{FF2B5EF4-FFF2-40B4-BE49-F238E27FC236}">
                <a16:creationId xmlns:a16="http://schemas.microsoft.com/office/drawing/2014/main" id="{D6B43806-A0CF-49AE-A279-E3A225D2EA4A}"/>
              </a:ext>
            </a:extLst>
          </p:cNvPr>
          <p:cNvSpPr>
            <a:spLocks xmlns:a="http://schemas.openxmlformats.org/drawingml/2006/main" noGrp="1"/>
          </p:cNvSpPr>
          <p:nvPr/>
        </p:nvSpPr>
        <p:spPr>
          <a:xfrm xmlns:a="http://schemas.openxmlformats.org/drawingml/2006/main">
            <a:off x="4362450" y="5172075"/>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687182"/>
                </a:solidFill>
                <a:latin typeface="Cairo"/>
                <a:ea typeface="Cairo"/>
                <a:cs typeface="Cairo"/>
              </a:defRPr>
            </a:defPPr>
          </a:lstStyle>
          <a:p xmlns:a="http://schemas.openxmlformats.org/drawingml/2006/main">
            <a:pPr>
              <a:defRPr sz="1575" b="0">
                <a:solidFill>
                  <a:srgbClr val="687182"/>
                </a:solidFill>
                <a:latin typeface="Cairo"/>
                <a:ea typeface="Cairo"/>
                <a:cs typeface="Cairo"/>
              </a:defRPr>
            </a:pPr>
            <a:r>
              <a:rPr sz="1575" b="0">
                <a:solidFill>
                  <a:srgbClr val="687182"/>
                </a:solidFill>
                <a:latin typeface="Cairo"/>
                <a:ea typeface="Cairo"/>
                <a:cs typeface="Cairo"/>
              </a:rPr>
              <a:t>Normalization + exact alleles</a:t>
            </a:r>
          </a:p>
        </p:txBody>
      </p:sp>
      <p:sp>
        <p:nvSpPr>
          <p:cNvPr id="24" name="text-23">
            <a:extLst xmlns:a="http://schemas.openxmlformats.org/drawingml/2006/main">
              <a:ext uri="{FF2B5EF4-FFF2-40B4-BE49-F238E27FC236}">
                <a16:creationId xmlns:a16="http://schemas.microsoft.com/office/drawing/2014/main" id="{F7C50FA9-7B75-40A6-B2E1-A60FEF1E0699}"/>
              </a:ext>
            </a:extLst>
          </p:cNvPr>
          <p:cNvSpPr>
            <a:spLocks xmlns:a="http://schemas.openxmlformats.org/drawingml/2006/main" noGrp="1"/>
          </p:cNvSpPr>
          <p:nvPr/>
        </p:nvSpPr>
        <p:spPr>
          <a:xfrm xmlns:a="http://schemas.openxmlformats.org/drawingml/2006/main">
            <a:off x="4362450" y="5591175"/>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2457FF"/>
                </a:solidFill>
                <a:latin typeface="Cairo"/>
                <a:ea typeface="Cairo"/>
                <a:cs typeface="Cairo"/>
              </a:defRPr>
            </a:defPPr>
          </a:lstStyle>
          <a:p xmlns:a="http://schemas.openxmlformats.org/drawingml/2006/main">
            <a:pPr>
              <a:defRPr sz="1350" b="0">
                <a:solidFill>
                  <a:srgbClr val="2457FF"/>
                </a:solidFill>
                <a:latin typeface="Cairo"/>
                <a:ea typeface="Cairo"/>
                <a:cs typeface="Cairo"/>
              </a:defRPr>
            </a:pPr>
            <a:r>
              <a:rPr sz="1350" b="0">
                <a:solidFill>
                  <a:srgbClr val="2457FF"/>
                </a:solidFill>
                <a:latin typeface="Cairo"/>
                <a:ea typeface="Cairo"/>
                <a:cs typeface="Cairo"/>
              </a:rPr>
              <a:t>Shared and unique call sets</a:t>
            </a:r>
          </a:p>
        </p:txBody>
      </p:sp>
      <p:sp>
        <p:nvSpPr>
          <p:cNvPr id="25" name="text-24">
            <a:extLst xmlns:a="http://schemas.openxmlformats.org/drawingml/2006/main">
              <a:ext uri="{FF2B5EF4-FFF2-40B4-BE49-F238E27FC236}">
                <a16:creationId xmlns:a16="http://schemas.microsoft.com/office/drawing/2014/main" id="{B2D0E0D4-B96E-430D-AAC1-C29C5D44BF0C}"/>
              </a:ext>
            </a:extLst>
          </p:cNvPr>
          <p:cNvSpPr>
            <a:spLocks xmlns:a="http://schemas.openxmlformats.org/drawingml/2006/main" noGrp="1"/>
          </p:cNvSpPr>
          <p:nvPr/>
        </p:nvSpPr>
        <p:spPr>
          <a:xfrm xmlns:a="http://schemas.openxmlformats.org/drawingml/2006/main">
            <a:off x="8191500" y="414337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00" b="1">
                <a:solidFill>
                  <a:srgbClr val="2457FF"/>
                </a:solidFill>
                <a:latin typeface="Cairo"/>
                <a:ea typeface="Cairo"/>
                <a:cs typeface="Cairo"/>
              </a:defRPr>
            </a:defPPr>
          </a:lstStyle>
          <a:p xmlns:a="http://schemas.openxmlformats.org/drawingml/2006/main">
            <a:pPr>
              <a:defRPr sz="3600" b="1">
                <a:solidFill>
                  <a:srgbClr val="2457FF"/>
                </a:solidFill>
                <a:latin typeface="Cairo"/>
                <a:ea typeface="Cairo"/>
                <a:cs typeface="Cairo"/>
              </a:defRPr>
            </a:pPr>
            <a:r>
              <a:rPr sz="3600" b="1">
                <a:solidFill>
                  <a:srgbClr val="2457FF"/>
                </a:solidFill>
                <a:latin typeface="Cairo"/>
                <a:ea typeface="Cairo"/>
                <a:cs typeface="Cairo"/>
              </a:rPr>
              <a:t>06</a:t>
            </a:r>
          </a:p>
        </p:txBody>
      </p:sp>
      <p:sp>
        <p:nvSpPr>
          <p:cNvPr id="26" name="text-25">
            <a:extLst xmlns:a="http://schemas.openxmlformats.org/drawingml/2006/main">
              <a:ext uri="{FF2B5EF4-FFF2-40B4-BE49-F238E27FC236}">
                <a16:creationId xmlns:a16="http://schemas.microsoft.com/office/drawing/2014/main" id="{E0409063-3C17-4000-A0DC-B13691FEB5FC}"/>
              </a:ext>
            </a:extLst>
          </p:cNvPr>
          <p:cNvSpPr>
            <a:spLocks xmlns:a="http://schemas.openxmlformats.org/drawingml/2006/main" noGrp="1"/>
          </p:cNvSpPr>
          <p:nvPr/>
        </p:nvSpPr>
        <p:spPr>
          <a:xfrm xmlns:a="http://schemas.openxmlformats.org/drawingml/2006/main">
            <a:off x="8191500" y="4733925"/>
            <a:ext cx="3381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5181F"/>
                </a:solidFill>
                <a:latin typeface="Cairo"/>
                <a:ea typeface="Cairo"/>
                <a:cs typeface="Cairo"/>
              </a:defRPr>
            </a:defPPr>
          </a:lstStyle>
          <a:p xmlns:a="http://schemas.openxmlformats.org/drawingml/2006/main">
            <a:pPr>
              <a:defRPr sz="2100" b="1">
                <a:solidFill>
                  <a:srgbClr val="15181F"/>
                </a:solidFill>
                <a:latin typeface="Cairo"/>
                <a:ea typeface="Cairo"/>
                <a:cs typeface="Cairo"/>
              </a:defRPr>
            </a:pPr>
            <a:r>
              <a:rPr sz="2100" b="1">
                <a:solidFill>
                  <a:srgbClr val="15181F"/>
                </a:solidFill>
                <a:latin typeface="Cairo"/>
                <a:ea typeface="Cairo"/>
                <a:cs typeface="Cairo"/>
              </a:rPr>
              <a:t>Interpretation</a:t>
            </a:r>
          </a:p>
        </p:txBody>
      </p:sp>
      <p:sp>
        <p:nvSpPr>
          <p:cNvPr id="27" name="text-26">
            <a:extLst xmlns:a="http://schemas.openxmlformats.org/drawingml/2006/main">
              <a:ext uri="{FF2B5EF4-FFF2-40B4-BE49-F238E27FC236}">
                <a16:creationId xmlns:a16="http://schemas.microsoft.com/office/drawing/2014/main" id="{DE6CA98B-3D15-4C1C-A24B-5ECABDEFCADC}"/>
              </a:ext>
            </a:extLst>
          </p:cNvPr>
          <p:cNvSpPr>
            <a:spLocks xmlns:a="http://schemas.openxmlformats.org/drawingml/2006/main" noGrp="1"/>
          </p:cNvSpPr>
          <p:nvPr/>
        </p:nvSpPr>
        <p:spPr>
          <a:xfrm xmlns:a="http://schemas.openxmlformats.org/drawingml/2006/main">
            <a:off x="8191500" y="5172075"/>
            <a:ext cx="3381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687182"/>
                </a:solidFill>
                <a:latin typeface="Cairo"/>
                <a:ea typeface="Cairo"/>
                <a:cs typeface="Cairo"/>
              </a:defRPr>
            </a:defPPr>
          </a:lstStyle>
          <a:p xmlns:a="http://schemas.openxmlformats.org/drawingml/2006/main">
            <a:pPr>
              <a:defRPr sz="1575" b="0">
                <a:solidFill>
                  <a:srgbClr val="687182"/>
                </a:solidFill>
                <a:latin typeface="Cairo"/>
                <a:ea typeface="Cairo"/>
                <a:cs typeface="Cairo"/>
              </a:defRPr>
            </a:pPr>
            <a:r>
              <a:rPr sz="1575" b="0">
                <a:solidFill>
                  <a:srgbClr val="687182"/>
                </a:solidFill>
                <a:latin typeface="Cairo"/>
                <a:ea typeface="Cairo"/>
                <a:cs typeface="Cairo"/>
              </a:rPr>
              <a:t>IGV + GFF + codon checks</a:t>
            </a:r>
          </a:p>
        </p:txBody>
      </p:sp>
      <p:sp>
        <p:nvSpPr>
          <p:cNvPr id="28" name="text-27">
            <a:extLst xmlns:a="http://schemas.openxmlformats.org/drawingml/2006/main">
              <a:ext uri="{FF2B5EF4-FFF2-40B4-BE49-F238E27FC236}">
                <a16:creationId xmlns:a16="http://schemas.microsoft.com/office/drawing/2014/main" id="{E716B24C-EFE2-48DC-8C0B-47FD4AD56240}"/>
              </a:ext>
            </a:extLst>
          </p:cNvPr>
          <p:cNvSpPr>
            <a:spLocks xmlns:a="http://schemas.openxmlformats.org/drawingml/2006/main" noGrp="1"/>
          </p:cNvSpPr>
          <p:nvPr/>
        </p:nvSpPr>
        <p:spPr>
          <a:xfrm xmlns:a="http://schemas.openxmlformats.org/drawingml/2006/main">
            <a:off x="8191500" y="5591175"/>
            <a:ext cx="3381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2457FF"/>
                </a:solidFill>
                <a:latin typeface="Cairo"/>
                <a:ea typeface="Cairo"/>
                <a:cs typeface="Cairo"/>
              </a:defRPr>
            </a:defPPr>
          </a:lstStyle>
          <a:p xmlns:a="http://schemas.openxmlformats.org/drawingml/2006/main">
            <a:pPr>
              <a:defRPr sz="1350" b="0">
                <a:solidFill>
                  <a:srgbClr val="2457FF"/>
                </a:solidFill>
                <a:latin typeface="Cairo"/>
                <a:ea typeface="Cairo"/>
                <a:cs typeface="Cairo"/>
              </a:defRPr>
            </a:pPr>
            <a:r>
              <a:rPr sz="1350" b="0">
                <a:solidFill>
                  <a:srgbClr val="2457FF"/>
                </a:solidFill>
                <a:latin typeface="Cairo"/>
                <a:ea typeface="Cairo"/>
                <a:cs typeface="Cairo"/>
              </a:rPr>
              <a:t>Read evidence and predictions</a:t>
            </a:r>
          </a:p>
        </p:txBody>
      </p:sp>
    </p:spTree>
    <p:extLst>
      <p:ext uri="{BB962C8B-B14F-4D97-AF65-F5344CB8AC3E}">
        <p14:creationId xmlns:p14="http://schemas.microsoft.com/office/powerpoint/2010/main" val="4640092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411F0363-8EAF-47ED-B1C7-5CC652E6BF1D}"/>
              </a:ext>
            </a:extLst>
          </p:cNvPr>
          <p:cNvSpPr>
            <a:spLocks xmlns:a="http://schemas.openxmlformats.org/drawingml/2006/main" noGrp="1"/>
          </p:cNvSpPr>
          <p:nvPr/>
        </p:nvSpPr>
        <p:spPr>
          <a:xfrm xmlns:a="http://schemas.openxmlformats.org/drawingml/2006/main">
            <a:off x="533400" y="2571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2457FF"/>
                </a:solidFill>
                <a:latin typeface="Cairo"/>
                <a:ea typeface="Cairo"/>
                <a:cs typeface="Cairo"/>
              </a:defRPr>
            </a:defPPr>
          </a:lstStyle>
          <a:p xmlns:a="http://schemas.openxmlformats.org/drawingml/2006/main">
            <a:pPr>
              <a:defRPr sz="1200" b="1">
                <a:solidFill>
                  <a:srgbClr val="2457FF"/>
                </a:solidFill>
                <a:latin typeface="Cairo"/>
                <a:ea typeface="Cairo"/>
                <a:cs typeface="Cairo"/>
              </a:defRPr>
            </a:pPr>
            <a:r>
              <a:rPr sz="1200" b="1">
                <a:solidFill>
                  <a:srgbClr val="2457FF"/>
                </a:solidFill>
                <a:latin typeface="Cairo"/>
                <a:ea typeface="Cairo"/>
                <a:cs typeface="Cairo"/>
              </a:rPr>
              <a:t>QUALITY CONTROL</a:t>
            </a:r>
          </a:p>
        </p:txBody>
      </p:sp>
      <p:sp>
        <p:nvSpPr>
          <p:cNvPr id="2" name="text-1">
            <a:extLst xmlns:a="http://schemas.openxmlformats.org/drawingml/2006/main">
              <a:ext uri="{FF2B5EF4-FFF2-40B4-BE49-F238E27FC236}">
                <a16:creationId xmlns:a16="http://schemas.microsoft.com/office/drawing/2014/main" id="{DDB375DA-A5AA-45B7-9851-8BEA328FA774}"/>
              </a:ext>
            </a:extLst>
          </p:cNvPr>
          <p:cNvSpPr>
            <a:spLocks xmlns:a="http://schemas.openxmlformats.org/drawingml/2006/main" noGrp="1"/>
          </p:cNvSpPr>
          <p:nvPr/>
        </p:nvSpPr>
        <p:spPr>
          <a:xfrm xmlns:a="http://schemas.openxmlformats.org/drawingml/2006/main">
            <a:off x="533400" y="64770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5181F"/>
                </a:solidFill>
                <a:latin typeface="Cairo"/>
                <a:ea typeface="Cairo"/>
                <a:cs typeface="Cairo"/>
              </a:defRPr>
            </a:defPPr>
          </a:lstStyle>
          <a:p xmlns:a="http://schemas.openxmlformats.org/drawingml/2006/main">
            <a:pPr>
              <a:defRPr sz="3150" b="1">
                <a:solidFill>
                  <a:srgbClr val="15181F"/>
                </a:solidFill>
                <a:latin typeface="Cairo"/>
                <a:ea typeface="Cairo"/>
                <a:cs typeface="Cairo"/>
              </a:defRPr>
            </a:pPr>
            <a:r>
              <a:rPr sz="3150" b="1">
                <a:solidFill>
                  <a:srgbClr val="15181F"/>
                </a:solidFill>
                <a:latin typeface="Cairo"/>
                <a:ea typeface="Cairo"/>
                <a:cs typeface="Cairo"/>
              </a:rPr>
              <a:t>Read quality before alignment</a:t>
            </a:r>
          </a:p>
        </p:txBody>
      </p:sp>
      <p:sp>
        <p:nvSpPr>
          <p:cNvPr id="3" name="text-2">
            <a:extLst xmlns:a="http://schemas.openxmlformats.org/drawingml/2006/main">
              <a:ext uri="{FF2B5EF4-FFF2-40B4-BE49-F238E27FC236}">
                <a16:creationId xmlns:a16="http://schemas.microsoft.com/office/drawing/2014/main" id="{CF76AA53-DE7C-40B1-B7CE-65C80A5490ED}"/>
              </a:ext>
            </a:extLst>
          </p:cNvPr>
          <p:cNvSpPr>
            <a:spLocks xmlns:a="http://schemas.openxmlformats.org/drawingml/2006/main" noGrp="1"/>
          </p:cNvSpPr>
          <p:nvPr/>
        </p:nvSpPr>
        <p:spPr>
          <a:xfrm xmlns:a="http://schemas.openxmlformats.org/drawingml/2006/main">
            <a:off x="11144250" y="64103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687182"/>
                </a:solidFill>
                <a:latin typeface="Cairo"/>
                <a:ea typeface="Cairo"/>
                <a:cs typeface="Cairo"/>
              </a:defRPr>
            </a:defPPr>
          </a:lstStyle>
          <a:p xmlns:a="http://schemas.openxmlformats.org/drawingml/2006/main">
            <a:pPr>
              <a:defRPr sz="1125" b="0">
                <a:solidFill>
                  <a:srgbClr val="687182"/>
                </a:solidFill>
                <a:latin typeface="Cairo"/>
                <a:ea typeface="Cairo"/>
                <a:cs typeface="Cairo"/>
              </a:defRPr>
            </a:pPr>
            <a:r>
              <a:rPr sz="1125" b="0">
                <a:solidFill>
                  <a:srgbClr val="687182"/>
                </a:solidFill>
                <a:latin typeface="Cairo"/>
                <a:ea typeface="Cairo"/>
                <a:cs typeface="Cairo"/>
              </a:rPr>
              <a:t>04</a:t>
            </a:r>
          </a:p>
        </p:txBody>
      </p:sp>
      <p:pic>
        <p:nvPicPr>
          <p:cNvPr id="4" name="">
            <a:extLst xmlns:a="http://schemas.openxmlformats.org/drawingml/2006/main">
              <a:ext uri="{FF2B5EF4-FFF2-40B4-BE49-F238E27FC236}">
                <a16:creationId xmlns:a16="http://schemas.microsoft.com/office/drawing/2014/main" id="{C2489F65-9BCF-4828-AB3F-9DFF102B044B}"/>
              </a:ext>
            </a:extLst>
          </p:cNvPr>
          <p:cNvPicPr>
            <a:picLocks xmlns:a="http://schemas.openxmlformats.org/drawingml/2006/main" noChangeAspect="1"/>
          </p:cNvPicPr>
          <p:nvPr/>
        </p:nvPicPr>
        <p:blipFill>
          <a:blip xmlns:r="http://schemas.openxmlformats.org/officeDocument/2006/relationships" xmlns:a="http://schemas.openxmlformats.org/drawingml/2006/main" r:embed="R0f617335b44245f3"/>
          <a:stretch xmlns:a="http://schemas.openxmlformats.org/drawingml/2006/main"/>
        </p:blipFill>
        <p:spPr>
          <a:xfrm xmlns:a="http://schemas.openxmlformats.org/drawingml/2006/main">
            <a:off x="1295400" y="1638300"/>
            <a:ext cx="5334000" cy="400050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79EDA04B-1AD6-4B86-B0BD-D24CBFE35CC4}"/>
              </a:ext>
            </a:extLst>
          </p:cNvPr>
          <p:cNvSpPr>
            <a:spLocks xmlns:a="http://schemas.openxmlformats.org/drawingml/2006/main" noGrp="1"/>
          </p:cNvSpPr>
          <p:nvPr/>
        </p:nvSpPr>
        <p:spPr>
          <a:xfrm xmlns:a="http://schemas.openxmlformats.org/drawingml/2006/main">
            <a:off x="7981950" y="1657350"/>
            <a:ext cx="3667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2457FF"/>
                </a:solidFill>
                <a:latin typeface="Cairo"/>
                <a:ea typeface="Cairo"/>
                <a:cs typeface="Cairo"/>
              </a:defRPr>
            </a:defPPr>
          </a:lstStyle>
          <a:p xmlns:a="http://schemas.openxmlformats.org/drawingml/2006/main">
            <a:pPr>
              <a:defRPr sz="3225" b="1">
                <a:solidFill>
                  <a:srgbClr val="2457FF"/>
                </a:solidFill>
                <a:latin typeface="Cairo"/>
                <a:ea typeface="Cairo"/>
                <a:cs typeface="Cairo"/>
              </a:defRPr>
            </a:pPr>
            <a:r>
              <a:rPr sz="3225" b="1">
                <a:solidFill>
                  <a:srgbClr val="2457FF"/>
                </a:solidFill>
                <a:latin typeface="Cairo"/>
                <a:ea typeface="Cairo"/>
                <a:cs typeface="Cairo"/>
              </a:rPr>
              <a:t>6 input files</a:t>
            </a:r>
          </a:p>
        </p:txBody>
      </p:sp>
      <p:sp>
        <p:nvSpPr>
          <p:cNvPr id="6" name="text-4">
            <a:extLst xmlns:a="http://schemas.openxmlformats.org/drawingml/2006/main">
              <a:ext uri="{FF2B5EF4-FFF2-40B4-BE49-F238E27FC236}">
                <a16:creationId xmlns:a16="http://schemas.microsoft.com/office/drawing/2014/main" id="{938F362A-914A-42F9-ADA6-71E7C0DE2B20}"/>
              </a:ext>
            </a:extLst>
          </p:cNvPr>
          <p:cNvSpPr>
            <a:spLocks xmlns:a="http://schemas.openxmlformats.org/drawingml/2006/main" noGrp="1"/>
          </p:cNvSpPr>
          <p:nvPr/>
        </p:nvSpPr>
        <p:spPr>
          <a:xfrm xmlns:a="http://schemas.openxmlformats.org/drawingml/2006/main">
            <a:off x="7981950" y="2600325"/>
            <a:ext cx="3667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5181F"/>
                </a:solidFill>
                <a:latin typeface="Cairo"/>
                <a:ea typeface="Cairo"/>
                <a:cs typeface="Cairo"/>
              </a:defRPr>
            </a:defPPr>
          </a:lstStyle>
          <a:p xmlns:a="http://schemas.openxmlformats.org/drawingml/2006/main">
            <a:pPr>
              <a:defRPr sz="2025" b="1">
                <a:solidFill>
                  <a:srgbClr val="15181F"/>
                </a:solidFill>
                <a:latin typeface="Cairo"/>
                <a:ea typeface="Cairo"/>
                <a:cs typeface="Cairo"/>
              </a:defRPr>
            </a:pPr>
            <a:r>
              <a:rPr sz="2025" b="1">
                <a:solidFill>
                  <a:srgbClr val="15181F"/>
                </a:solidFill>
                <a:latin typeface="Cairo"/>
                <a:ea typeface="Cairo"/>
                <a:cs typeface="Cairo"/>
              </a:rPr>
              <a:t>PASS</a:t>
            </a:r>
          </a:p>
        </p:txBody>
      </p:sp>
      <p:sp>
        <p:nvSpPr>
          <p:cNvPr id="7" name="text-5">
            <a:extLst xmlns:a="http://schemas.openxmlformats.org/drawingml/2006/main">
              <a:ext uri="{FF2B5EF4-FFF2-40B4-BE49-F238E27FC236}">
                <a16:creationId xmlns:a16="http://schemas.microsoft.com/office/drawing/2014/main" id="{F080C654-AEC5-42AC-BCA6-54DECC795771}"/>
              </a:ext>
            </a:extLst>
          </p:cNvPr>
          <p:cNvSpPr>
            <a:spLocks xmlns:a="http://schemas.openxmlformats.org/drawingml/2006/main" noGrp="1"/>
          </p:cNvSpPr>
          <p:nvPr/>
        </p:nvSpPr>
        <p:spPr>
          <a:xfrm xmlns:a="http://schemas.openxmlformats.org/drawingml/2006/main">
            <a:off x="7981950" y="3076575"/>
            <a:ext cx="36671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687182"/>
                </a:solidFill>
                <a:latin typeface="Cairo"/>
                <a:ea typeface="Cairo"/>
                <a:cs typeface="Cairo"/>
              </a:defRPr>
            </a:defPPr>
          </a:lstStyle>
          <a:p xmlns:a="http://schemas.openxmlformats.org/drawingml/2006/main">
            <a:pPr>
              <a:defRPr sz="2100" b="0">
                <a:solidFill>
                  <a:srgbClr val="687182"/>
                </a:solidFill>
                <a:latin typeface="Cairo"/>
                <a:ea typeface="Cairo"/>
                <a:cs typeface="Cairo"/>
              </a:defRPr>
            </a:pPr>
            <a:r>
              <a:rPr sz="2100" b="0">
                <a:solidFill>
                  <a:srgbClr val="687182"/>
                </a:solidFill>
                <a:latin typeface="Cairo"/>
                <a:ea typeface="Cairo"/>
                <a:cs typeface="Cairo"/>
              </a:rPr>
              <a:t>Base quality</a:t>
            </a:r>
          </a:p>
          <a:p xmlns:a="http://schemas.openxmlformats.org/drawingml/2006/main">
            <a:pPr>
              <a:defRPr sz="2100" b="0">
                <a:solidFill>
                  <a:srgbClr val="687182"/>
                </a:solidFill>
                <a:latin typeface="Cairo"/>
                <a:ea typeface="Cairo"/>
                <a:cs typeface="Cairo"/>
              </a:defRPr>
            </a:pPr>
            <a:r>
              <a:rPr sz="2100" b="0">
                <a:solidFill>
                  <a:srgbClr val="687182"/>
                </a:solidFill>
                <a:latin typeface="Cairo"/>
                <a:ea typeface="Cairo"/>
                <a:cs typeface="Cairo"/>
              </a:rPr>
              <a:t>Adapter content</a:t>
            </a:r>
          </a:p>
        </p:txBody>
      </p:sp>
      <p:sp>
        <p:nvSpPr>
          <p:cNvPr id="8" name="">
            <a:extLst xmlns:a="http://schemas.openxmlformats.org/drawingml/2006/main">
              <a:ext uri="{FF2B5EF4-FFF2-40B4-BE49-F238E27FC236}">
                <a16:creationId xmlns:a16="http://schemas.microsoft.com/office/drawing/2014/main" id="{B9E708A4-C1B3-4851-8AB3-3F2276F5099D}"/>
              </a:ext>
            </a:extLst>
          </p:cNvPr>
          <p:cNvSpPr>
            <a:spLocks xmlns:a="http://schemas.openxmlformats.org/drawingml/2006/main" noGrp="1"/>
          </p:cNvSpPr>
          <p:nvPr/>
        </p:nvSpPr>
        <p:spPr>
          <a:xfrm xmlns:a="http://schemas.openxmlformats.org/drawingml/2006/main">
            <a:off x="7981950" y="4038600"/>
            <a:ext cx="3667125" cy="11430"/>
          </a:xfrm>
          <a:prstGeom xmlns:a="http://schemas.openxmlformats.org/drawingml/2006/main" prst="rect">
            <a:avLst/>
          </a:prstGeom>
          <a:solidFill xmlns:a="http://schemas.openxmlformats.org/drawingml/2006/main">
            <a:srgbClr val="E6EBF2"/>
          </a:solidFill>
          <a:ln xmlns:a="http://schemas.openxmlformats.org/drawingml/2006/main" w="0">
            <a:noFill/>
            <a:prstDash val="solid"/>
          </a:ln>
        </p:spPr>
      </p:sp>
      <p:sp>
        <p:nvSpPr>
          <p:cNvPr id="9" name="text-7">
            <a:extLst xmlns:a="http://schemas.openxmlformats.org/drawingml/2006/main">
              <a:ext uri="{FF2B5EF4-FFF2-40B4-BE49-F238E27FC236}">
                <a16:creationId xmlns:a16="http://schemas.microsoft.com/office/drawing/2014/main" id="{D332FA59-58A5-4C3B-B458-F31FA255969E}"/>
              </a:ext>
            </a:extLst>
          </p:cNvPr>
          <p:cNvSpPr>
            <a:spLocks xmlns:a="http://schemas.openxmlformats.org/drawingml/2006/main" noGrp="1"/>
          </p:cNvSpPr>
          <p:nvPr/>
        </p:nvSpPr>
        <p:spPr>
          <a:xfrm xmlns:a="http://schemas.openxmlformats.org/drawingml/2006/main">
            <a:off x="7981950" y="4276725"/>
            <a:ext cx="3667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5181F"/>
                </a:solidFill>
                <a:latin typeface="Cairo"/>
                <a:ea typeface="Cairo"/>
                <a:cs typeface="Cairo"/>
              </a:defRPr>
            </a:defPPr>
          </a:lstStyle>
          <a:p xmlns:a="http://schemas.openxmlformats.org/drawingml/2006/main">
            <a:pPr>
              <a:defRPr sz="1950" b="1">
                <a:solidFill>
                  <a:srgbClr val="15181F"/>
                </a:solidFill>
                <a:latin typeface="Cairo"/>
                <a:ea typeface="Cairo"/>
                <a:cs typeface="Cairo"/>
              </a:defRPr>
            </a:pPr>
            <a:r>
              <a:rPr sz="1950" b="1">
                <a:solidFill>
                  <a:srgbClr val="15181F"/>
                </a:solidFill>
                <a:latin typeface="Cairo"/>
                <a:ea typeface="Cairo"/>
                <a:cs typeface="Cairo"/>
              </a:rPr>
              <a:t>WARN</a:t>
            </a:r>
          </a:p>
        </p:txBody>
      </p:sp>
      <p:sp>
        <p:nvSpPr>
          <p:cNvPr id="10" name="text-8">
            <a:extLst xmlns:a="http://schemas.openxmlformats.org/drawingml/2006/main">
              <a:ext uri="{FF2B5EF4-FFF2-40B4-BE49-F238E27FC236}">
                <a16:creationId xmlns:a16="http://schemas.microsoft.com/office/drawing/2014/main" id="{8268B22B-1692-474B-9D39-C9D02211EA82}"/>
              </a:ext>
            </a:extLst>
          </p:cNvPr>
          <p:cNvSpPr>
            <a:spLocks xmlns:a="http://schemas.openxmlformats.org/drawingml/2006/main" noGrp="1"/>
          </p:cNvSpPr>
          <p:nvPr/>
        </p:nvSpPr>
        <p:spPr>
          <a:xfrm xmlns:a="http://schemas.openxmlformats.org/drawingml/2006/main">
            <a:off x="7981950" y="4752975"/>
            <a:ext cx="36671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687182"/>
                </a:solidFill>
                <a:latin typeface="Cairo"/>
                <a:ea typeface="Cairo"/>
                <a:cs typeface="Cairo"/>
              </a:defRPr>
            </a:defPPr>
          </a:lstStyle>
          <a:p xmlns:a="http://schemas.openxmlformats.org/drawingml/2006/main">
            <a:pPr>
              <a:defRPr sz="2025" b="0">
                <a:solidFill>
                  <a:srgbClr val="687182"/>
                </a:solidFill>
                <a:latin typeface="Cairo"/>
                <a:ea typeface="Cairo"/>
                <a:cs typeface="Cairo"/>
              </a:defRPr>
            </a:pPr>
            <a:r>
              <a:rPr sz="2025" b="0">
                <a:solidFill>
                  <a:srgbClr val="687182"/>
                </a:solidFill>
                <a:latin typeface="Cairo"/>
                <a:ea typeface="Cairo"/>
                <a:cs typeface="Cairo"/>
              </a:rPr>
              <a:t>GC content</a:t>
            </a:r>
          </a:p>
          <a:p xmlns:a="http://schemas.openxmlformats.org/drawingml/2006/main">
            <a:pPr>
              <a:defRPr sz="2025" b="0">
                <a:solidFill>
                  <a:srgbClr val="687182"/>
                </a:solidFill>
                <a:latin typeface="Cairo"/>
                <a:ea typeface="Cairo"/>
                <a:cs typeface="Cairo"/>
              </a:defRPr>
            </a:pPr>
            <a:r>
              <a:rPr sz="2025" b="0">
                <a:solidFill>
                  <a:srgbClr val="687182"/>
                </a:solidFill>
                <a:latin typeface="Cairo"/>
                <a:ea typeface="Cairo"/>
                <a:cs typeface="Cairo"/>
              </a:rPr>
              <a:t>Read length distribution</a:t>
            </a:r>
          </a:p>
        </p:txBody>
      </p:sp>
      <p:sp>
        <p:nvSpPr>
          <p:cNvPr id="11" name="text-9">
            <a:extLst xmlns:a="http://schemas.openxmlformats.org/drawingml/2006/main">
              <a:ext uri="{FF2B5EF4-FFF2-40B4-BE49-F238E27FC236}">
                <a16:creationId xmlns:a16="http://schemas.microsoft.com/office/drawing/2014/main" id="{C0346F0D-8F58-458D-8812-E4235B040284}"/>
              </a:ext>
            </a:extLst>
          </p:cNvPr>
          <p:cNvSpPr>
            <a:spLocks xmlns:a="http://schemas.openxmlformats.org/drawingml/2006/main" noGrp="1"/>
          </p:cNvSpPr>
          <p:nvPr/>
        </p:nvSpPr>
        <p:spPr>
          <a:xfrm xmlns:a="http://schemas.openxmlformats.org/drawingml/2006/main">
            <a:off x="533400" y="6038850"/>
            <a:ext cx="1112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687182"/>
                </a:solidFill>
                <a:latin typeface="Cairo"/>
                <a:ea typeface="Cairo"/>
                <a:cs typeface="Cairo"/>
              </a:defRPr>
            </a:defPPr>
          </a:lstStyle>
          <a:p xmlns:a="http://schemas.openxmlformats.org/drawingml/2006/main">
            <a:pPr>
              <a:defRPr sz="1275" b="0">
                <a:solidFill>
                  <a:srgbClr val="687182"/>
                </a:solidFill>
                <a:latin typeface="Cairo"/>
                <a:ea typeface="Cairo"/>
                <a:cs typeface="Cairo"/>
              </a:defRPr>
            </a:pPr>
            <a:r>
              <a:rPr sz="1275" b="0">
                <a:solidFill>
                  <a:srgbClr val="687182"/>
                </a:solidFill>
                <a:latin typeface="Cairo"/>
                <a:ea typeface="Cairo"/>
                <a:cs typeface="Cairo"/>
              </a:rPr>
              <a:t>FastQC example: SRR2584863 R2. Composition flags remain documented in the report.</a:t>
            </a:r>
          </a:p>
        </p:txBody>
      </p:sp>
    </p:spTree>
    <p:extLst>
      <p:ext uri="{BB962C8B-B14F-4D97-AF65-F5344CB8AC3E}">
        <p14:creationId xmlns:p14="http://schemas.microsoft.com/office/powerpoint/2010/main" val="17137615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FE2A70FA-2605-4900-B0D6-2265BF4075B7}"/>
              </a:ext>
            </a:extLst>
          </p:cNvPr>
          <p:cNvSpPr>
            <a:spLocks xmlns:a="http://schemas.openxmlformats.org/drawingml/2006/main" noGrp="1"/>
          </p:cNvSpPr>
          <p:nvPr/>
        </p:nvSpPr>
        <p:spPr>
          <a:xfrm xmlns:a="http://schemas.openxmlformats.org/drawingml/2006/main">
            <a:off x="533400" y="2571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2457FF"/>
                </a:solidFill>
                <a:latin typeface="Cairo"/>
                <a:ea typeface="Cairo"/>
                <a:cs typeface="Cairo"/>
              </a:defRPr>
            </a:defPPr>
          </a:lstStyle>
          <a:p xmlns:a="http://schemas.openxmlformats.org/drawingml/2006/main">
            <a:pPr>
              <a:defRPr sz="1200" b="1">
                <a:solidFill>
                  <a:srgbClr val="2457FF"/>
                </a:solidFill>
                <a:latin typeface="Cairo"/>
                <a:ea typeface="Cairo"/>
                <a:cs typeface="Cairo"/>
              </a:defRPr>
            </a:pPr>
            <a:r>
              <a:rPr sz="1200" b="1">
                <a:solidFill>
                  <a:srgbClr val="2457FF"/>
                </a:solidFill>
                <a:latin typeface="Cairo"/>
                <a:ea typeface="Cairo"/>
                <a:cs typeface="Cairo"/>
              </a:rPr>
              <a:t>ALIGNMENT</a:t>
            </a:r>
          </a:p>
        </p:txBody>
      </p:sp>
      <p:sp>
        <p:nvSpPr>
          <p:cNvPr id="2" name="text-1">
            <a:extLst xmlns:a="http://schemas.openxmlformats.org/drawingml/2006/main">
              <a:ext uri="{FF2B5EF4-FFF2-40B4-BE49-F238E27FC236}">
                <a16:creationId xmlns:a16="http://schemas.microsoft.com/office/drawing/2014/main" id="{BAA61DCD-6412-4A31-82F6-A5B7DF150FA2}"/>
              </a:ext>
            </a:extLst>
          </p:cNvPr>
          <p:cNvSpPr>
            <a:spLocks xmlns:a="http://schemas.openxmlformats.org/drawingml/2006/main" noGrp="1"/>
          </p:cNvSpPr>
          <p:nvPr/>
        </p:nvSpPr>
        <p:spPr>
          <a:xfrm xmlns:a="http://schemas.openxmlformats.org/drawingml/2006/main">
            <a:off x="533400" y="64770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5181F"/>
                </a:solidFill>
                <a:latin typeface="Cairo"/>
                <a:ea typeface="Cairo"/>
                <a:cs typeface="Cairo"/>
              </a:defRPr>
            </a:defPPr>
          </a:lstStyle>
          <a:p xmlns:a="http://schemas.openxmlformats.org/drawingml/2006/main">
            <a:pPr>
              <a:defRPr sz="3150" b="1">
                <a:solidFill>
                  <a:srgbClr val="15181F"/>
                </a:solidFill>
                <a:latin typeface="Cairo"/>
                <a:ea typeface="Cairo"/>
                <a:cs typeface="Cairo"/>
              </a:defRPr>
            </a:pPr>
            <a:r>
              <a:rPr sz="3150" b="1">
                <a:solidFill>
                  <a:srgbClr val="15181F"/>
                </a:solidFill>
                <a:latin typeface="Cairo"/>
                <a:ea typeface="Cairo"/>
                <a:cs typeface="Cairo"/>
              </a:rPr>
              <a:t>BAM preparation preserves the read evidence</a:t>
            </a:r>
          </a:p>
        </p:txBody>
      </p:sp>
      <p:sp>
        <p:nvSpPr>
          <p:cNvPr id="3" name="text-2">
            <a:extLst xmlns:a="http://schemas.openxmlformats.org/drawingml/2006/main">
              <a:ext uri="{FF2B5EF4-FFF2-40B4-BE49-F238E27FC236}">
                <a16:creationId xmlns:a16="http://schemas.microsoft.com/office/drawing/2014/main" id="{B21D2F1B-BB1C-4E3E-ACE2-F36CB312D405}"/>
              </a:ext>
            </a:extLst>
          </p:cNvPr>
          <p:cNvSpPr>
            <a:spLocks xmlns:a="http://schemas.openxmlformats.org/drawingml/2006/main" noGrp="1"/>
          </p:cNvSpPr>
          <p:nvPr/>
        </p:nvSpPr>
        <p:spPr>
          <a:xfrm xmlns:a="http://schemas.openxmlformats.org/drawingml/2006/main">
            <a:off x="11144250" y="64103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687182"/>
                </a:solidFill>
                <a:latin typeface="Cairo"/>
                <a:ea typeface="Cairo"/>
                <a:cs typeface="Cairo"/>
              </a:defRPr>
            </a:defPPr>
          </a:lstStyle>
          <a:p xmlns:a="http://schemas.openxmlformats.org/drawingml/2006/main">
            <a:pPr>
              <a:defRPr sz="1125" b="0">
                <a:solidFill>
                  <a:srgbClr val="687182"/>
                </a:solidFill>
                <a:latin typeface="Cairo"/>
                <a:ea typeface="Cairo"/>
                <a:cs typeface="Cairo"/>
              </a:defRPr>
            </a:pPr>
            <a:r>
              <a:rPr sz="1125" b="0">
                <a:solidFill>
                  <a:srgbClr val="687182"/>
                </a:solidFill>
                <a:latin typeface="Cairo"/>
                <a:ea typeface="Cairo"/>
                <a:cs typeface="Cairo"/>
              </a:rPr>
              <a:t>05</a:t>
            </a:r>
          </a:p>
        </p:txBody>
      </p:sp>
      <p:sp>
        <p:nvSpPr>
          <p:cNvPr id="4" name="text-3">
            <a:extLst xmlns:a="http://schemas.openxmlformats.org/drawingml/2006/main">
              <a:ext uri="{FF2B5EF4-FFF2-40B4-BE49-F238E27FC236}">
                <a16:creationId xmlns:a16="http://schemas.microsoft.com/office/drawing/2014/main" id="{F2296D43-F522-4C97-9260-8F91619C54C4}"/>
              </a:ext>
            </a:extLst>
          </p:cNvPr>
          <p:cNvSpPr>
            <a:spLocks xmlns:a="http://schemas.openxmlformats.org/drawingml/2006/main" noGrp="1"/>
          </p:cNvSpPr>
          <p:nvPr/>
        </p:nvSpPr>
        <p:spPr>
          <a:xfrm xmlns:a="http://schemas.openxmlformats.org/drawingml/2006/main">
            <a:off x="533400" y="180975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00" b="1">
                <a:solidFill>
                  <a:srgbClr val="2457FF"/>
                </a:solidFill>
                <a:latin typeface="Cairo"/>
                <a:ea typeface="Cairo"/>
                <a:cs typeface="Cairo"/>
              </a:defRPr>
            </a:defPPr>
          </a:lstStyle>
          <a:p xmlns:a="http://schemas.openxmlformats.org/drawingml/2006/main">
            <a:pPr>
              <a:defRPr sz="3600" b="1">
                <a:solidFill>
                  <a:srgbClr val="2457FF"/>
                </a:solidFill>
                <a:latin typeface="Cairo"/>
                <a:ea typeface="Cairo"/>
                <a:cs typeface="Cairo"/>
              </a:defRPr>
            </a:pPr>
            <a:r>
              <a:rPr sz="3600" b="1">
                <a:solidFill>
                  <a:srgbClr val="2457FF"/>
                </a:solidFill>
                <a:latin typeface="Cairo"/>
                <a:ea typeface="Cairo"/>
                <a:cs typeface="Cairo"/>
              </a:rPr>
              <a:t>01</a:t>
            </a:r>
          </a:p>
        </p:txBody>
      </p:sp>
      <p:sp>
        <p:nvSpPr>
          <p:cNvPr id="5" name="text-4">
            <a:extLst xmlns:a="http://schemas.openxmlformats.org/drawingml/2006/main">
              <a:ext uri="{FF2B5EF4-FFF2-40B4-BE49-F238E27FC236}">
                <a16:creationId xmlns:a16="http://schemas.microsoft.com/office/drawing/2014/main" id="{E91B1D7E-6905-4607-A1BA-DC16C21993C2}"/>
              </a:ext>
            </a:extLst>
          </p:cNvPr>
          <p:cNvSpPr>
            <a:spLocks xmlns:a="http://schemas.openxmlformats.org/drawingml/2006/main" noGrp="1"/>
          </p:cNvSpPr>
          <p:nvPr/>
        </p:nvSpPr>
        <p:spPr>
          <a:xfrm xmlns:a="http://schemas.openxmlformats.org/drawingml/2006/main">
            <a:off x="533400" y="242887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5181F"/>
                </a:solidFill>
                <a:latin typeface="Cairo"/>
                <a:ea typeface="Cairo"/>
                <a:cs typeface="Cairo"/>
              </a:defRPr>
            </a:defPPr>
          </a:lstStyle>
          <a:p xmlns:a="http://schemas.openxmlformats.org/drawingml/2006/main">
            <a:pPr>
              <a:defRPr sz="2175" b="1">
                <a:solidFill>
                  <a:srgbClr val="15181F"/>
                </a:solidFill>
                <a:latin typeface="Cairo"/>
                <a:ea typeface="Cairo"/>
                <a:cs typeface="Cairo"/>
              </a:defRPr>
            </a:pPr>
            <a:r>
              <a:rPr sz="2175" b="1">
                <a:solidFill>
                  <a:srgbClr val="15181F"/>
                </a:solidFill>
                <a:latin typeface="Cairo"/>
                <a:ea typeface="Cairo"/>
                <a:cs typeface="Cairo"/>
              </a:rPr>
              <a:t>Align</a:t>
            </a:r>
          </a:p>
        </p:txBody>
      </p:sp>
      <p:sp>
        <p:nvSpPr>
          <p:cNvPr id="6" name="text-5">
            <a:extLst xmlns:a="http://schemas.openxmlformats.org/drawingml/2006/main">
              <a:ext uri="{FF2B5EF4-FFF2-40B4-BE49-F238E27FC236}">
                <a16:creationId xmlns:a16="http://schemas.microsoft.com/office/drawing/2014/main" id="{1DEDA0A1-51AB-4DE7-BBFC-0BAE10BAC19F}"/>
              </a:ext>
            </a:extLst>
          </p:cNvPr>
          <p:cNvSpPr>
            <a:spLocks xmlns:a="http://schemas.openxmlformats.org/drawingml/2006/main" noGrp="1"/>
          </p:cNvSpPr>
          <p:nvPr/>
        </p:nvSpPr>
        <p:spPr>
          <a:xfrm xmlns:a="http://schemas.openxmlformats.org/drawingml/2006/main">
            <a:off x="533400" y="29337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687182"/>
                </a:solidFill>
                <a:latin typeface="Cairo"/>
                <a:ea typeface="Cairo"/>
                <a:cs typeface="Cairo"/>
              </a:defRPr>
            </a:defPPr>
          </a:lstStyle>
          <a:p xmlns:a="http://schemas.openxmlformats.org/drawingml/2006/main">
            <a:pPr>
              <a:defRPr sz="1725" b="0">
                <a:solidFill>
                  <a:srgbClr val="687182"/>
                </a:solidFill>
                <a:latin typeface="Cairo"/>
                <a:ea typeface="Cairo"/>
                <a:cs typeface="Cairo"/>
              </a:defRPr>
            </a:pPr>
            <a:r>
              <a:rPr sz="1725" b="0">
                <a:solidFill>
                  <a:srgbClr val="687182"/>
                </a:solidFill>
                <a:latin typeface="Cairo"/>
                <a:ea typeface="Cairo"/>
                <a:cs typeface="Cairo"/>
              </a:rPr>
              <a:t>bwa mem</a:t>
            </a:r>
          </a:p>
        </p:txBody>
      </p:sp>
      <p:sp>
        <p:nvSpPr>
          <p:cNvPr id="7" name="text-6">
            <a:extLst xmlns:a="http://schemas.openxmlformats.org/drawingml/2006/main">
              <a:ext uri="{FF2B5EF4-FFF2-40B4-BE49-F238E27FC236}">
                <a16:creationId xmlns:a16="http://schemas.microsoft.com/office/drawing/2014/main" id="{359C47AB-32A2-4F82-90B9-C8D367CEADD5}"/>
              </a:ext>
            </a:extLst>
          </p:cNvPr>
          <p:cNvSpPr>
            <a:spLocks xmlns:a="http://schemas.openxmlformats.org/drawingml/2006/main" noGrp="1"/>
          </p:cNvSpPr>
          <p:nvPr/>
        </p:nvSpPr>
        <p:spPr>
          <a:xfrm xmlns:a="http://schemas.openxmlformats.org/drawingml/2006/main">
            <a:off x="4362450" y="180975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00" b="1">
                <a:solidFill>
                  <a:srgbClr val="2457FF"/>
                </a:solidFill>
                <a:latin typeface="Cairo"/>
                <a:ea typeface="Cairo"/>
                <a:cs typeface="Cairo"/>
              </a:defRPr>
            </a:defPPr>
          </a:lstStyle>
          <a:p xmlns:a="http://schemas.openxmlformats.org/drawingml/2006/main">
            <a:pPr>
              <a:defRPr sz="3600" b="1">
                <a:solidFill>
                  <a:srgbClr val="2457FF"/>
                </a:solidFill>
                <a:latin typeface="Cairo"/>
                <a:ea typeface="Cairo"/>
                <a:cs typeface="Cairo"/>
              </a:defRPr>
            </a:pPr>
            <a:r>
              <a:rPr sz="3600" b="1">
                <a:solidFill>
                  <a:srgbClr val="2457FF"/>
                </a:solidFill>
                <a:latin typeface="Cairo"/>
                <a:ea typeface="Cairo"/>
                <a:cs typeface="Cairo"/>
              </a:rPr>
              <a:t>02</a:t>
            </a:r>
          </a:p>
        </p:txBody>
      </p:sp>
      <p:sp>
        <p:nvSpPr>
          <p:cNvPr id="8" name="text-7">
            <a:extLst xmlns:a="http://schemas.openxmlformats.org/drawingml/2006/main">
              <a:ext uri="{FF2B5EF4-FFF2-40B4-BE49-F238E27FC236}">
                <a16:creationId xmlns:a16="http://schemas.microsoft.com/office/drawing/2014/main" id="{47E0C00B-E5F9-489B-AD95-C6AC64C87B3E}"/>
              </a:ext>
            </a:extLst>
          </p:cNvPr>
          <p:cNvSpPr>
            <a:spLocks xmlns:a="http://schemas.openxmlformats.org/drawingml/2006/main" noGrp="1"/>
          </p:cNvSpPr>
          <p:nvPr/>
        </p:nvSpPr>
        <p:spPr>
          <a:xfrm xmlns:a="http://schemas.openxmlformats.org/drawingml/2006/main">
            <a:off x="4362450" y="242887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5181F"/>
                </a:solidFill>
                <a:latin typeface="Cairo"/>
                <a:ea typeface="Cairo"/>
                <a:cs typeface="Cairo"/>
              </a:defRPr>
            </a:defPPr>
          </a:lstStyle>
          <a:p xmlns:a="http://schemas.openxmlformats.org/drawingml/2006/main">
            <a:pPr>
              <a:defRPr sz="2175" b="1">
                <a:solidFill>
                  <a:srgbClr val="15181F"/>
                </a:solidFill>
                <a:latin typeface="Cairo"/>
                <a:ea typeface="Cairo"/>
                <a:cs typeface="Cairo"/>
              </a:defRPr>
            </a:pPr>
            <a:r>
              <a:rPr sz="2175" b="1">
                <a:solidFill>
                  <a:srgbClr val="15181F"/>
                </a:solidFill>
                <a:latin typeface="Cairo"/>
                <a:ea typeface="Cairo"/>
                <a:cs typeface="Cairo"/>
              </a:rPr>
              <a:t>Convert</a:t>
            </a:r>
          </a:p>
        </p:txBody>
      </p:sp>
      <p:sp>
        <p:nvSpPr>
          <p:cNvPr id="9" name="text-8">
            <a:extLst xmlns:a="http://schemas.openxmlformats.org/drawingml/2006/main">
              <a:ext uri="{FF2B5EF4-FFF2-40B4-BE49-F238E27FC236}">
                <a16:creationId xmlns:a16="http://schemas.microsoft.com/office/drawing/2014/main" id="{C8C600AB-2219-4F37-BDD0-CED08FF2EC38}"/>
              </a:ext>
            </a:extLst>
          </p:cNvPr>
          <p:cNvSpPr>
            <a:spLocks xmlns:a="http://schemas.openxmlformats.org/drawingml/2006/main" noGrp="1"/>
          </p:cNvSpPr>
          <p:nvPr/>
        </p:nvSpPr>
        <p:spPr>
          <a:xfrm xmlns:a="http://schemas.openxmlformats.org/drawingml/2006/main">
            <a:off x="4362450" y="29337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687182"/>
                </a:solidFill>
                <a:latin typeface="Cairo"/>
                <a:ea typeface="Cairo"/>
                <a:cs typeface="Cairo"/>
              </a:defRPr>
            </a:defPPr>
          </a:lstStyle>
          <a:p xmlns:a="http://schemas.openxmlformats.org/drawingml/2006/main">
            <a:pPr>
              <a:defRPr sz="1725" b="0">
                <a:solidFill>
                  <a:srgbClr val="687182"/>
                </a:solidFill>
                <a:latin typeface="Cairo"/>
                <a:ea typeface="Cairo"/>
                <a:cs typeface="Cairo"/>
              </a:defRPr>
            </a:pPr>
            <a:r>
              <a:rPr sz="1725" b="0">
                <a:solidFill>
                  <a:srgbClr val="687182"/>
                </a:solidFill>
                <a:latin typeface="Cairo"/>
                <a:ea typeface="Cairo"/>
                <a:cs typeface="Cairo"/>
              </a:rPr>
              <a:t>samtools view</a:t>
            </a:r>
          </a:p>
        </p:txBody>
      </p:sp>
      <p:sp>
        <p:nvSpPr>
          <p:cNvPr id="10" name="text-9">
            <a:extLst xmlns:a="http://schemas.openxmlformats.org/drawingml/2006/main">
              <a:ext uri="{FF2B5EF4-FFF2-40B4-BE49-F238E27FC236}">
                <a16:creationId xmlns:a16="http://schemas.microsoft.com/office/drawing/2014/main" id="{EB38A440-CB34-4E64-91F0-06E814CCD480}"/>
              </a:ext>
            </a:extLst>
          </p:cNvPr>
          <p:cNvSpPr>
            <a:spLocks xmlns:a="http://schemas.openxmlformats.org/drawingml/2006/main" noGrp="1"/>
          </p:cNvSpPr>
          <p:nvPr/>
        </p:nvSpPr>
        <p:spPr>
          <a:xfrm xmlns:a="http://schemas.openxmlformats.org/drawingml/2006/main">
            <a:off x="8191500" y="180975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00" b="1">
                <a:solidFill>
                  <a:srgbClr val="2457FF"/>
                </a:solidFill>
                <a:latin typeface="Cairo"/>
                <a:ea typeface="Cairo"/>
                <a:cs typeface="Cairo"/>
              </a:defRPr>
            </a:defPPr>
          </a:lstStyle>
          <a:p xmlns:a="http://schemas.openxmlformats.org/drawingml/2006/main">
            <a:pPr>
              <a:defRPr sz="3600" b="1">
                <a:solidFill>
                  <a:srgbClr val="2457FF"/>
                </a:solidFill>
                <a:latin typeface="Cairo"/>
                <a:ea typeface="Cairo"/>
                <a:cs typeface="Cairo"/>
              </a:defRPr>
            </a:pPr>
            <a:r>
              <a:rPr sz="3600" b="1">
                <a:solidFill>
                  <a:srgbClr val="2457FF"/>
                </a:solidFill>
                <a:latin typeface="Cairo"/>
                <a:ea typeface="Cairo"/>
                <a:cs typeface="Cairo"/>
              </a:rPr>
              <a:t>03</a:t>
            </a:r>
          </a:p>
        </p:txBody>
      </p:sp>
      <p:sp>
        <p:nvSpPr>
          <p:cNvPr id="11" name="text-10">
            <a:extLst xmlns:a="http://schemas.openxmlformats.org/drawingml/2006/main">
              <a:ext uri="{FF2B5EF4-FFF2-40B4-BE49-F238E27FC236}">
                <a16:creationId xmlns:a16="http://schemas.microsoft.com/office/drawing/2014/main" id="{527327AE-13C4-4A7B-A1CF-4BE3A616B87B}"/>
              </a:ext>
            </a:extLst>
          </p:cNvPr>
          <p:cNvSpPr>
            <a:spLocks xmlns:a="http://schemas.openxmlformats.org/drawingml/2006/main" noGrp="1"/>
          </p:cNvSpPr>
          <p:nvPr/>
        </p:nvSpPr>
        <p:spPr>
          <a:xfrm xmlns:a="http://schemas.openxmlformats.org/drawingml/2006/main">
            <a:off x="8191500" y="242887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5181F"/>
                </a:solidFill>
                <a:latin typeface="Cairo"/>
                <a:ea typeface="Cairo"/>
                <a:cs typeface="Cairo"/>
              </a:defRPr>
            </a:defPPr>
          </a:lstStyle>
          <a:p xmlns:a="http://schemas.openxmlformats.org/drawingml/2006/main">
            <a:pPr>
              <a:defRPr sz="2175" b="1">
                <a:solidFill>
                  <a:srgbClr val="15181F"/>
                </a:solidFill>
                <a:latin typeface="Cairo"/>
                <a:ea typeface="Cairo"/>
                <a:cs typeface="Cairo"/>
              </a:defRPr>
            </a:pPr>
            <a:r>
              <a:rPr sz="2175" b="1">
                <a:solidFill>
                  <a:srgbClr val="15181F"/>
                </a:solidFill>
                <a:latin typeface="Cairo"/>
                <a:ea typeface="Cairo"/>
                <a:cs typeface="Cairo"/>
              </a:rPr>
              <a:t>Group mates</a:t>
            </a:r>
          </a:p>
        </p:txBody>
      </p:sp>
      <p:sp>
        <p:nvSpPr>
          <p:cNvPr id="12" name="text-11">
            <a:extLst xmlns:a="http://schemas.openxmlformats.org/drawingml/2006/main">
              <a:ext uri="{FF2B5EF4-FFF2-40B4-BE49-F238E27FC236}">
                <a16:creationId xmlns:a16="http://schemas.microsoft.com/office/drawing/2014/main" id="{33116D33-5649-433A-A45B-EDDC9DEC03E4}"/>
              </a:ext>
            </a:extLst>
          </p:cNvPr>
          <p:cNvSpPr>
            <a:spLocks xmlns:a="http://schemas.openxmlformats.org/drawingml/2006/main" noGrp="1"/>
          </p:cNvSpPr>
          <p:nvPr/>
        </p:nvSpPr>
        <p:spPr>
          <a:xfrm xmlns:a="http://schemas.openxmlformats.org/drawingml/2006/main">
            <a:off x="8191500" y="29337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687182"/>
                </a:solidFill>
                <a:latin typeface="Cairo"/>
                <a:ea typeface="Cairo"/>
                <a:cs typeface="Cairo"/>
              </a:defRPr>
            </a:defPPr>
          </a:lstStyle>
          <a:p xmlns:a="http://schemas.openxmlformats.org/drawingml/2006/main">
            <a:pPr>
              <a:defRPr sz="1725" b="0">
                <a:solidFill>
                  <a:srgbClr val="687182"/>
                </a:solidFill>
                <a:latin typeface="Cairo"/>
                <a:ea typeface="Cairo"/>
                <a:cs typeface="Cairo"/>
              </a:defRPr>
            </a:pPr>
            <a:r>
              <a:rPr sz="1725" b="0">
                <a:solidFill>
                  <a:srgbClr val="687182"/>
                </a:solidFill>
                <a:latin typeface="Cairo"/>
                <a:ea typeface="Cairo"/>
                <a:cs typeface="Cairo"/>
              </a:rPr>
              <a:t>collate + fixmate -m</a:t>
            </a:r>
          </a:p>
        </p:txBody>
      </p:sp>
      <p:sp>
        <p:nvSpPr>
          <p:cNvPr id="13" name="text-12">
            <a:extLst xmlns:a="http://schemas.openxmlformats.org/drawingml/2006/main">
              <a:ext uri="{FF2B5EF4-FFF2-40B4-BE49-F238E27FC236}">
                <a16:creationId xmlns:a16="http://schemas.microsoft.com/office/drawing/2014/main" id="{EB383A5B-1082-4B26-BE79-E623BAC5B84B}"/>
              </a:ext>
            </a:extLst>
          </p:cNvPr>
          <p:cNvSpPr>
            <a:spLocks xmlns:a="http://schemas.openxmlformats.org/drawingml/2006/main" noGrp="1"/>
          </p:cNvSpPr>
          <p:nvPr/>
        </p:nvSpPr>
        <p:spPr>
          <a:xfrm xmlns:a="http://schemas.openxmlformats.org/drawingml/2006/main">
            <a:off x="533400" y="390525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00" b="1">
                <a:solidFill>
                  <a:srgbClr val="2457FF"/>
                </a:solidFill>
                <a:latin typeface="Cairo"/>
                <a:ea typeface="Cairo"/>
                <a:cs typeface="Cairo"/>
              </a:defRPr>
            </a:defPPr>
          </a:lstStyle>
          <a:p xmlns:a="http://schemas.openxmlformats.org/drawingml/2006/main">
            <a:pPr>
              <a:defRPr sz="3600" b="1">
                <a:solidFill>
                  <a:srgbClr val="2457FF"/>
                </a:solidFill>
                <a:latin typeface="Cairo"/>
                <a:ea typeface="Cairo"/>
                <a:cs typeface="Cairo"/>
              </a:defRPr>
            </a:pPr>
            <a:r>
              <a:rPr sz="3600" b="1">
                <a:solidFill>
                  <a:srgbClr val="2457FF"/>
                </a:solidFill>
                <a:latin typeface="Cairo"/>
                <a:ea typeface="Cairo"/>
                <a:cs typeface="Cairo"/>
              </a:rPr>
              <a:t>04</a:t>
            </a:r>
          </a:p>
        </p:txBody>
      </p:sp>
      <p:sp>
        <p:nvSpPr>
          <p:cNvPr id="14" name="text-13">
            <a:extLst xmlns:a="http://schemas.openxmlformats.org/drawingml/2006/main">
              <a:ext uri="{FF2B5EF4-FFF2-40B4-BE49-F238E27FC236}">
                <a16:creationId xmlns:a16="http://schemas.microsoft.com/office/drawing/2014/main" id="{F51C3D3C-7AA8-43C2-8EF5-7247C7CE9F5A}"/>
              </a:ext>
            </a:extLst>
          </p:cNvPr>
          <p:cNvSpPr>
            <a:spLocks xmlns:a="http://schemas.openxmlformats.org/drawingml/2006/main" noGrp="1"/>
          </p:cNvSpPr>
          <p:nvPr/>
        </p:nvSpPr>
        <p:spPr>
          <a:xfrm xmlns:a="http://schemas.openxmlformats.org/drawingml/2006/main">
            <a:off x="533400" y="452437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5181F"/>
                </a:solidFill>
                <a:latin typeface="Cairo"/>
                <a:ea typeface="Cairo"/>
                <a:cs typeface="Cairo"/>
              </a:defRPr>
            </a:defPPr>
          </a:lstStyle>
          <a:p xmlns:a="http://schemas.openxmlformats.org/drawingml/2006/main">
            <a:pPr>
              <a:defRPr sz="2175" b="1">
                <a:solidFill>
                  <a:srgbClr val="15181F"/>
                </a:solidFill>
                <a:latin typeface="Cairo"/>
                <a:ea typeface="Cairo"/>
                <a:cs typeface="Cairo"/>
              </a:defRPr>
            </a:pPr>
            <a:r>
              <a:rPr sz="2175" b="1">
                <a:solidFill>
                  <a:srgbClr val="15181F"/>
                </a:solidFill>
                <a:latin typeface="Cairo"/>
                <a:ea typeface="Cairo"/>
                <a:cs typeface="Cairo"/>
              </a:rPr>
              <a:t>Sort</a:t>
            </a:r>
          </a:p>
        </p:txBody>
      </p:sp>
      <p:sp>
        <p:nvSpPr>
          <p:cNvPr id="15" name="text-14">
            <a:extLst xmlns:a="http://schemas.openxmlformats.org/drawingml/2006/main">
              <a:ext uri="{FF2B5EF4-FFF2-40B4-BE49-F238E27FC236}">
                <a16:creationId xmlns:a16="http://schemas.microsoft.com/office/drawing/2014/main" id="{5A5CD4B8-25C3-4A28-B015-AB921B1D218A}"/>
              </a:ext>
            </a:extLst>
          </p:cNvPr>
          <p:cNvSpPr>
            <a:spLocks xmlns:a="http://schemas.openxmlformats.org/drawingml/2006/main" noGrp="1"/>
          </p:cNvSpPr>
          <p:nvPr/>
        </p:nvSpPr>
        <p:spPr>
          <a:xfrm xmlns:a="http://schemas.openxmlformats.org/drawingml/2006/main">
            <a:off x="533400" y="50292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687182"/>
                </a:solidFill>
                <a:latin typeface="Cairo"/>
                <a:ea typeface="Cairo"/>
                <a:cs typeface="Cairo"/>
              </a:defRPr>
            </a:defPPr>
          </a:lstStyle>
          <a:p xmlns:a="http://schemas.openxmlformats.org/drawingml/2006/main">
            <a:pPr>
              <a:defRPr sz="1725" b="0">
                <a:solidFill>
                  <a:srgbClr val="687182"/>
                </a:solidFill>
                <a:latin typeface="Cairo"/>
                <a:ea typeface="Cairo"/>
                <a:cs typeface="Cairo"/>
              </a:defRPr>
            </a:pPr>
            <a:r>
              <a:rPr sz="1725" b="0">
                <a:solidFill>
                  <a:srgbClr val="687182"/>
                </a:solidFill>
                <a:latin typeface="Cairo"/>
                <a:ea typeface="Cairo"/>
                <a:cs typeface="Cairo"/>
              </a:rPr>
              <a:t>samtools sort</a:t>
            </a:r>
          </a:p>
        </p:txBody>
      </p:sp>
      <p:sp>
        <p:nvSpPr>
          <p:cNvPr id="16" name="text-15">
            <a:extLst xmlns:a="http://schemas.openxmlformats.org/drawingml/2006/main">
              <a:ext uri="{FF2B5EF4-FFF2-40B4-BE49-F238E27FC236}">
                <a16:creationId xmlns:a16="http://schemas.microsoft.com/office/drawing/2014/main" id="{0A2DFFEA-03A7-4FAE-8BAE-50DE52B7A947}"/>
              </a:ext>
            </a:extLst>
          </p:cNvPr>
          <p:cNvSpPr>
            <a:spLocks xmlns:a="http://schemas.openxmlformats.org/drawingml/2006/main" noGrp="1"/>
          </p:cNvSpPr>
          <p:nvPr/>
        </p:nvSpPr>
        <p:spPr>
          <a:xfrm xmlns:a="http://schemas.openxmlformats.org/drawingml/2006/main">
            <a:off x="4362450" y="390525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00" b="1">
                <a:solidFill>
                  <a:srgbClr val="2457FF"/>
                </a:solidFill>
                <a:latin typeface="Cairo"/>
                <a:ea typeface="Cairo"/>
                <a:cs typeface="Cairo"/>
              </a:defRPr>
            </a:defPPr>
          </a:lstStyle>
          <a:p xmlns:a="http://schemas.openxmlformats.org/drawingml/2006/main">
            <a:pPr>
              <a:defRPr sz="3600" b="1">
                <a:solidFill>
                  <a:srgbClr val="2457FF"/>
                </a:solidFill>
                <a:latin typeface="Cairo"/>
                <a:ea typeface="Cairo"/>
                <a:cs typeface="Cairo"/>
              </a:defRPr>
            </a:pPr>
            <a:r>
              <a:rPr sz="3600" b="1">
                <a:solidFill>
                  <a:srgbClr val="2457FF"/>
                </a:solidFill>
                <a:latin typeface="Cairo"/>
                <a:ea typeface="Cairo"/>
                <a:cs typeface="Cairo"/>
              </a:rPr>
              <a:t>05</a:t>
            </a:r>
          </a:p>
        </p:txBody>
      </p:sp>
      <p:sp>
        <p:nvSpPr>
          <p:cNvPr id="17" name="text-16">
            <a:extLst xmlns:a="http://schemas.openxmlformats.org/drawingml/2006/main">
              <a:ext uri="{FF2B5EF4-FFF2-40B4-BE49-F238E27FC236}">
                <a16:creationId xmlns:a16="http://schemas.microsoft.com/office/drawing/2014/main" id="{13657776-3B35-4731-A976-5562027FEA58}"/>
              </a:ext>
            </a:extLst>
          </p:cNvPr>
          <p:cNvSpPr>
            <a:spLocks xmlns:a="http://schemas.openxmlformats.org/drawingml/2006/main" noGrp="1"/>
          </p:cNvSpPr>
          <p:nvPr/>
        </p:nvSpPr>
        <p:spPr>
          <a:xfrm xmlns:a="http://schemas.openxmlformats.org/drawingml/2006/main">
            <a:off x="4362450" y="452437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5181F"/>
                </a:solidFill>
                <a:latin typeface="Cairo"/>
                <a:ea typeface="Cairo"/>
                <a:cs typeface="Cairo"/>
              </a:defRPr>
            </a:defPPr>
          </a:lstStyle>
          <a:p xmlns:a="http://schemas.openxmlformats.org/drawingml/2006/main">
            <a:pPr>
              <a:defRPr sz="2175" b="1">
                <a:solidFill>
                  <a:srgbClr val="15181F"/>
                </a:solidFill>
                <a:latin typeface="Cairo"/>
                <a:ea typeface="Cairo"/>
                <a:cs typeface="Cairo"/>
              </a:defRPr>
            </a:pPr>
            <a:r>
              <a:rPr sz="2175" b="1">
                <a:solidFill>
                  <a:srgbClr val="15181F"/>
                </a:solidFill>
                <a:latin typeface="Cairo"/>
                <a:ea typeface="Cairo"/>
                <a:cs typeface="Cairo"/>
              </a:rPr>
              <a:t>Mark duplicates</a:t>
            </a:r>
          </a:p>
        </p:txBody>
      </p:sp>
      <p:sp>
        <p:nvSpPr>
          <p:cNvPr id="18" name="text-17">
            <a:extLst xmlns:a="http://schemas.openxmlformats.org/drawingml/2006/main">
              <a:ext uri="{FF2B5EF4-FFF2-40B4-BE49-F238E27FC236}">
                <a16:creationId xmlns:a16="http://schemas.microsoft.com/office/drawing/2014/main" id="{AC80651C-3A98-4546-A56F-082716A718EC}"/>
              </a:ext>
            </a:extLst>
          </p:cNvPr>
          <p:cNvSpPr>
            <a:spLocks xmlns:a="http://schemas.openxmlformats.org/drawingml/2006/main" noGrp="1"/>
          </p:cNvSpPr>
          <p:nvPr/>
        </p:nvSpPr>
        <p:spPr>
          <a:xfrm xmlns:a="http://schemas.openxmlformats.org/drawingml/2006/main">
            <a:off x="4362450" y="50292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687182"/>
                </a:solidFill>
                <a:latin typeface="Cairo"/>
                <a:ea typeface="Cairo"/>
                <a:cs typeface="Cairo"/>
              </a:defRPr>
            </a:defPPr>
          </a:lstStyle>
          <a:p xmlns:a="http://schemas.openxmlformats.org/drawingml/2006/main">
            <a:pPr>
              <a:defRPr sz="1725" b="0">
                <a:solidFill>
                  <a:srgbClr val="687182"/>
                </a:solidFill>
                <a:latin typeface="Cairo"/>
                <a:ea typeface="Cairo"/>
                <a:cs typeface="Cairo"/>
              </a:defRPr>
            </a:pPr>
            <a:r>
              <a:rPr sz="1725" b="0">
                <a:solidFill>
                  <a:srgbClr val="687182"/>
                </a:solidFill>
                <a:latin typeface="Cairo"/>
                <a:ea typeface="Cairo"/>
                <a:cs typeface="Cairo"/>
              </a:rPr>
              <a:t>samtools markdup</a:t>
            </a:r>
          </a:p>
        </p:txBody>
      </p:sp>
      <p:sp>
        <p:nvSpPr>
          <p:cNvPr id="19" name="text-18">
            <a:extLst xmlns:a="http://schemas.openxmlformats.org/drawingml/2006/main">
              <a:ext uri="{FF2B5EF4-FFF2-40B4-BE49-F238E27FC236}">
                <a16:creationId xmlns:a16="http://schemas.microsoft.com/office/drawing/2014/main" id="{30DED7AC-7D77-42EC-A04F-2CAB2894B2C2}"/>
              </a:ext>
            </a:extLst>
          </p:cNvPr>
          <p:cNvSpPr>
            <a:spLocks xmlns:a="http://schemas.openxmlformats.org/drawingml/2006/main" noGrp="1"/>
          </p:cNvSpPr>
          <p:nvPr/>
        </p:nvSpPr>
        <p:spPr>
          <a:xfrm xmlns:a="http://schemas.openxmlformats.org/drawingml/2006/main">
            <a:off x="8191500" y="390525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00" b="1">
                <a:solidFill>
                  <a:srgbClr val="2457FF"/>
                </a:solidFill>
                <a:latin typeface="Cairo"/>
                <a:ea typeface="Cairo"/>
                <a:cs typeface="Cairo"/>
              </a:defRPr>
            </a:defPPr>
          </a:lstStyle>
          <a:p xmlns:a="http://schemas.openxmlformats.org/drawingml/2006/main">
            <a:pPr>
              <a:defRPr sz="3600" b="1">
                <a:solidFill>
                  <a:srgbClr val="2457FF"/>
                </a:solidFill>
                <a:latin typeface="Cairo"/>
                <a:ea typeface="Cairo"/>
                <a:cs typeface="Cairo"/>
              </a:defRPr>
            </a:pPr>
            <a:r>
              <a:rPr sz="3600" b="1">
                <a:solidFill>
                  <a:srgbClr val="2457FF"/>
                </a:solidFill>
                <a:latin typeface="Cairo"/>
                <a:ea typeface="Cairo"/>
                <a:cs typeface="Cairo"/>
              </a:rPr>
              <a:t>06</a:t>
            </a:r>
          </a:p>
        </p:txBody>
      </p:sp>
      <p:sp>
        <p:nvSpPr>
          <p:cNvPr id="20" name="text-19">
            <a:extLst xmlns:a="http://schemas.openxmlformats.org/drawingml/2006/main">
              <a:ext uri="{FF2B5EF4-FFF2-40B4-BE49-F238E27FC236}">
                <a16:creationId xmlns:a16="http://schemas.microsoft.com/office/drawing/2014/main" id="{9D98BC02-882E-4A8E-9D5E-D1827E8B3242}"/>
              </a:ext>
            </a:extLst>
          </p:cNvPr>
          <p:cNvSpPr>
            <a:spLocks xmlns:a="http://schemas.openxmlformats.org/drawingml/2006/main" noGrp="1"/>
          </p:cNvSpPr>
          <p:nvPr/>
        </p:nvSpPr>
        <p:spPr>
          <a:xfrm xmlns:a="http://schemas.openxmlformats.org/drawingml/2006/main">
            <a:off x="8191500" y="452437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5181F"/>
                </a:solidFill>
                <a:latin typeface="Cairo"/>
                <a:ea typeface="Cairo"/>
                <a:cs typeface="Cairo"/>
              </a:defRPr>
            </a:defPPr>
          </a:lstStyle>
          <a:p xmlns:a="http://schemas.openxmlformats.org/drawingml/2006/main">
            <a:pPr>
              <a:defRPr sz="2175" b="1">
                <a:solidFill>
                  <a:srgbClr val="15181F"/>
                </a:solidFill>
                <a:latin typeface="Cairo"/>
                <a:ea typeface="Cairo"/>
                <a:cs typeface="Cairo"/>
              </a:defRPr>
            </a:pPr>
            <a:r>
              <a:rPr sz="2175" b="1">
                <a:solidFill>
                  <a:srgbClr val="15181F"/>
                </a:solidFill>
                <a:latin typeface="Cairo"/>
                <a:ea typeface="Cairo"/>
                <a:cs typeface="Cairo"/>
              </a:rPr>
              <a:t>Index</a:t>
            </a:r>
          </a:p>
        </p:txBody>
      </p:sp>
      <p:sp>
        <p:nvSpPr>
          <p:cNvPr id="21" name="text-20">
            <a:extLst xmlns:a="http://schemas.openxmlformats.org/drawingml/2006/main">
              <a:ext uri="{FF2B5EF4-FFF2-40B4-BE49-F238E27FC236}">
                <a16:creationId xmlns:a16="http://schemas.microsoft.com/office/drawing/2014/main" id="{5703DEEB-C192-41D2-A650-3DF4508C0EA3}"/>
              </a:ext>
            </a:extLst>
          </p:cNvPr>
          <p:cNvSpPr>
            <a:spLocks xmlns:a="http://schemas.openxmlformats.org/drawingml/2006/main" noGrp="1"/>
          </p:cNvSpPr>
          <p:nvPr/>
        </p:nvSpPr>
        <p:spPr>
          <a:xfrm xmlns:a="http://schemas.openxmlformats.org/drawingml/2006/main">
            <a:off x="8191500" y="50292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687182"/>
                </a:solidFill>
                <a:latin typeface="Cairo"/>
                <a:ea typeface="Cairo"/>
                <a:cs typeface="Cairo"/>
              </a:defRPr>
            </a:defPPr>
          </a:lstStyle>
          <a:p xmlns:a="http://schemas.openxmlformats.org/drawingml/2006/main">
            <a:pPr>
              <a:defRPr sz="1725" b="0">
                <a:solidFill>
                  <a:srgbClr val="687182"/>
                </a:solidFill>
                <a:latin typeface="Cairo"/>
                <a:ea typeface="Cairo"/>
                <a:cs typeface="Cairo"/>
              </a:defRPr>
            </a:pPr>
            <a:r>
              <a:rPr sz="1725" b="0">
                <a:solidFill>
                  <a:srgbClr val="687182"/>
                </a:solidFill>
                <a:latin typeface="Cairo"/>
                <a:ea typeface="Cairo"/>
                <a:cs typeface="Cairo"/>
              </a:rPr>
              <a:t>samtools index</a:t>
            </a:r>
          </a:p>
        </p:txBody>
      </p:sp>
      <p:sp>
        <p:nvSpPr>
          <p:cNvPr id="22" name="text-21">
            <a:extLst xmlns:a="http://schemas.openxmlformats.org/drawingml/2006/main">
              <a:ext uri="{FF2B5EF4-FFF2-40B4-BE49-F238E27FC236}">
                <a16:creationId xmlns:a16="http://schemas.microsoft.com/office/drawing/2014/main" id="{BD6BA4D2-625D-4DC9-8B6F-ECE32FBA1756}"/>
              </a:ext>
            </a:extLst>
          </p:cNvPr>
          <p:cNvSpPr>
            <a:spLocks xmlns:a="http://schemas.openxmlformats.org/drawingml/2006/main" noGrp="1"/>
          </p:cNvSpPr>
          <p:nvPr/>
        </p:nvSpPr>
        <p:spPr>
          <a:xfrm xmlns:a="http://schemas.openxmlformats.org/drawingml/2006/main">
            <a:off x="533400" y="6038850"/>
            <a:ext cx="1112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687182"/>
                </a:solidFill>
                <a:latin typeface="Cairo"/>
                <a:ea typeface="Cairo"/>
                <a:cs typeface="Cairo"/>
              </a:defRPr>
            </a:defPPr>
          </a:lstStyle>
          <a:p xmlns:a="http://schemas.openxmlformats.org/drawingml/2006/main">
            <a:pPr>
              <a:defRPr sz="1275" b="0">
                <a:solidFill>
                  <a:srgbClr val="687182"/>
                </a:solidFill>
                <a:latin typeface="Cairo"/>
                <a:ea typeface="Cairo"/>
                <a:cs typeface="Cairo"/>
              </a:defRPr>
            </a:pPr>
            <a:r>
              <a:rPr sz="1275" b="0">
                <a:solidFill>
                  <a:srgbClr val="687182"/>
                </a:solidFill>
                <a:latin typeface="Cairo"/>
                <a:ea typeface="Cairo"/>
                <a:cs typeface="Cairo"/>
              </a:rPr>
              <a:t>quickcheck checks the header and file end. Duplicate records remain in the final BAM.</a:t>
            </a:r>
          </a:p>
        </p:txBody>
      </p:sp>
    </p:spTree>
    <p:extLst>
      <p:ext uri="{BB962C8B-B14F-4D97-AF65-F5344CB8AC3E}">
        <p14:creationId xmlns:p14="http://schemas.microsoft.com/office/powerpoint/2010/main" val="2886478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BE1A238D-51F9-4882-A6BC-D8730FC609D6}"/>
              </a:ext>
            </a:extLst>
          </p:cNvPr>
          <p:cNvSpPr>
            <a:spLocks xmlns:a="http://schemas.openxmlformats.org/drawingml/2006/main" noGrp="1"/>
          </p:cNvSpPr>
          <p:nvPr/>
        </p:nvSpPr>
        <p:spPr>
          <a:xfrm xmlns:a="http://schemas.openxmlformats.org/drawingml/2006/main">
            <a:off x="533400" y="2571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2457FF"/>
                </a:solidFill>
                <a:latin typeface="Cairo"/>
                <a:ea typeface="Cairo"/>
                <a:cs typeface="Cairo"/>
              </a:defRPr>
            </a:defPPr>
          </a:lstStyle>
          <a:p xmlns:a="http://schemas.openxmlformats.org/drawingml/2006/main">
            <a:pPr>
              <a:defRPr sz="1200" b="1">
                <a:solidFill>
                  <a:srgbClr val="2457FF"/>
                </a:solidFill>
                <a:latin typeface="Cairo"/>
                <a:ea typeface="Cairo"/>
                <a:cs typeface="Cairo"/>
              </a:defRPr>
            </a:pPr>
            <a:r>
              <a:rPr sz="1200" b="1">
                <a:solidFill>
                  <a:srgbClr val="2457FF"/>
                </a:solidFill>
                <a:latin typeface="Cairo"/>
                <a:ea typeface="Cairo"/>
                <a:cs typeface="Cairo"/>
              </a:rPr>
              <a:t>ALIGNMENT RESULTS</a:t>
            </a:r>
          </a:p>
        </p:txBody>
      </p:sp>
      <p:sp>
        <p:nvSpPr>
          <p:cNvPr id="2" name="text-1">
            <a:extLst xmlns:a="http://schemas.openxmlformats.org/drawingml/2006/main">
              <a:ext uri="{FF2B5EF4-FFF2-40B4-BE49-F238E27FC236}">
                <a16:creationId xmlns:a16="http://schemas.microsoft.com/office/drawing/2014/main" id="{70594B79-3158-4CD4-9D7E-9498CFD02A90}"/>
              </a:ext>
            </a:extLst>
          </p:cNvPr>
          <p:cNvSpPr>
            <a:spLocks xmlns:a="http://schemas.openxmlformats.org/drawingml/2006/main" noGrp="1"/>
          </p:cNvSpPr>
          <p:nvPr/>
        </p:nvSpPr>
        <p:spPr>
          <a:xfrm xmlns:a="http://schemas.openxmlformats.org/drawingml/2006/main">
            <a:off x="533400" y="64770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5181F"/>
                </a:solidFill>
                <a:latin typeface="Cairo"/>
                <a:ea typeface="Cairo"/>
                <a:cs typeface="Cairo"/>
              </a:defRPr>
            </a:defPPr>
          </a:lstStyle>
          <a:p xmlns:a="http://schemas.openxmlformats.org/drawingml/2006/main">
            <a:pPr>
              <a:defRPr sz="3150" b="1">
                <a:solidFill>
                  <a:srgbClr val="15181F"/>
                </a:solidFill>
                <a:latin typeface="Cairo"/>
                <a:ea typeface="Cairo"/>
                <a:cs typeface="Cairo"/>
              </a:defRPr>
            </a:pPr>
            <a:r>
              <a:rPr sz="3150" b="1">
                <a:solidFill>
                  <a:srgbClr val="15181F"/>
                </a:solidFill>
                <a:latin typeface="Cairo"/>
                <a:ea typeface="Cairo"/>
                <a:cs typeface="Cairo"/>
              </a:rPr>
              <a:t>High mapping rates coexist with uneven coverage</a:t>
            </a:r>
          </a:p>
        </p:txBody>
      </p:sp>
      <p:sp>
        <p:nvSpPr>
          <p:cNvPr id="3" name="text-2">
            <a:extLst xmlns:a="http://schemas.openxmlformats.org/drawingml/2006/main">
              <a:ext uri="{FF2B5EF4-FFF2-40B4-BE49-F238E27FC236}">
                <a16:creationId xmlns:a16="http://schemas.microsoft.com/office/drawing/2014/main" id="{D1A3A3EA-F29D-46CA-BDB8-F1067F63AA72}"/>
              </a:ext>
            </a:extLst>
          </p:cNvPr>
          <p:cNvSpPr>
            <a:spLocks xmlns:a="http://schemas.openxmlformats.org/drawingml/2006/main" noGrp="1"/>
          </p:cNvSpPr>
          <p:nvPr/>
        </p:nvSpPr>
        <p:spPr>
          <a:xfrm xmlns:a="http://schemas.openxmlformats.org/drawingml/2006/main">
            <a:off x="11144250" y="64103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687182"/>
                </a:solidFill>
                <a:latin typeface="Cairo"/>
                <a:ea typeface="Cairo"/>
                <a:cs typeface="Cairo"/>
              </a:defRPr>
            </a:defPPr>
          </a:lstStyle>
          <a:p xmlns:a="http://schemas.openxmlformats.org/drawingml/2006/main">
            <a:pPr>
              <a:defRPr sz="1125" b="0">
                <a:solidFill>
                  <a:srgbClr val="687182"/>
                </a:solidFill>
                <a:latin typeface="Cairo"/>
                <a:ea typeface="Cairo"/>
                <a:cs typeface="Cairo"/>
              </a:defRPr>
            </a:pPr>
            <a:r>
              <a:rPr sz="1125" b="0">
                <a:solidFill>
                  <a:srgbClr val="687182"/>
                </a:solidFill>
                <a:latin typeface="Cairo"/>
                <a:ea typeface="Cairo"/>
                <a:cs typeface="Cairo"/>
              </a:rPr>
              <a:t>06</a:t>
            </a:r>
          </a:p>
        </p:txBody>
      </p:sp>
      <p:graphicFrame>
        <p:nvGraphicFramePr>
          <p:cNvPr id="4" name="Chart">
            <a:extLst xmlns:a="http://schemas.openxmlformats.org/drawingml/2006/main">
              <a:ext uri="{FF2B5EF4-FFF2-40B4-BE49-F238E27FC236}">
                <a16:creationId xmlns:a16="http://schemas.microsoft.com/office/drawing/2014/main" id="{1119391F-B17C-4805-8A8A-64B40598F10E}"/>
              </a:ext>
            </a:extLst>
          </p:cNvPr>
          <p:cNvGraphicFramePr/>
          <p:nvPr/>
        </p:nvGraphicFramePr>
        <p:xfrm>
          <a:off xmlns:a="http://schemas.openxmlformats.org/drawingml/2006/main" x="428625" y="1752600"/>
          <a:ext xmlns:a="http://schemas.openxmlformats.org/drawingml/2006/main" cx="6858000" cy="3762375"/>
        </p:xfrm>
        <a:graphic xmlns:a="http://schemas.openxmlformats.org/drawingml/2006/main">
          <a:graphicData uri="http://schemas.openxmlformats.org/drawingml/2006/chart">
            <c:chart xmlns:r="http://schemas.openxmlformats.org/officeDocument/2006/relationships" xmlns:c="http://schemas.openxmlformats.org/drawingml/2006/chart" r:id="Rd552aae72181464b"/>
          </a:graphicData>
        </a:graphic>
      </p:graphicFrame>
      <p:graphicFrame>
        <p:nvGraphicFramePr>
          <p:cNvPr id="5" name="">
            <a:extLst xmlns:a="http://schemas.openxmlformats.org/drawingml/2006/main">
              <a:ext uri="{FF2B5EF4-FFF2-40B4-BE49-F238E27FC236}">
                <a16:creationId xmlns:a16="http://schemas.microsoft.com/office/drawing/2014/main" id="{E75FDBED-26D2-412D-B4B5-BE236D1FB8B2}"/>
              </a:ext>
            </a:extLst>
          </p:cNvPr>
          <p:cNvGraphicFramePr/>
          <p:nvPr/>
        </p:nvGraphicFramePr>
        <p:xfrm>
          <a:off xmlns:a="http://schemas.openxmlformats.org/drawingml/2006/main" x="7848600" y="1952625"/>
          <a:ext xmlns:a="http://schemas.openxmlformats.org/drawingml/2006/main" cx="3810000" cy="2438400"/>
        </p:xfrm>
        <a:graphic xmlns:a="http://schemas.openxmlformats.org/drawingml/2006/main">
          <a:graphicData uri="http://schemas.openxmlformats.org/drawingml/2006/table">
            <a:tbl>
              <a:tblPr/>
              <a:tblGrid>
                <a:gridCol w="1905000"/>
                <a:gridCol w="1905000"/>
              </a:tblGrid>
              <a:tr h="609600">
                <a:tc>
                  <a:txBody>
                    <a:bodyPr/>
                    <a:lstStyle/>
                    <a:p>
                      <a:r>
                        <a:rPr sz="1875" b="1">
                          <a:solidFill>
                            <a:srgbClr val="FFFFFF"/>
                          </a:solidFill>
                          <a:latin typeface="Cairo"/>
                          <a:ea typeface="Cairo"/>
                          <a:cs typeface="Cairo"/>
                        </a:rPr>
                        <a:t>Sample</a:t>
                      </a:r>
                    </a:p>
                  </a:txBody>
                  <a:tcPr marL="91440" marR="91440" marT="45720" marB="45720">
                    <a:lnL w="9525">
                      <a:solidFill>
                        <a:srgbClr val="E6EBF2"/>
                      </a:solidFill>
                      <a:prstDash val="solid"/>
                    </a:lnL>
                    <a:lnR w="9525">
                      <a:solidFill>
                        <a:srgbClr val="E6EBF2"/>
                      </a:solidFill>
                      <a:prstDash val="solid"/>
                    </a:lnR>
                    <a:lnT w="9525">
                      <a:solidFill>
                        <a:srgbClr val="E6EBF2"/>
                      </a:solidFill>
                      <a:prstDash val="solid"/>
                    </a:lnT>
                    <a:lnB w="9525">
                      <a:solidFill>
                        <a:srgbClr val="E6EBF2"/>
                      </a:solidFill>
                      <a:prstDash val="solid"/>
                    </a:lnB>
                    <a:solidFill>
                      <a:srgbClr val="15181F"/>
                    </a:solidFill>
                  </a:tcPr>
                </a:tc>
                <a:tc>
                  <a:txBody>
                    <a:bodyPr/>
                    <a:lstStyle/>
                    <a:p>
                      <a:r>
                        <a:rPr sz="1875" b="1">
                          <a:solidFill>
                            <a:srgbClr val="FFFFFF"/>
                          </a:solidFill>
                          <a:latin typeface="Cairo"/>
                          <a:ea typeface="Cairo"/>
                          <a:cs typeface="Cairo"/>
                        </a:rPr>
                        <a:t>Mapped</a:t>
                      </a:r>
                    </a:p>
                  </a:txBody>
                  <a:tcPr marL="91440" marR="91440" marT="45720" marB="45720">
                    <a:lnR w="9525">
                      <a:solidFill>
                        <a:srgbClr val="E6EBF2"/>
                      </a:solidFill>
                      <a:prstDash val="solid"/>
                    </a:lnR>
                    <a:lnT w="9525">
                      <a:solidFill>
                        <a:srgbClr val="E6EBF2"/>
                      </a:solidFill>
                      <a:prstDash val="solid"/>
                    </a:lnT>
                    <a:lnB w="9525">
                      <a:solidFill>
                        <a:srgbClr val="E6EBF2"/>
                      </a:solidFill>
                      <a:prstDash val="solid"/>
                    </a:lnB>
                    <a:solidFill>
                      <a:srgbClr val="15181F"/>
                    </a:solidFill>
                  </a:tcPr>
                </a:tc>
              </a:tr>
              <a:tr h="609600">
                <a:tc>
                  <a:txBody>
                    <a:bodyPr/>
                    <a:lstStyle/>
                    <a:p>
                      <a:r>
                        <a:rPr sz="1875" b="0">
                          <a:solidFill>
                            <a:srgbClr val="15181F"/>
                          </a:solidFill>
                          <a:latin typeface="Cairo"/>
                          <a:ea typeface="Cairo"/>
                          <a:cs typeface="Cairo"/>
                        </a:rPr>
                        <a:t>4863</a:t>
                      </a:r>
                    </a:p>
                  </a:txBody>
                  <a:tcPr marL="91440" marR="91440" marT="45720" marB="45720">
                    <a:lnL w="9525">
                      <a:solidFill>
                        <a:srgbClr val="E6EBF2"/>
                      </a:solidFill>
                      <a:prstDash val="solid"/>
                    </a:lnL>
                    <a:lnR w="9525">
                      <a:solidFill>
                        <a:srgbClr val="E6EBF2"/>
                      </a:solidFill>
                      <a:prstDash val="solid"/>
                    </a:lnR>
                    <a:lnB w="9525">
                      <a:solidFill>
                        <a:srgbClr val="E6EBF2"/>
                      </a:solidFill>
                      <a:prstDash val="solid"/>
                    </a:lnB>
                    <a:solidFill>
                      <a:srgbClr val="F3F6FB"/>
                    </a:solidFill>
                  </a:tcPr>
                </a:tc>
                <a:tc>
                  <a:txBody>
                    <a:bodyPr/>
                    <a:lstStyle/>
                    <a:p>
                      <a:r>
                        <a:rPr sz="1875" b="0">
                          <a:solidFill>
                            <a:srgbClr val="15181F"/>
                          </a:solidFill>
                          <a:latin typeface="Cairo"/>
                          <a:ea typeface="Cairo"/>
                          <a:cs typeface="Cairo"/>
                        </a:rPr>
                        <a:t>99.96%</a:t>
                      </a:r>
                    </a:p>
                  </a:txBody>
                  <a:tcPr marL="91440" marR="91440" marT="45720" marB="45720">
                    <a:lnR w="9525">
                      <a:solidFill>
                        <a:srgbClr val="E6EBF2"/>
                      </a:solidFill>
                      <a:prstDash val="solid"/>
                    </a:lnR>
                    <a:lnB w="9525">
                      <a:solidFill>
                        <a:srgbClr val="E6EBF2"/>
                      </a:solidFill>
                      <a:prstDash val="solid"/>
                    </a:lnB>
                    <a:solidFill>
                      <a:srgbClr val="F3F6FB"/>
                    </a:solidFill>
                  </a:tcPr>
                </a:tc>
              </a:tr>
              <a:tr h="609600">
                <a:tc>
                  <a:txBody>
                    <a:bodyPr/>
                    <a:lstStyle/>
                    <a:p>
                      <a:r>
                        <a:rPr sz="1875" b="0">
                          <a:solidFill>
                            <a:srgbClr val="15181F"/>
                          </a:solidFill>
                          <a:latin typeface="Cairo"/>
                          <a:ea typeface="Cairo"/>
                          <a:cs typeface="Cairo"/>
                        </a:rPr>
                        <a:t>4866</a:t>
                      </a:r>
                    </a:p>
                  </a:txBody>
                  <a:tcPr marL="91440" marR="91440" marT="45720" marB="45720">
                    <a:lnL w="9525">
                      <a:solidFill>
                        <a:srgbClr val="E6EBF2"/>
                      </a:solidFill>
                      <a:prstDash val="solid"/>
                    </a:lnL>
                    <a:lnR w="9525">
                      <a:solidFill>
                        <a:srgbClr val="E6EBF2"/>
                      </a:solidFill>
                      <a:prstDash val="solid"/>
                    </a:lnR>
                    <a:lnB w="9525">
                      <a:solidFill>
                        <a:srgbClr val="E6EBF2"/>
                      </a:solidFill>
                      <a:prstDash val="solid"/>
                    </a:lnB>
                    <a:solidFill>
                      <a:srgbClr val="FFFFFF"/>
                    </a:solidFill>
                  </a:tcPr>
                </a:tc>
                <a:tc>
                  <a:txBody>
                    <a:bodyPr/>
                    <a:lstStyle/>
                    <a:p>
                      <a:r>
                        <a:rPr sz="1875" b="0">
                          <a:solidFill>
                            <a:srgbClr val="15181F"/>
                          </a:solidFill>
                          <a:latin typeface="Cairo"/>
                          <a:ea typeface="Cairo"/>
                          <a:cs typeface="Cairo"/>
                        </a:rPr>
                        <a:t>99.98%</a:t>
                      </a:r>
                    </a:p>
                  </a:txBody>
                  <a:tcPr marL="91440" marR="91440" marT="45720" marB="45720">
                    <a:lnR w="9525">
                      <a:solidFill>
                        <a:srgbClr val="E6EBF2"/>
                      </a:solidFill>
                      <a:prstDash val="solid"/>
                    </a:lnR>
                    <a:lnB w="9525">
                      <a:solidFill>
                        <a:srgbClr val="E6EBF2"/>
                      </a:solidFill>
                      <a:prstDash val="solid"/>
                    </a:lnB>
                    <a:solidFill>
                      <a:srgbClr val="FFFFFF"/>
                    </a:solidFill>
                  </a:tcPr>
                </a:tc>
              </a:tr>
              <a:tr h="609600">
                <a:tc>
                  <a:txBody>
                    <a:bodyPr/>
                    <a:lstStyle/>
                    <a:p>
                      <a:r>
                        <a:rPr sz="1875" b="0">
                          <a:solidFill>
                            <a:srgbClr val="15181F"/>
                          </a:solidFill>
                          <a:latin typeface="Cairo"/>
                          <a:ea typeface="Cairo"/>
                          <a:cs typeface="Cairo"/>
                        </a:rPr>
                        <a:t>9044</a:t>
                      </a:r>
                    </a:p>
                  </a:txBody>
                  <a:tcPr marL="91440" marR="91440" marT="45720" marB="45720">
                    <a:lnL w="9525">
                      <a:solidFill>
                        <a:srgbClr val="E6EBF2"/>
                      </a:solidFill>
                      <a:prstDash val="solid"/>
                    </a:lnL>
                    <a:lnR w="9525">
                      <a:solidFill>
                        <a:srgbClr val="E6EBF2"/>
                      </a:solidFill>
                      <a:prstDash val="solid"/>
                    </a:lnR>
                    <a:lnB w="9525">
                      <a:solidFill>
                        <a:srgbClr val="E6EBF2"/>
                      </a:solidFill>
                      <a:prstDash val="solid"/>
                    </a:lnB>
                    <a:solidFill>
                      <a:srgbClr val="F3F6FB"/>
                    </a:solidFill>
                  </a:tcPr>
                </a:tc>
                <a:tc>
                  <a:txBody>
                    <a:bodyPr/>
                    <a:lstStyle/>
                    <a:p>
                      <a:r>
                        <a:rPr sz="1875" b="0">
                          <a:solidFill>
                            <a:srgbClr val="15181F"/>
                          </a:solidFill>
                          <a:latin typeface="Cairo"/>
                          <a:ea typeface="Cairo"/>
                          <a:cs typeface="Cairo"/>
                        </a:rPr>
                        <a:t>99.94%</a:t>
                      </a:r>
                    </a:p>
                  </a:txBody>
                  <a:tcPr marL="91440" marR="91440" marT="45720" marB="45720">
                    <a:lnR w="9525">
                      <a:solidFill>
                        <a:srgbClr val="E6EBF2"/>
                      </a:solidFill>
                      <a:prstDash val="solid"/>
                    </a:lnR>
                    <a:lnB w="9525">
                      <a:solidFill>
                        <a:srgbClr val="E6EBF2"/>
                      </a:solidFill>
                      <a:prstDash val="solid"/>
                    </a:lnB>
                    <a:solidFill>
                      <a:srgbClr val="F3F6FB"/>
                    </a:solidFill>
                  </a:tcPr>
                </a:tc>
              </a:tr>
            </a:tbl>
          </a:graphicData>
        </a:graphic>
      </p:graphicFrame>
      <p:sp>
        <p:nvSpPr>
          <p:cNvPr id="6" name="text-3">
            <a:extLst xmlns:a="http://schemas.openxmlformats.org/drawingml/2006/main">
              <a:ext uri="{FF2B5EF4-FFF2-40B4-BE49-F238E27FC236}">
                <a16:creationId xmlns:a16="http://schemas.microsoft.com/office/drawing/2014/main" id="{8644BBD5-44F8-4315-B002-93687D799665}"/>
              </a:ext>
            </a:extLst>
          </p:cNvPr>
          <p:cNvSpPr>
            <a:spLocks xmlns:a="http://schemas.openxmlformats.org/drawingml/2006/main" noGrp="1"/>
          </p:cNvSpPr>
          <p:nvPr/>
        </p:nvSpPr>
        <p:spPr>
          <a:xfrm xmlns:a="http://schemas.openxmlformats.org/drawingml/2006/main">
            <a:off x="7858125" y="4638675"/>
            <a:ext cx="3714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4500" b="1">
                <a:solidFill>
                  <a:srgbClr val="2457FF"/>
                </a:solidFill>
                <a:latin typeface="Cairo"/>
                <a:ea typeface="Cairo"/>
                <a:cs typeface="Cairo"/>
              </a:defRPr>
            </a:defPPr>
          </a:lstStyle>
          <a:p xmlns:a="http://schemas.openxmlformats.org/drawingml/2006/main">
            <a:pPr>
              <a:defRPr sz="4500" b="1">
                <a:solidFill>
                  <a:srgbClr val="2457FF"/>
                </a:solidFill>
                <a:latin typeface="Cairo"/>
                <a:ea typeface="Cairo"/>
                <a:cs typeface="Cairo"/>
              </a:defRPr>
            </a:pPr>
            <a:r>
              <a:rPr sz="4500" b="1">
                <a:solidFill>
                  <a:srgbClr val="2457FF"/>
                </a:solidFill>
                <a:latin typeface="Cairo"/>
                <a:ea typeface="Cairo"/>
                <a:cs typeface="Cairo"/>
              </a:rPr>
              <a:t>≈10×</a:t>
            </a:r>
          </a:p>
        </p:txBody>
      </p:sp>
      <p:sp>
        <p:nvSpPr>
          <p:cNvPr id="7" name="text-4">
            <a:extLst xmlns:a="http://schemas.openxmlformats.org/drawingml/2006/main">
              <a:ext uri="{FF2B5EF4-FFF2-40B4-BE49-F238E27FC236}">
                <a16:creationId xmlns:a16="http://schemas.microsoft.com/office/drawing/2014/main" id="{CA532B2E-156B-44BF-A555-9A5200CD7E7B}"/>
              </a:ext>
            </a:extLst>
          </p:cNvPr>
          <p:cNvSpPr>
            <a:spLocks xmlns:a="http://schemas.openxmlformats.org/drawingml/2006/main" noGrp="1"/>
          </p:cNvSpPr>
          <p:nvPr/>
        </p:nvSpPr>
        <p:spPr>
          <a:xfrm xmlns:a="http://schemas.openxmlformats.org/drawingml/2006/main">
            <a:off x="7886700" y="54483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687182"/>
                </a:solidFill>
                <a:latin typeface="Cairo"/>
                <a:ea typeface="Cairo"/>
                <a:cs typeface="Cairo"/>
              </a:defRPr>
            </a:defPPr>
          </a:lstStyle>
          <a:p xmlns:a="http://schemas.openxmlformats.org/drawingml/2006/main">
            <a:pPr>
              <a:defRPr sz="1800" b="0">
                <a:solidFill>
                  <a:srgbClr val="687182"/>
                </a:solidFill>
                <a:latin typeface="Cairo"/>
                <a:ea typeface="Cairo"/>
                <a:cs typeface="Cairo"/>
              </a:defRPr>
            </a:pPr>
            <a:r>
              <a:rPr sz="1800" b="0">
                <a:solidFill>
                  <a:srgbClr val="687182"/>
                </a:solidFill>
                <a:latin typeface="Cairo"/>
                <a:ea typeface="Cairo"/>
                <a:cs typeface="Cairo"/>
              </a:rPr>
              <a:t>mean genome depth</a:t>
            </a:r>
          </a:p>
        </p:txBody>
      </p:sp>
      <p:sp>
        <p:nvSpPr>
          <p:cNvPr id="8" name="text-5">
            <a:extLst xmlns:a="http://schemas.openxmlformats.org/drawingml/2006/main">
              <a:ext uri="{FF2B5EF4-FFF2-40B4-BE49-F238E27FC236}">
                <a16:creationId xmlns:a16="http://schemas.microsoft.com/office/drawing/2014/main" id="{7070AF9C-3D25-494D-B624-F570374963DB}"/>
              </a:ext>
            </a:extLst>
          </p:cNvPr>
          <p:cNvSpPr>
            <a:spLocks xmlns:a="http://schemas.openxmlformats.org/drawingml/2006/main" noGrp="1"/>
          </p:cNvSpPr>
          <p:nvPr/>
        </p:nvSpPr>
        <p:spPr>
          <a:xfrm xmlns:a="http://schemas.openxmlformats.org/drawingml/2006/main">
            <a:off x="533400" y="6038850"/>
            <a:ext cx="1112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687182"/>
                </a:solidFill>
                <a:latin typeface="Cairo"/>
                <a:ea typeface="Cairo"/>
                <a:cs typeface="Cairo"/>
              </a:defRPr>
            </a:defPPr>
          </a:lstStyle>
          <a:p xmlns:a="http://schemas.openxmlformats.org/drawingml/2006/main">
            <a:pPr>
              <a:defRPr sz="1275" b="0">
                <a:solidFill>
                  <a:srgbClr val="687182"/>
                </a:solidFill>
                <a:latin typeface="Cairo"/>
                <a:ea typeface="Cairo"/>
                <a:cs typeface="Cairo"/>
              </a:defRPr>
            </a:pPr>
            <a:r>
              <a:rPr sz="1275" b="0">
                <a:solidFill>
                  <a:srgbClr val="687182"/>
                </a:solidFill>
                <a:latin typeface="Cairo"/>
                <a:ea typeface="Cairo"/>
                <a:cs typeface="Cairo"/>
              </a:rPr>
              <a:t>Covered genome: 99.79%, 93.02%, 99.81%. Mapped percentages refer to primary reads.</a:t>
            </a:r>
          </a:p>
        </p:txBody>
      </p:sp>
    </p:spTree>
    <p:extLst>
      <p:ext uri="{BB962C8B-B14F-4D97-AF65-F5344CB8AC3E}">
        <p14:creationId xmlns:p14="http://schemas.microsoft.com/office/powerpoint/2010/main" val="12625840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5255549A-D84D-4732-B746-17D40C6CF8FE}"/>
              </a:ext>
            </a:extLst>
          </p:cNvPr>
          <p:cNvSpPr>
            <a:spLocks xmlns:a="http://schemas.openxmlformats.org/drawingml/2006/main" noGrp="1"/>
          </p:cNvSpPr>
          <p:nvPr/>
        </p:nvSpPr>
        <p:spPr>
          <a:xfrm xmlns:a="http://schemas.openxmlformats.org/drawingml/2006/main">
            <a:off x="533400" y="2571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2457FF"/>
                </a:solidFill>
                <a:latin typeface="Cairo"/>
                <a:ea typeface="Cairo"/>
                <a:cs typeface="Cairo"/>
              </a:defRPr>
            </a:defPPr>
          </a:lstStyle>
          <a:p xmlns:a="http://schemas.openxmlformats.org/drawingml/2006/main">
            <a:pPr>
              <a:defRPr sz="1200" b="1">
                <a:solidFill>
                  <a:srgbClr val="2457FF"/>
                </a:solidFill>
                <a:latin typeface="Cairo"/>
                <a:ea typeface="Cairo"/>
                <a:cs typeface="Cairo"/>
              </a:defRPr>
            </a:pPr>
            <a:r>
              <a:rPr sz="1200" b="1">
                <a:solidFill>
                  <a:srgbClr val="2457FF"/>
                </a:solidFill>
                <a:latin typeface="Cairo"/>
                <a:ea typeface="Cairo"/>
                <a:cs typeface="Cairo"/>
              </a:rPr>
              <a:t>VARIANT CALLING</a:t>
            </a:r>
          </a:p>
        </p:txBody>
      </p:sp>
      <p:sp>
        <p:nvSpPr>
          <p:cNvPr id="2" name="text-1">
            <a:extLst xmlns:a="http://schemas.openxmlformats.org/drawingml/2006/main">
              <a:ext uri="{FF2B5EF4-FFF2-40B4-BE49-F238E27FC236}">
                <a16:creationId xmlns:a16="http://schemas.microsoft.com/office/drawing/2014/main" id="{80778629-08AA-4697-978C-0002C8A56662}"/>
              </a:ext>
            </a:extLst>
          </p:cNvPr>
          <p:cNvSpPr>
            <a:spLocks xmlns:a="http://schemas.openxmlformats.org/drawingml/2006/main" noGrp="1"/>
          </p:cNvSpPr>
          <p:nvPr/>
        </p:nvSpPr>
        <p:spPr>
          <a:xfrm xmlns:a="http://schemas.openxmlformats.org/drawingml/2006/main">
            <a:off x="533400" y="64770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5181F"/>
                </a:solidFill>
                <a:latin typeface="Cairo"/>
                <a:ea typeface="Cairo"/>
                <a:cs typeface="Cairo"/>
              </a:defRPr>
            </a:defPPr>
          </a:lstStyle>
          <a:p xmlns:a="http://schemas.openxmlformats.org/drawingml/2006/main">
            <a:pPr>
              <a:defRPr sz="3150" b="1">
                <a:solidFill>
                  <a:srgbClr val="15181F"/>
                </a:solidFill>
                <a:latin typeface="Cairo"/>
                <a:ea typeface="Cairo"/>
                <a:cs typeface="Cairo"/>
              </a:defRPr>
            </a:pPr>
            <a:r>
              <a:rPr sz="3150" b="1">
                <a:solidFill>
                  <a:srgbClr val="15181F"/>
                </a:solidFill>
                <a:latin typeface="Cairo"/>
                <a:ea typeface="Cairo"/>
                <a:cs typeface="Cairo"/>
              </a:rPr>
              <a:t>A haploid call model and explicit filters</a:t>
            </a:r>
          </a:p>
        </p:txBody>
      </p:sp>
      <p:sp>
        <p:nvSpPr>
          <p:cNvPr id="3" name="text-2">
            <a:extLst xmlns:a="http://schemas.openxmlformats.org/drawingml/2006/main">
              <a:ext uri="{FF2B5EF4-FFF2-40B4-BE49-F238E27FC236}">
                <a16:creationId xmlns:a16="http://schemas.microsoft.com/office/drawing/2014/main" id="{C8D9D0C0-3AEF-4E12-B35C-C77C60D5B9BF}"/>
              </a:ext>
            </a:extLst>
          </p:cNvPr>
          <p:cNvSpPr>
            <a:spLocks xmlns:a="http://schemas.openxmlformats.org/drawingml/2006/main" noGrp="1"/>
          </p:cNvSpPr>
          <p:nvPr/>
        </p:nvSpPr>
        <p:spPr>
          <a:xfrm xmlns:a="http://schemas.openxmlformats.org/drawingml/2006/main">
            <a:off x="11144250" y="64103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687182"/>
                </a:solidFill>
                <a:latin typeface="Cairo"/>
                <a:ea typeface="Cairo"/>
                <a:cs typeface="Cairo"/>
              </a:defRPr>
            </a:defPPr>
          </a:lstStyle>
          <a:p xmlns:a="http://schemas.openxmlformats.org/drawingml/2006/main">
            <a:pPr>
              <a:defRPr sz="1125" b="0">
                <a:solidFill>
                  <a:srgbClr val="687182"/>
                </a:solidFill>
                <a:latin typeface="Cairo"/>
                <a:ea typeface="Cairo"/>
                <a:cs typeface="Cairo"/>
              </a:defRPr>
            </a:pPr>
            <a:r>
              <a:rPr sz="1125" b="0">
                <a:solidFill>
                  <a:srgbClr val="687182"/>
                </a:solidFill>
                <a:latin typeface="Cairo"/>
                <a:ea typeface="Cairo"/>
                <a:cs typeface="Cairo"/>
              </a:rPr>
              <a:t>07</a:t>
            </a:r>
          </a:p>
        </p:txBody>
      </p:sp>
      <p:sp>
        <p:nvSpPr>
          <p:cNvPr id="4" name="text-3">
            <a:extLst xmlns:a="http://schemas.openxmlformats.org/drawingml/2006/main">
              <a:ext uri="{FF2B5EF4-FFF2-40B4-BE49-F238E27FC236}">
                <a16:creationId xmlns:a16="http://schemas.microsoft.com/office/drawing/2014/main" id="{85166831-D3B2-4F88-9058-E0C94C983321}"/>
              </a:ext>
            </a:extLst>
          </p:cNvPr>
          <p:cNvSpPr>
            <a:spLocks xmlns:a="http://schemas.openxmlformats.org/drawingml/2006/main" noGrp="1"/>
          </p:cNvSpPr>
          <p:nvPr/>
        </p:nvSpPr>
        <p:spPr>
          <a:xfrm xmlns:a="http://schemas.openxmlformats.org/drawingml/2006/main">
            <a:off x="533400" y="1733550"/>
            <a:ext cx="3143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125" b="1">
                <a:solidFill>
                  <a:srgbClr val="2457FF"/>
                </a:solidFill>
                <a:latin typeface="Cairo"/>
                <a:ea typeface="Cairo"/>
                <a:cs typeface="Cairo"/>
              </a:defRPr>
            </a:defPPr>
          </a:lstStyle>
          <a:p xmlns:a="http://schemas.openxmlformats.org/drawingml/2006/main">
            <a:pPr>
              <a:defRPr sz="7125" b="1">
                <a:solidFill>
                  <a:srgbClr val="2457FF"/>
                </a:solidFill>
                <a:latin typeface="Cairo"/>
                <a:ea typeface="Cairo"/>
                <a:cs typeface="Cairo"/>
              </a:defRPr>
            </a:pPr>
            <a:r>
              <a:rPr sz="7125" b="1">
                <a:solidFill>
                  <a:srgbClr val="2457FF"/>
                </a:solidFill>
                <a:latin typeface="Cairo"/>
                <a:ea typeface="Cairo"/>
                <a:cs typeface="Cairo"/>
              </a:rPr>
              <a:t>30</a:t>
            </a:r>
          </a:p>
        </p:txBody>
      </p:sp>
      <p:sp>
        <p:nvSpPr>
          <p:cNvPr id="5" name="text-4">
            <a:extLst xmlns:a="http://schemas.openxmlformats.org/drawingml/2006/main">
              <a:ext uri="{FF2B5EF4-FFF2-40B4-BE49-F238E27FC236}">
                <a16:creationId xmlns:a16="http://schemas.microsoft.com/office/drawing/2014/main" id="{1B358055-7BCC-403D-9B3F-F2B8D42DAC3E}"/>
              </a:ext>
            </a:extLst>
          </p:cNvPr>
          <p:cNvSpPr>
            <a:spLocks xmlns:a="http://schemas.openxmlformats.org/drawingml/2006/main" noGrp="1"/>
          </p:cNvSpPr>
          <p:nvPr/>
        </p:nvSpPr>
        <p:spPr>
          <a:xfrm xmlns:a="http://schemas.openxmlformats.org/drawingml/2006/main">
            <a:off x="590550" y="2943225"/>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687182"/>
                </a:solidFill>
                <a:latin typeface="Cairo"/>
                <a:ea typeface="Cairo"/>
                <a:cs typeface="Cairo"/>
              </a:defRPr>
            </a:defPPr>
          </a:lstStyle>
          <a:p xmlns:a="http://schemas.openxmlformats.org/drawingml/2006/main">
            <a:pPr>
              <a:defRPr sz="2025" b="0">
                <a:solidFill>
                  <a:srgbClr val="687182"/>
                </a:solidFill>
                <a:latin typeface="Cairo"/>
                <a:ea typeface="Cairo"/>
                <a:cs typeface="Cairo"/>
              </a:defRPr>
            </a:pPr>
            <a:r>
              <a:rPr sz="2025" b="0">
                <a:solidFill>
                  <a:srgbClr val="687182"/>
                </a:solidFill>
                <a:latin typeface="Cairo"/>
                <a:ea typeface="Cairo"/>
                <a:cs typeface="Cairo"/>
              </a:rPr>
              <a:t>minimum site QUAL</a:t>
            </a:r>
          </a:p>
        </p:txBody>
      </p:sp>
      <p:sp>
        <p:nvSpPr>
          <p:cNvPr id="6" name="text-5">
            <a:extLst xmlns:a="http://schemas.openxmlformats.org/drawingml/2006/main">
              <a:ext uri="{FF2B5EF4-FFF2-40B4-BE49-F238E27FC236}">
                <a16:creationId xmlns:a16="http://schemas.microsoft.com/office/drawing/2014/main" id="{9480EC22-5F4D-4DB0-B77C-C8C8C9DE78BD}"/>
              </a:ext>
            </a:extLst>
          </p:cNvPr>
          <p:cNvSpPr>
            <a:spLocks xmlns:a="http://schemas.openxmlformats.org/drawingml/2006/main" noGrp="1"/>
          </p:cNvSpPr>
          <p:nvPr/>
        </p:nvSpPr>
        <p:spPr>
          <a:xfrm xmlns:a="http://schemas.openxmlformats.org/drawingml/2006/main">
            <a:off x="533400" y="3752850"/>
            <a:ext cx="3143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125" b="1">
                <a:solidFill>
                  <a:srgbClr val="2457FF"/>
                </a:solidFill>
                <a:latin typeface="Cairo"/>
                <a:ea typeface="Cairo"/>
                <a:cs typeface="Cairo"/>
              </a:defRPr>
            </a:defPPr>
          </a:lstStyle>
          <a:p xmlns:a="http://schemas.openxmlformats.org/drawingml/2006/main">
            <a:pPr>
              <a:defRPr sz="7125" b="1">
                <a:solidFill>
                  <a:srgbClr val="2457FF"/>
                </a:solidFill>
                <a:latin typeface="Cairo"/>
                <a:ea typeface="Cairo"/>
                <a:cs typeface="Cairo"/>
              </a:defRPr>
            </a:pPr>
            <a:r>
              <a:rPr sz="7125" b="1">
                <a:solidFill>
                  <a:srgbClr val="2457FF"/>
                </a:solidFill>
                <a:latin typeface="Cairo"/>
                <a:ea typeface="Cairo"/>
                <a:cs typeface="Cairo"/>
              </a:rPr>
              <a:t>5</a:t>
            </a:r>
          </a:p>
        </p:txBody>
      </p:sp>
      <p:sp>
        <p:nvSpPr>
          <p:cNvPr id="7" name="text-6">
            <a:extLst xmlns:a="http://schemas.openxmlformats.org/drawingml/2006/main">
              <a:ext uri="{FF2B5EF4-FFF2-40B4-BE49-F238E27FC236}">
                <a16:creationId xmlns:a16="http://schemas.microsoft.com/office/drawing/2014/main" id="{1727B8E3-3056-42A0-A634-2475CC52431E}"/>
              </a:ext>
            </a:extLst>
          </p:cNvPr>
          <p:cNvSpPr>
            <a:spLocks xmlns:a="http://schemas.openxmlformats.org/drawingml/2006/main" noGrp="1"/>
          </p:cNvSpPr>
          <p:nvPr/>
        </p:nvSpPr>
        <p:spPr>
          <a:xfrm xmlns:a="http://schemas.openxmlformats.org/drawingml/2006/main">
            <a:off x="590550" y="4962525"/>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687182"/>
                </a:solidFill>
                <a:latin typeface="Cairo"/>
                <a:ea typeface="Cairo"/>
                <a:cs typeface="Cairo"/>
              </a:defRPr>
            </a:defPPr>
          </a:lstStyle>
          <a:p xmlns:a="http://schemas.openxmlformats.org/drawingml/2006/main">
            <a:pPr>
              <a:defRPr sz="2025" b="0">
                <a:solidFill>
                  <a:srgbClr val="687182"/>
                </a:solidFill>
                <a:latin typeface="Cairo"/>
                <a:ea typeface="Cairo"/>
                <a:cs typeface="Cairo"/>
              </a:defRPr>
            </a:pPr>
            <a:r>
              <a:rPr sz="2025" b="0">
                <a:solidFill>
                  <a:srgbClr val="687182"/>
                </a:solidFill>
                <a:latin typeface="Cairo"/>
                <a:ea typeface="Cairo"/>
                <a:cs typeface="Cairo"/>
              </a:rPr>
              <a:t>minimum sample DP</a:t>
            </a:r>
          </a:p>
        </p:txBody>
      </p:sp>
      <p:sp>
        <p:nvSpPr>
          <p:cNvPr id="8" name="">
            <a:extLst xmlns:a="http://schemas.openxmlformats.org/drawingml/2006/main">
              <a:ext uri="{FF2B5EF4-FFF2-40B4-BE49-F238E27FC236}">
                <a16:creationId xmlns:a16="http://schemas.microsoft.com/office/drawing/2014/main" id="{30498192-ACE6-438D-B07D-5F404726EA87}"/>
              </a:ext>
            </a:extLst>
          </p:cNvPr>
          <p:cNvSpPr>
            <a:spLocks xmlns:a="http://schemas.openxmlformats.org/drawingml/2006/main" noGrp="1"/>
          </p:cNvSpPr>
          <p:nvPr/>
        </p:nvSpPr>
        <p:spPr>
          <a:xfrm xmlns:a="http://schemas.openxmlformats.org/drawingml/2006/main">
            <a:off x="4524375" y="1743075"/>
            <a:ext cx="7124700" cy="2857500"/>
          </a:xfrm>
          <a:prstGeom xmlns:a="http://schemas.openxmlformats.org/drawingml/2006/main" prst="rect">
            <a:avLst/>
          </a:prstGeom>
          <a:solidFill xmlns:a="http://schemas.openxmlformats.org/drawingml/2006/main">
            <a:srgbClr val="15181F"/>
          </a:solidFill>
          <a:ln xmlns:a="http://schemas.openxmlformats.org/drawingml/2006/main" w="0">
            <a:noFill/>
            <a:prstDash val="solid"/>
          </a:ln>
        </p:spPr>
      </p:sp>
      <p:sp>
        <p:nvSpPr>
          <p:cNvPr id="9" name="text-8">
            <a:extLst xmlns:a="http://schemas.openxmlformats.org/drawingml/2006/main">
              <a:ext uri="{FF2B5EF4-FFF2-40B4-BE49-F238E27FC236}">
                <a16:creationId xmlns:a16="http://schemas.microsoft.com/office/drawing/2014/main" id="{58ABEC2A-929D-4682-AB1C-2D5CC70CBE05}"/>
              </a:ext>
            </a:extLst>
          </p:cNvPr>
          <p:cNvSpPr>
            <a:spLocks xmlns:a="http://schemas.openxmlformats.org/drawingml/2006/main" noGrp="1"/>
          </p:cNvSpPr>
          <p:nvPr/>
        </p:nvSpPr>
        <p:spPr>
          <a:xfrm xmlns:a="http://schemas.openxmlformats.org/drawingml/2006/main">
            <a:off x="4743450" y="1933575"/>
            <a:ext cx="66865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E6EBF2"/>
                </a:solidFill>
                <a:latin typeface="DejaVu Sans Mono"/>
                <a:ea typeface="DejaVu Sans Mono"/>
                <a:cs typeface="DejaVu Sans Mono"/>
              </a:defRPr>
            </a:defPPr>
          </a:lstStyle>
          <a:p xmlns:a="http://schemas.openxmlformats.org/drawingml/2006/main">
            <a:pPr>
              <a:defRPr sz="1725" b="0">
                <a:solidFill>
                  <a:srgbClr val="E6EBF2"/>
                </a:solidFill>
                <a:latin typeface="DejaVu Sans Mono"/>
                <a:ea typeface="DejaVu Sans Mono"/>
                <a:cs typeface="DejaVu Sans Mono"/>
              </a:defRPr>
            </a:pPr>
            <a:r>
              <a:rPr sz="1725" b="0">
                <a:solidFill>
                  <a:srgbClr val="E6EBF2"/>
                </a:solidFill>
                <a:latin typeface="DejaVu Sans Mono"/>
                <a:ea typeface="DejaVu Sans Mono"/>
                <a:cs typeface="DejaVu Sans Mono"/>
              </a:rPr>
              <a:t>bcftools mpileup</a:t>
            </a:r>
          </a:p>
          <a:p xmlns:a="http://schemas.openxmlformats.org/drawingml/2006/main">
            <a:pPr>
              <a:defRPr sz="1725" b="0">
                <a:solidFill>
                  <a:srgbClr val="E6EBF2"/>
                </a:solidFill>
                <a:latin typeface="DejaVu Sans Mono"/>
                <a:ea typeface="DejaVu Sans Mono"/>
                <a:cs typeface="DejaVu Sans Mono"/>
              </a:defRPr>
            </a:pPr>
            <a:r>
              <a:rPr sz="1725" b="0">
                <a:solidFill>
                  <a:srgbClr val="E6EBF2"/>
                </a:solidFill>
                <a:latin typeface="DejaVu Sans Mono"/>
                <a:ea typeface="DejaVu Sans Mono"/>
                <a:cs typeface="DejaVu Sans Mono"/>
              </a:rPr>
              <a:t>  -f "$REFERENCE"</a:t>
            </a:r>
          </a:p>
          <a:p xmlns:a="http://schemas.openxmlformats.org/drawingml/2006/main">
            <a:pPr>
              <a:defRPr sz="1725" b="0">
                <a:solidFill>
                  <a:srgbClr val="E6EBF2"/>
                </a:solidFill>
                <a:latin typeface="DejaVu Sans Mono"/>
                <a:ea typeface="DejaVu Sans Mono"/>
                <a:cs typeface="DejaVu Sans Mono"/>
              </a:defRPr>
            </a:pPr>
            <a:r>
              <a:rPr sz="1725" b="0">
                <a:solidFill>
                  <a:srgbClr val="E6EBF2"/>
                </a:solidFill>
                <a:latin typeface="DejaVu Sans Mono"/>
                <a:ea typeface="DejaVu Sans Mono"/>
                <a:cs typeface="DejaVu Sans Mono"/>
              </a:rPr>
              <a:t>  -a FORMAT/DP,FORMAT/AD</a:t>
            </a:r>
          </a:p>
          <a:p xmlns:a="http://schemas.openxmlformats.org/drawingml/2006/main">
            <a:pPr>
              <a:defRPr sz="1725" b="0">
                <a:solidFill>
                  <a:srgbClr val="E6EBF2"/>
                </a:solidFill>
                <a:latin typeface="DejaVu Sans Mono"/>
                <a:ea typeface="DejaVu Sans Mono"/>
                <a:cs typeface="DejaVu Sans Mono"/>
              </a:defRPr>
            </a:pPr>
            <a:r>
              <a:rPr sz="1725" b="0">
                <a:solidFill>
                  <a:srgbClr val="E6EBF2"/>
                </a:solidFill>
                <a:latin typeface="DejaVu Sans Mono"/>
                <a:ea typeface="DejaVu Sans Mono"/>
                <a:cs typeface="DejaVu Sans Mono"/>
              </a:rPr>
              <a:t>  -Ou "$BAM" |</a:t>
            </a:r>
          </a:p>
          <a:p xmlns:a="http://schemas.openxmlformats.org/drawingml/2006/main">
            <a:pPr>
              <a:defRPr sz="1725" b="0">
                <a:solidFill>
                  <a:srgbClr val="E6EBF2"/>
                </a:solidFill>
                <a:latin typeface="DejaVu Sans Mono"/>
                <a:ea typeface="DejaVu Sans Mono"/>
                <a:cs typeface="DejaVu Sans Mono"/>
              </a:defRPr>
            </a:pPr>
            <a:r>
              <a:rPr sz="1725" b="0">
                <a:solidFill>
                  <a:srgbClr val="E6EBF2"/>
                </a:solidFill>
                <a:latin typeface="DejaVu Sans Mono"/>
                <a:ea typeface="DejaVu Sans Mono"/>
                <a:cs typeface="DejaVu Sans Mono"/>
              </a:rPr>
              <a:t>bcftools call --ploidy 1</a:t>
            </a:r>
          </a:p>
          <a:p xmlns:a="http://schemas.openxmlformats.org/drawingml/2006/main">
            <a:pPr>
              <a:defRPr sz="1725" b="0">
                <a:solidFill>
                  <a:srgbClr val="E6EBF2"/>
                </a:solidFill>
                <a:latin typeface="DejaVu Sans Mono"/>
                <a:ea typeface="DejaVu Sans Mono"/>
                <a:cs typeface="DejaVu Sans Mono"/>
              </a:defRPr>
            </a:pPr>
            <a:r>
              <a:rPr sz="1725" b="0">
                <a:solidFill>
                  <a:srgbClr val="E6EBF2"/>
                </a:solidFill>
                <a:latin typeface="DejaVu Sans Mono"/>
                <a:ea typeface="DejaVu Sans Mono"/>
                <a:cs typeface="DejaVu Sans Mono"/>
              </a:rPr>
              <a:t>  -mv -Oz -o "$RAW_VCF"</a:t>
            </a:r>
          </a:p>
        </p:txBody>
      </p:sp>
      <p:sp>
        <p:nvSpPr>
          <p:cNvPr id="10" name="text-9">
            <a:extLst xmlns:a="http://schemas.openxmlformats.org/drawingml/2006/main">
              <a:ext uri="{FF2B5EF4-FFF2-40B4-BE49-F238E27FC236}">
                <a16:creationId xmlns:a16="http://schemas.microsoft.com/office/drawing/2014/main" id="{78B9DBC4-D167-4860-950B-E840857CF8C2}"/>
              </a:ext>
            </a:extLst>
          </p:cNvPr>
          <p:cNvSpPr>
            <a:spLocks xmlns:a="http://schemas.openxmlformats.org/drawingml/2006/main" noGrp="1"/>
          </p:cNvSpPr>
          <p:nvPr/>
        </p:nvSpPr>
        <p:spPr>
          <a:xfrm xmlns:a="http://schemas.openxmlformats.org/drawingml/2006/main">
            <a:off x="4524375" y="4943475"/>
            <a:ext cx="7096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5181F"/>
                </a:solidFill>
                <a:latin typeface="Cairo"/>
                <a:ea typeface="Cairo"/>
                <a:cs typeface="Cairo"/>
              </a:defRPr>
            </a:defPPr>
          </a:lstStyle>
          <a:p xmlns:a="http://schemas.openxmlformats.org/drawingml/2006/main">
            <a:pPr>
              <a:defRPr sz="2175" b="1">
                <a:solidFill>
                  <a:srgbClr val="15181F"/>
                </a:solidFill>
                <a:latin typeface="Cairo"/>
                <a:ea typeface="Cairo"/>
                <a:cs typeface="Cairo"/>
              </a:defRPr>
            </a:pPr>
            <a:r>
              <a:rPr sz="2175" b="1">
                <a:solidFill>
                  <a:srgbClr val="15181F"/>
                </a:solidFill>
                <a:latin typeface="Cairo"/>
                <a:ea typeface="Cairo"/>
                <a:cs typeface="Cairo"/>
              </a:rPr>
              <a:t>Exclude missing genotypes</a:t>
            </a:r>
          </a:p>
        </p:txBody>
      </p:sp>
      <p:sp>
        <p:nvSpPr>
          <p:cNvPr id="11" name="text-10">
            <a:extLst xmlns:a="http://schemas.openxmlformats.org/drawingml/2006/main">
              <a:ext uri="{FF2B5EF4-FFF2-40B4-BE49-F238E27FC236}">
                <a16:creationId xmlns:a16="http://schemas.microsoft.com/office/drawing/2014/main" id="{E7EBA7AA-09ED-4CE6-8AEB-74972873ED13}"/>
              </a:ext>
            </a:extLst>
          </p:cNvPr>
          <p:cNvSpPr>
            <a:spLocks xmlns:a="http://schemas.openxmlformats.org/drawingml/2006/main" noGrp="1"/>
          </p:cNvSpPr>
          <p:nvPr/>
        </p:nvSpPr>
        <p:spPr>
          <a:xfrm xmlns:a="http://schemas.openxmlformats.org/drawingml/2006/main">
            <a:off x="4524375" y="5457825"/>
            <a:ext cx="709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687182"/>
                </a:solidFill>
                <a:latin typeface="Cairo"/>
                <a:ea typeface="Cairo"/>
                <a:cs typeface="Cairo"/>
              </a:defRPr>
            </a:defPPr>
          </a:lstStyle>
          <a:p xmlns:a="http://schemas.openxmlformats.org/drawingml/2006/main">
            <a:pPr>
              <a:defRPr sz="1800" b="0">
                <a:solidFill>
                  <a:srgbClr val="687182"/>
                </a:solidFill>
                <a:latin typeface="Cairo"/>
                <a:ea typeface="Cairo"/>
                <a:cs typeface="Cairo"/>
              </a:defRPr>
            </a:pPr>
            <a:r>
              <a:rPr sz="1800" b="0">
                <a:solidFill>
                  <a:srgbClr val="687182"/>
                </a:solidFill>
                <a:latin typeface="Cairo"/>
                <a:ea typeface="Cairo"/>
                <a:cs typeface="Cairo"/>
              </a:rPr>
              <a:t>VCFtools --max-missing 1</a:t>
            </a:r>
          </a:p>
        </p:txBody>
      </p:sp>
    </p:spTree>
    <p:extLst>
      <p:ext uri="{BB962C8B-B14F-4D97-AF65-F5344CB8AC3E}">
        <p14:creationId xmlns:p14="http://schemas.microsoft.com/office/powerpoint/2010/main" val="6648272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D1B220A-C368-4A31-B3C2-ECEF46684F77}"/>
              </a:ext>
            </a:extLst>
          </p:cNvPr>
          <p:cNvSpPr>
            <a:spLocks xmlns:a="http://schemas.openxmlformats.org/drawingml/2006/main" noGrp="1"/>
          </p:cNvSpPr>
          <p:nvPr/>
        </p:nvSpPr>
        <p:spPr>
          <a:xfrm xmlns:a="http://schemas.openxmlformats.org/drawingml/2006/main">
            <a:off x="533400" y="2571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2457FF"/>
                </a:solidFill>
                <a:latin typeface="Cairo"/>
                <a:ea typeface="Cairo"/>
                <a:cs typeface="Cairo"/>
              </a:defRPr>
            </a:defPPr>
          </a:lstStyle>
          <a:p xmlns:a="http://schemas.openxmlformats.org/drawingml/2006/main">
            <a:pPr>
              <a:defRPr sz="1200" b="1">
                <a:solidFill>
                  <a:srgbClr val="2457FF"/>
                </a:solidFill>
                <a:latin typeface="Cairo"/>
                <a:ea typeface="Cairo"/>
                <a:cs typeface="Cairo"/>
              </a:defRPr>
            </a:pPr>
            <a:r>
              <a:rPr sz="1200" b="1">
                <a:solidFill>
                  <a:srgbClr val="2457FF"/>
                </a:solidFill>
                <a:latin typeface="Cairo"/>
                <a:ea typeface="Cairo"/>
                <a:cs typeface="Cairo"/>
              </a:rPr>
              <a:t>VARIANT COUNTS</a:t>
            </a:r>
          </a:p>
        </p:txBody>
      </p:sp>
      <p:sp>
        <p:nvSpPr>
          <p:cNvPr id="2" name="text-1">
            <a:extLst xmlns:a="http://schemas.openxmlformats.org/drawingml/2006/main">
              <a:ext uri="{FF2B5EF4-FFF2-40B4-BE49-F238E27FC236}">
                <a16:creationId xmlns:a16="http://schemas.microsoft.com/office/drawing/2014/main" id="{494871B6-65B1-4173-952F-6837BC08BBEC}"/>
              </a:ext>
            </a:extLst>
          </p:cNvPr>
          <p:cNvSpPr>
            <a:spLocks xmlns:a="http://schemas.openxmlformats.org/drawingml/2006/main" noGrp="1"/>
          </p:cNvSpPr>
          <p:nvPr/>
        </p:nvSpPr>
        <p:spPr>
          <a:xfrm xmlns:a="http://schemas.openxmlformats.org/drawingml/2006/main">
            <a:off x="533400" y="64770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5181F"/>
                </a:solidFill>
                <a:latin typeface="Cairo"/>
                <a:ea typeface="Cairo"/>
                <a:cs typeface="Cairo"/>
              </a:defRPr>
            </a:defPPr>
          </a:lstStyle>
          <a:p xmlns:a="http://schemas.openxmlformats.org/drawingml/2006/main">
            <a:pPr>
              <a:defRPr sz="3150" b="1">
                <a:solidFill>
                  <a:srgbClr val="15181F"/>
                </a:solidFill>
                <a:latin typeface="Cairo"/>
                <a:ea typeface="Cairo"/>
                <a:cs typeface="Cairo"/>
              </a:defRPr>
            </a:pPr>
            <a:r>
              <a:rPr sz="3150" b="1">
                <a:solidFill>
                  <a:srgbClr val="15181F"/>
                </a:solidFill>
                <a:latin typeface="Cairo"/>
                <a:ea typeface="Cairo"/>
                <a:cs typeface="Cairo"/>
              </a:rPr>
              <a:t>SRR2584866 has the largest retained call set</a:t>
            </a:r>
          </a:p>
        </p:txBody>
      </p:sp>
      <p:sp>
        <p:nvSpPr>
          <p:cNvPr id="3" name="text-2">
            <a:extLst xmlns:a="http://schemas.openxmlformats.org/drawingml/2006/main">
              <a:ext uri="{FF2B5EF4-FFF2-40B4-BE49-F238E27FC236}">
                <a16:creationId xmlns:a16="http://schemas.microsoft.com/office/drawing/2014/main" id="{80A195F5-C98F-44C3-A578-1F345B457C6E}"/>
              </a:ext>
            </a:extLst>
          </p:cNvPr>
          <p:cNvSpPr>
            <a:spLocks xmlns:a="http://schemas.openxmlformats.org/drawingml/2006/main" noGrp="1"/>
          </p:cNvSpPr>
          <p:nvPr/>
        </p:nvSpPr>
        <p:spPr>
          <a:xfrm xmlns:a="http://schemas.openxmlformats.org/drawingml/2006/main">
            <a:off x="11144250" y="64103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687182"/>
                </a:solidFill>
                <a:latin typeface="Cairo"/>
                <a:ea typeface="Cairo"/>
                <a:cs typeface="Cairo"/>
              </a:defRPr>
            </a:defPPr>
          </a:lstStyle>
          <a:p xmlns:a="http://schemas.openxmlformats.org/drawingml/2006/main">
            <a:pPr>
              <a:defRPr sz="1125" b="0">
                <a:solidFill>
                  <a:srgbClr val="687182"/>
                </a:solidFill>
                <a:latin typeface="Cairo"/>
                <a:ea typeface="Cairo"/>
                <a:cs typeface="Cairo"/>
              </a:defRPr>
            </a:pPr>
            <a:r>
              <a:rPr sz="1125" b="0">
                <a:solidFill>
                  <a:srgbClr val="687182"/>
                </a:solidFill>
                <a:latin typeface="Cairo"/>
                <a:ea typeface="Cairo"/>
                <a:cs typeface="Cairo"/>
              </a:rPr>
              <a:t>08</a:t>
            </a:r>
          </a:p>
        </p:txBody>
      </p:sp>
      <p:graphicFrame>
        <p:nvGraphicFramePr>
          <p:cNvPr id="4" name="Chart">
            <a:extLst xmlns:a="http://schemas.openxmlformats.org/drawingml/2006/main">
              <a:ext uri="{FF2B5EF4-FFF2-40B4-BE49-F238E27FC236}">
                <a16:creationId xmlns:a16="http://schemas.microsoft.com/office/drawing/2014/main" id="{EFD9674B-B311-4EB3-8DD0-631F12FC9880}"/>
              </a:ext>
            </a:extLst>
          </p:cNvPr>
          <p:cNvGraphicFramePr/>
          <p:nvPr/>
        </p:nvGraphicFramePr>
        <p:xfrm>
          <a:off xmlns:a="http://schemas.openxmlformats.org/drawingml/2006/main" x="342900" y="1685925"/>
          <a:ext xmlns:a="http://schemas.openxmlformats.org/drawingml/2006/main" cx="7239000" cy="4095750"/>
        </p:xfrm>
        <a:graphic xmlns:a="http://schemas.openxmlformats.org/drawingml/2006/main">
          <a:graphicData uri="http://schemas.openxmlformats.org/drawingml/2006/chart">
            <c:chart xmlns:r="http://schemas.openxmlformats.org/officeDocument/2006/relationships" xmlns:c="http://schemas.openxmlformats.org/drawingml/2006/chart" r:id="R81cf1999536249a5"/>
          </a:graphicData>
        </a:graphic>
      </p:graphicFrame>
      <p:graphicFrame>
        <p:nvGraphicFramePr>
          <p:cNvPr id="5" name="">
            <a:extLst xmlns:a="http://schemas.openxmlformats.org/drawingml/2006/main">
              <a:ext uri="{FF2B5EF4-FFF2-40B4-BE49-F238E27FC236}">
                <a16:creationId xmlns:a16="http://schemas.microsoft.com/office/drawing/2014/main" id="{F2BDE118-C07A-4E49-A675-830D1B7F0B33}"/>
              </a:ext>
            </a:extLst>
          </p:cNvPr>
          <p:cNvGraphicFramePr/>
          <p:nvPr/>
        </p:nvGraphicFramePr>
        <p:xfrm>
          <a:off xmlns:a="http://schemas.openxmlformats.org/drawingml/2006/main" x="7905750" y="1981200"/>
          <a:ext xmlns:a="http://schemas.openxmlformats.org/drawingml/2006/main" cx="3752850" cy="2524125"/>
        </p:xfrm>
        <a:graphic xmlns:a="http://schemas.openxmlformats.org/drawingml/2006/main">
          <a:graphicData uri="http://schemas.openxmlformats.org/drawingml/2006/table">
            <a:tbl>
              <a:tblPr/>
              <a:tblGrid>
                <a:gridCol w="1095375"/>
                <a:gridCol w="904875"/>
                <a:gridCol w="876300"/>
                <a:gridCol w="876300"/>
              </a:tblGrid>
              <a:tr h="631031">
                <a:tc>
                  <a:txBody>
                    <a:bodyPr/>
                    <a:lstStyle/>
                    <a:p>
                      <a:r>
                        <a:rPr sz="1650" b="1">
                          <a:solidFill>
                            <a:srgbClr val="FFFFFF"/>
                          </a:solidFill>
                          <a:latin typeface="Cairo"/>
                          <a:ea typeface="Cairo"/>
                          <a:cs typeface="Cairo"/>
                        </a:rPr>
                        <a:t>Sample</a:t>
                      </a:r>
                    </a:p>
                  </a:txBody>
                  <a:tcPr marL="91440" marR="91440" marT="45720" marB="45720">
                    <a:lnL w="9525">
                      <a:solidFill>
                        <a:srgbClr val="E6EBF2"/>
                      </a:solidFill>
                      <a:prstDash val="solid"/>
                    </a:lnL>
                    <a:lnR w="9525">
                      <a:solidFill>
                        <a:srgbClr val="E6EBF2"/>
                      </a:solidFill>
                      <a:prstDash val="solid"/>
                    </a:lnR>
                    <a:lnT w="9525">
                      <a:solidFill>
                        <a:srgbClr val="E6EBF2"/>
                      </a:solidFill>
                      <a:prstDash val="solid"/>
                    </a:lnT>
                    <a:lnB w="9525">
                      <a:solidFill>
                        <a:srgbClr val="E6EBF2"/>
                      </a:solidFill>
                      <a:prstDash val="solid"/>
                    </a:lnB>
                    <a:solidFill>
                      <a:srgbClr val="15181F"/>
                    </a:solidFill>
                  </a:tcPr>
                </a:tc>
                <a:tc>
                  <a:txBody>
                    <a:bodyPr/>
                    <a:lstStyle/>
                    <a:p>
                      <a:r>
                        <a:rPr sz="1650" b="1">
                          <a:solidFill>
                            <a:srgbClr val="FFFFFF"/>
                          </a:solidFill>
                          <a:latin typeface="Cairo"/>
                          <a:ea typeface="Cairo"/>
                          <a:cs typeface="Cairo"/>
                        </a:rPr>
                        <a:t>SNPs</a:t>
                      </a:r>
                    </a:p>
                  </a:txBody>
                  <a:tcPr marL="91440" marR="91440" marT="45720" marB="45720">
                    <a:lnR w="9525">
                      <a:solidFill>
                        <a:srgbClr val="E6EBF2"/>
                      </a:solidFill>
                      <a:prstDash val="solid"/>
                    </a:lnR>
                    <a:lnT w="9525">
                      <a:solidFill>
                        <a:srgbClr val="E6EBF2"/>
                      </a:solidFill>
                      <a:prstDash val="solid"/>
                    </a:lnT>
                    <a:lnB w="9525">
                      <a:solidFill>
                        <a:srgbClr val="E6EBF2"/>
                      </a:solidFill>
                      <a:prstDash val="solid"/>
                    </a:lnB>
                    <a:solidFill>
                      <a:srgbClr val="15181F"/>
                    </a:solidFill>
                  </a:tcPr>
                </a:tc>
                <a:tc>
                  <a:txBody>
                    <a:bodyPr/>
                    <a:lstStyle/>
                    <a:p>
                      <a:r>
                        <a:rPr sz="1650" b="1">
                          <a:solidFill>
                            <a:srgbClr val="FFFFFF"/>
                          </a:solidFill>
                          <a:latin typeface="Cairo"/>
                          <a:ea typeface="Cairo"/>
                          <a:cs typeface="Cairo"/>
                        </a:rPr>
                        <a:t>Ins.</a:t>
                      </a:r>
                    </a:p>
                  </a:txBody>
                  <a:tcPr marL="91440" marR="91440" marT="45720" marB="45720">
                    <a:lnR w="9525">
                      <a:solidFill>
                        <a:srgbClr val="E6EBF2"/>
                      </a:solidFill>
                      <a:prstDash val="solid"/>
                    </a:lnR>
                    <a:lnT w="9525">
                      <a:solidFill>
                        <a:srgbClr val="E6EBF2"/>
                      </a:solidFill>
                      <a:prstDash val="solid"/>
                    </a:lnT>
                    <a:lnB w="9525">
                      <a:solidFill>
                        <a:srgbClr val="E6EBF2"/>
                      </a:solidFill>
                      <a:prstDash val="solid"/>
                    </a:lnB>
                    <a:solidFill>
                      <a:srgbClr val="15181F"/>
                    </a:solidFill>
                  </a:tcPr>
                </a:tc>
                <a:tc>
                  <a:txBody>
                    <a:bodyPr/>
                    <a:lstStyle/>
                    <a:p>
                      <a:r>
                        <a:rPr sz="1650" b="1">
                          <a:solidFill>
                            <a:srgbClr val="FFFFFF"/>
                          </a:solidFill>
                          <a:latin typeface="Cairo"/>
                          <a:ea typeface="Cairo"/>
                          <a:cs typeface="Cairo"/>
                        </a:rPr>
                        <a:t>Del.</a:t>
                      </a:r>
                    </a:p>
                  </a:txBody>
                  <a:tcPr marL="91440" marR="91440" marT="45720" marB="45720">
                    <a:lnR w="9525">
                      <a:solidFill>
                        <a:srgbClr val="E6EBF2"/>
                      </a:solidFill>
                      <a:prstDash val="solid"/>
                    </a:lnR>
                    <a:lnT w="9525">
                      <a:solidFill>
                        <a:srgbClr val="E6EBF2"/>
                      </a:solidFill>
                      <a:prstDash val="solid"/>
                    </a:lnT>
                    <a:lnB w="9525">
                      <a:solidFill>
                        <a:srgbClr val="E6EBF2"/>
                      </a:solidFill>
                      <a:prstDash val="solid"/>
                    </a:lnB>
                    <a:solidFill>
                      <a:srgbClr val="15181F"/>
                    </a:solidFill>
                  </a:tcPr>
                </a:tc>
              </a:tr>
              <a:tr h="631031">
                <a:tc>
                  <a:txBody>
                    <a:bodyPr/>
                    <a:lstStyle/>
                    <a:p>
                      <a:r>
                        <a:rPr sz="1650" b="0">
                          <a:solidFill>
                            <a:srgbClr val="15181F"/>
                          </a:solidFill>
                          <a:latin typeface="Cairo"/>
                          <a:ea typeface="Cairo"/>
                          <a:cs typeface="Cairo"/>
                        </a:rPr>
                        <a:t>4863</a:t>
                      </a:r>
                    </a:p>
                  </a:txBody>
                  <a:tcPr marL="91440" marR="91440" marT="45720" marB="45720">
                    <a:lnL w="9525">
                      <a:solidFill>
                        <a:srgbClr val="E6EBF2"/>
                      </a:solidFill>
                      <a:prstDash val="solid"/>
                    </a:lnL>
                    <a:lnR w="9525">
                      <a:solidFill>
                        <a:srgbClr val="E6EBF2"/>
                      </a:solidFill>
                      <a:prstDash val="solid"/>
                    </a:lnR>
                    <a:lnB w="9525">
                      <a:solidFill>
                        <a:srgbClr val="E6EBF2"/>
                      </a:solidFill>
                      <a:prstDash val="solid"/>
                    </a:lnB>
                    <a:solidFill>
                      <a:srgbClr val="F3F6FB"/>
                    </a:solidFill>
                  </a:tcPr>
                </a:tc>
                <a:tc>
                  <a:txBody>
                    <a:bodyPr/>
                    <a:lstStyle/>
                    <a:p>
                      <a:r>
                        <a:rPr sz="1650" b="0">
                          <a:solidFill>
                            <a:srgbClr val="15181F"/>
                          </a:solidFill>
                          <a:latin typeface="Cairo"/>
                          <a:ea typeface="Cairo"/>
                          <a:cs typeface="Cairo"/>
                        </a:rPr>
                        <a:t>18</a:t>
                      </a:r>
                    </a:p>
                  </a:txBody>
                  <a:tcPr marL="91440" marR="91440" marT="45720" marB="45720">
                    <a:lnR w="9525">
                      <a:solidFill>
                        <a:srgbClr val="E6EBF2"/>
                      </a:solidFill>
                      <a:prstDash val="solid"/>
                    </a:lnR>
                    <a:lnB w="9525">
                      <a:solidFill>
                        <a:srgbClr val="E6EBF2"/>
                      </a:solidFill>
                      <a:prstDash val="solid"/>
                    </a:lnB>
                    <a:solidFill>
                      <a:srgbClr val="F3F6FB"/>
                    </a:solidFill>
                  </a:tcPr>
                </a:tc>
                <a:tc>
                  <a:txBody>
                    <a:bodyPr/>
                    <a:lstStyle/>
                    <a:p>
                      <a:r>
                        <a:rPr sz="1650" b="0">
                          <a:solidFill>
                            <a:srgbClr val="15181F"/>
                          </a:solidFill>
                          <a:latin typeface="Cairo"/>
                          <a:ea typeface="Cairo"/>
                          <a:cs typeface="Cairo"/>
                        </a:rPr>
                        <a:t>3</a:t>
                      </a:r>
                    </a:p>
                  </a:txBody>
                  <a:tcPr marL="91440" marR="91440" marT="45720" marB="45720">
                    <a:lnR w="9525">
                      <a:solidFill>
                        <a:srgbClr val="E6EBF2"/>
                      </a:solidFill>
                      <a:prstDash val="solid"/>
                    </a:lnR>
                    <a:lnB w="9525">
                      <a:solidFill>
                        <a:srgbClr val="E6EBF2"/>
                      </a:solidFill>
                      <a:prstDash val="solid"/>
                    </a:lnB>
                    <a:solidFill>
                      <a:srgbClr val="F3F6FB"/>
                    </a:solidFill>
                  </a:tcPr>
                </a:tc>
                <a:tc>
                  <a:txBody>
                    <a:bodyPr/>
                    <a:lstStyle/>
                    <a:p>
                      <a:r>
                        <a:rPr sz="1650" b="0">
                          <a:solidFill>
                            <a:srgbClr val="15181F"/>
                          </a:solidFill>
                          <a:latin typeface="Cairo"/>
                          <a:ea typeface="Cairo"/>
                          <a:cs typeface="Cairo"/>
                        </a:rPr>
                        <a:t>1</a:t>
                      </a:r>
                    </a:p>
                  </a:txBody>
                  <a:tcPr marL="91440" marR="91440" marT="45720" marB="45720">
                    <a:lnR w="9525">
                      <a:solidFill>
                        <a:srgbClr val="E6EBF2"/>
                      </a:solidFill>
                      <a:prstDash val="solid"/>
                    </a:lnR>
                    <a:lnB w="9525">
                      <a:solidFill>
                        <a:srgbClr val="E6EBF2"/>
                      </a:solidFill>
                      <a:prstDash val="solid"/>
                    </a:lnB>
                    <a:solidFill>
                      <a:srgbClr val="F3F6FB"/>
                    </a:solidFill>
                  </a:tcPr>
                </a:tc>
              </a:tr>
              <a:tr h="631031">
                <a:tc>
                  <a:txBody>
                    <a:bodyPr/>
                    <a:lstStyle/>
                    <a:p>
                      <a:r>
                        <a:rPr sz="1650" b="0">
                          <a:solidFill>
                            <a:srgbClr val="15181F"/>
                          </a:solidFill>
                          <a:latin typeface="Cairo"/>
                          <a:ea typeface="Cairo"/>
                          <a:cs typeface="Cairo"/>
                        </a:rPr>
                        <a:t>4866</a:t>
                      </a:r>
                    </a:p>
                  </a:txBody>
                  <a:tcPr marL="91440" marR="91440" marT="45720" marB="45720">
                    <a:lnL w="9525">
                      <a:solidFill>
                        <a:srgbClr val="E6EBF2"/>
                      </a:solidFill>
                      <a:prstDash val="solid"/>
                    </a:lnL>
                    <a:lnR w="9525">
                      <a:solidFill>
                        <a:srgbClr val="E6EBF2"/>
                      </a:solidFill>
                      <a:prstDash val="solid"/>
                    </a:lnR>
                    <a:lnB w="9525">
                      <a:solidFill>
                        <a:srgbClr val="E6EBF2"/>
                      </a:solidFill>
                      <a:prstDash val="solid"/>
                    </a:lnB>
                    <a:solidFill>
                      <a:srgbClr val="FFFFFF"/>
                    </a:solidFill>
                  </a:tcPr>
                </a:tc>
                <a:tc>
                  <a:txBody>
                    <a:bodyPr/>
                    <a:lstStyle/>
                    <a:p>
                      <a:r>
                        <a:rPr sz="1650" b="0">
                          <a:solidFill>
                            <a:srgbClr val="15181F"/>
                          </a:solidFill>
                          <a:latin typeface="Cairo"/>
                          <a:ea typeface="Cairo"/>
                          <a:cs typeface="Cairo"/>
                        </a:rPr>
                        <a:t>614</a:t>
                      </a:r>
                    </a:p>
                  </a:txBody>
                  <a:tcPr marL="91440" marR="91440" marT="45720" marB="45720">
                    <a:lnR w="9525">
                      <a:solidFill>
                        <a:srgbClr val="E6EBF2"/>
                      </a:solidFill>
                      <a:prstDash val="solid"/>
                    </a:lnR>
                    <a:lnB w="9525">
                      <a:solidFill>
                        <a:srgbClr val="E6EBF2"/>
                      </a:solidFill>
                      <a:prstDash val="solid"/>
                    </a:lnB>
                    <a:solidFill>
                      <a:srgbClr val="FFFFFF"/>
                    </a:solidFill>
                  </a:tcPr>
                </a:tc>
                <a:tc>
                  <a:txBody>
                    <a:bodyPr/>
                    <a:lstStyle/>
                    <a:p>
                      <a:r>
                        <a:rPr sz="1650" b="0">
                          <a:solidFill>
                            <a:srgbClr val="15181F"/>
                          </a:solidFill>
                          <a:latin typeface="Cairo"/>
                          <a:ea typeface="Cairo"/>
                          <a:cs typeface="Cairo"/>
                        </a:rPr>
                        <a:t>57</a:t>
                      </a:r>
                    </a:p>
                  </a:txBody>
                  <a:tcPr marL="91440" marR="91440" marT="45720" marB="45720">
                    <a:lnR w="9525">
                      <a:solidFill>
                        <a:srgbClr val="E6EBF2"/>
                      </a:solidFill>
                      <a:prstDash val="solid"/>
                    </a:lnR>
                    <a:lnB w="9525">
                      <a:solidFill>
                        <a:srgbClr val="E6EBF2"/>
                      </a:solidFill>
                      <a:prstDash val="solid"/>
                    </a:lnB>
                    <a:solidFill>
                      <a:srgbClr val="FFFFFF"/>
                    </a:solidFill>
                  </a:tcPr>
                </a:tc>
                <a:tc>
                  <a:txBody>
                    <a:bodyPr/>
                    <a:lstStyle/>
                    <a:p>
                      <a:r>
                        <a:rPr sz="1650" b="0">
                          <a:solidFill>
                            <a:srgbClr val="15181F"/>
                          </a:solidFill>
                          <a:latin typeface="Cairo"/>
                          <a:ea typeface="Cairo"/>
                          <a:cs typeface="Cairo"/>
                        </a:rPr>
                        <a:t>39</a:t>
                      </a:r>
                    </a:p>
                  </a:txBody>
                  <a:tcPr marL="91440" marR="91440" marT="45720" marB="45720">
                    <a:lnR w="9525">
                      <a:solidFill>
                        <a:srgbClr val="E6EBF2"/>
                      </a:solidFill>
                      <a:prstDash val="solid"/>
                    </a:lnR>
                    <a:lnB w="9525">
                      <a:solidFill>
                        <a:srgbClr val="E6EBF2"/>
                      </a:solidFill>
                      <a:prstDash val="solid"/>
                    </a:lnB>
                    <a:solidFill>
                      <a:srgbClr val="FFFFFF"/>
                    </a:solidFill>
                  </a:tcPr>
                </a:tc>
              </a:tr>
              <a:tr h="631031">
                <a:tc>
                  <a:txBody>
                    <a:bodyPr/>
                    <a:lstStyle/>
                    <a:p>
                      <a:r>
                        <a:rPr sz="1650" b="0">
                          <a:solidFill>
                            <a:srgbClr val="15181F"/>
                          </a:solidFill>
                          <a:latin typeface="Cairo"/>
                          <a:ea typeface="Cairo"/>
                          <a:cs typeface="Cairo"/>
                        </a:rPr>
                        <a:t>9044</a:t>
                      </a:r>
                    </a:p>
                  </a:txBody>
                  <a:tcPr marL="91440" marR="91440" marT="45720" marB="45720">
                    <a:lnL w="9525">
                      <a:solidFill>
                        <a:srgbClr val="E6EBF2"/>
                      </a:solidFill>
                      <a:prstDash val="solid"/>
                    </a:lnL>
                    <a:lnR w="9525">
                      <a:solidFill>
                        <a:srgbClr val="E6EBF2"/>
                      </a:solidFill>
                      <a:prstDash val="solid"/>
                    </a:lnR>
                    <a:lnB w="9525">
                      <a:solidFill>
                        <a:srgbClr val="E6EBF2"/>
                      </a:solidFill>
                      <a:prstDash val="solid"/>
                    </a:lnB>
                    <a:solidFill>
                      <a:srgbClr val="F3F6FB"/>
                    </a:solidFill>
                  </a:tcPr>
                </a:tc>
                <a:tc>
                  <a:txBody>
                    <a:bodyPr/>
                    <a:lstStyle/>
                    <a:p>
                      <a:r>
                        <a:rPr sz="1650" b="0">
                          <a:solidFill>
                            <a:srgbClr val="15181F"/>
                          </a:solidFill>
                          <a:latin typeface="Cairo"/>
                          <a:ea typeface="Cairo"/>
                          <a:cs typeface="Cairo"/>
                        </a:rPr>
                        <a:t>6</a:t>
                      </a:r>
                    </a:p>
                  </a:txBody>
                  <a:tcPr marL="91440" marR="91440" marT="45720" marB="45720">
                    <a:lnR w="9525">
                      <a:solidFill>
                        <a:srgbClr val="E6EBF2"/>
                      </a:solidFill>
                      <a:prstDash val="solid"/>
                    </a:lnR>
                    <a:lnB w="9525">
                      <a:solidFill>
                        <a:srgbClr val="E6EBF2"/>
                      </a:solidFill>
                      <a:prstDash val="solid"/>
                    </a:lnB>
                    <a:solidFill>
                      <a:srgbClr val="F3F6FB"/>
                    </a:solidFill>
                  </a:tcPr>
                </a:tc>
                <a:tc>
                  <a:txBody>
                    <a:bodyPr/>
                    <a:lstStyle/>
                    <a:p>
                      <a:r>
                        <a:rPr sz="1650" b="0">
                          <a:solidFill>
                            <a:srgbClr val="15181F"/>
                          </a:solidFill>
                          <a:latin typeface="Cairo"/>
                          <a:ea typeface="Cairo"/>
                          <a:cs typeface="Cairo"/>
                        </a:rPr>
                        <a:t>1</a:t>
                      </a:r>
                    </a:p>
                  </a:txBody>
                  <a:tcPr marL="91440" marR="91440" marT="45720" marB="45720">
                    <a:lnR w="9525">
                      <a:solidFill>
                        <a:srgbClr val="E6EBF2"/>
                      </a:solidFill>
                      <a:prstDash val="solid"/>
                    </a:lnR>
                    <a:lnB w="9525">
                      <a:solidFill>
                        <a:srgbClr val="E6EBF2"/>
                      </a:solidFill>
                      <a:prstDash val="solid"/>
                    </a:lnB>
                    <a:solidFill>
                      <a:srgbClr val="F3F6FB"/>
                    </a:solidFill>
                  </a:tcPr>
                </a:tc>
                <a:tc>
                  <a:txBody>
                    <a:bodyPr/>
                    <a:lstStyle/>
                    <a:p>
                      <a:r>
                        <a:rPr sz="1650" b="0">
                          <a:solidFill>
                            <a:srgbClr val="15181F"/>
                          </a:solidFill>
                          <a:latin typeface="Cairo"/>
                          <a:ea typeface="Cairo"/>
                          <a:cs typeface="Cairo"/>
                        </a:rPr>
                        <a:t>1</a:t>
                      </a:r>
                    </a:p>
                  </a:txBody>
                  <a:tcPr marL="91440" marR="91440" marT="45720" marB="45720">
                    <a:lnR w="9525">
                      <a:solidFill>
                        <a:srgbClr val="E6EBF2"/>
                      </a:solidFill>
                      <a:prstDash val="solid"/>
                    </a:lnR>
                    <a:lnB w="9525">
                      <a:solidFill>
                        <a:srgbClr val="E6EBF2"/>
                      </a:solidFill>
                      <a:prstDash val="solid"/>
                    </a:lnB>
                    <a:solidFill>
                      <a:srgbClr val="F3F6FB"/>
                    </a:solidFill>
                  </a:tcPr>
                </a:tc>
              </a:tr>
            </a:tbl>
          </a:graphicData>
        </a:graphic>
      </p:graphicFrame>
      <p:sp>
        <p:nvSpPr>
          <p:cNvPr id="6" name="text-3">
            <a:extLst xmlns:a="http://schemas.openxmlformats.org/drawingml/2006/main">
              <a:ext uri="{FF2B5EF4-FFF2-40B4-BE49-F238E27FC236}">
                <a16:creationId xmlns:a16="http://schemas.microsoft.com/office/drawing/2014/main" id="{12D72DF9-CE9C-4954-80E6-425FB1DC717E}"/>
              </a:ext>
            </a:extLst>
          </p:cNvPr>
          <p:cNvSpPr>
            <a:spLocks xmlns:a="http://schemas.openxmlformats.org/drawingml/2006/main" noGrp="1"/>
          </p:cNvSpPr>
          <p:nvPr/>
        </p:nvSpPr>
        <p:spPr>
          <a:xfrm xmlns:a="http://schemas.openxmlformats.org/drawingml/2006/main">
            <a:off x="7905750" y="4857750"/>
            <a:ext cx="37528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2457FF"/>
                </a:solidFill>
                <a:latin typeface="Cairo"/>
                <a:ea typeface="Cairo"/>
                <a:cs typeface="Cairo"/>
              </a:defRPr>
            </a:defPPr>
          </a:lstStyle>
          <a:p xmlns:a="http://schemas.openxmlformats.org/drawingml/2006/main">
            <a:pPr>
              <a:defRPr sz="3000" b="1">
                <a:solidFill>
                  <a:srgbClr val="2457FF"/>
                </a:solidFill>
                <a:latin typeface="Cairo"/>
                <a:ea typeface="Cairo"/>
                <a:cs typeface="Cairo"/>
              </a:defRPr>
            </a:pPr>
            <a:r>
              <a:rPr sz="3000" b="1">
                <a:solidFill>
                  <a:srgbClr val="2457FF"/>
                </a:solidFill>
                <a:latin typeface="Cairo"/>
                <a:ea typeface="Cairo"/>
                <a:cs typeface="Cairo"/>
              </a:rPr>
              <a:t>22 / 710 / 8</a:t>
            </a:r>
          </a:p>
        </p:txBody>
      </p:sp>
      <p:sp>
        <p:nvSpPr>
          <p:cNvPr id="7" name="text-4">
            <a:extLst xmlns:a="http://schemas.openxmlformats.org/drawingml/2006/main">
              <a:ext uri="{FF2B5EF4-FFF2-40B4-BE49-F238E27FC236}">
                <a16:creationId xmlns:a16="http://schemas.microsoft.com/office/drawing/2014/main" id="{0C6D0727-7785-43DB-9A7E-5C37AC6C5783}"/>
              </a:ext>
            </a:extLst>
          </p:cNvPr>
          <p:cNvSpPr>
            <a:spLocks xmlns:a="http://schemas.openxmlformats.org/drawingml/2006/main" noGrp="1"/>
          </p:cNvSpPr>
          <p:nvPr/>
        </p:nvSpPr>
        <p:spPr>
          <a:xfrm xmlns:a="http://schemas.openxmlformats.org/drawingml/2006/main">
            <a:off x="7943850" y="5553075"/>
            <a:ext cx="3667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687182"/>
                </a:solidFill>
                <a:latin typeface="Cairo"/>
                <a:ea typeface="Cairo"/>
                <a:cs typeface="Cairo"/>
              </a:defRPr>
            </a:defPPr>
          </a:lstStyle>
          <a:p xmlns:a="http://schemas.openxmlformats.org/drawingml/2006/main">
            <a:pPr>
              <a:defRPr sz="1875" b="0">
                <a:solidFill>
                  <a:srgbClr val="687182"/>
                </a:solidFill>
                <a:latin typeface="Cairo"/>
                <a:ea typeface="Cairo"/>
                <a:cs typeface="Cairo"/>
              </a:defRPr>
            </a:pPr>
            <a:r>
              <a:rPr sz="1875" b="0">
                <a:solidFill>
                  <a:srgbClr val="687182"/>
                </a:solidFill>
                <a:latin typeface="Cairo"/>
                <a:ea typeface="Cairo"/>
                <a:cs typeface="Cairo"/>
              </a:rPr>
              <a:t>filtered records</a:t>
            </a:r>
          </a:p>
        </p:txBody>
      </p:sp>
    </p:spTree>
    <p:extLst>
      <p:ext uri="{BB962C8B-B14F-4D97-AF65-F5344CB8AC3E}">
        <p14:creationId xmlns:p14="http://schemas.microsoft.com/office/powerpoint/2010/main" val="77118876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7059C69A-4B1B-40EF-B019-F3F51C51BE60}"/>
              </a:ext>
            </a:extLst>
          </p:cNvPr>
          <p:cNvSpPr>
            <a:spLocks xmlns:a="http://schemas.openxmlformats.org/drawingml/2006/main" noGrp="1"/>
          </p:cNvSpPr>
          <p:nvPr/>
        </p:nvSpPr>
        <p:spPr>
          <a:xfrm xmlns:a="http://schemas.openxmlformats.org/drawingml/2006/main">
            <a:off x="533400" y="2571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2457FF"/>
                </a:solidFill>
                <a:latin typeface="Cairo"/>
                <a:ea typeface="Cairo"/>
                <a:cs typeface="Cairo"/>
              </a:defRPr>
            </a:defPPr>
          </a:lstStyle>
          <a:p xmlns:a="http://schemas.openxmlformats.org/drawingml/2006/main">
            <a:pPr>
              <a:defRPr sz="1200" b="1">
                <a:solidFill>
                  <a:srgbClr val="2457FF"/>
                </a:solidFill>
                <a:latin typeface="Cairo"/>
                <a:ea typeface="Cairo"/>
                <a:cs typeface="Cairo"/>
              </a:defRPr>
            </a:pPr>
            <a:r>
              <a:rPr sz="1200" b="1">
                <a:solidFill>
                  <a:srgbClr val="2457FF"/>
                </a:solidFill>
                <a:latin typeface="Cairo"/>
                <a:ea typeface="Cairo"/>
                <a:cs typeface="Cairo"/>
              </a:rPr>
              <a:t>COMPARISON</a:t>
            </a:r>
          </a:p>
        </p:txBody>
      </p:sp>
      <p:sp>
        <p:nvSpPr>
          <p:cNvPr id="2" name="text-1">
            <a:extLst xmlns:a="http://schemas.openxmlformats.org/drawingml/2006/main">
              <a:ext uri="{FF2B5EF4-FFF2-40B4-BE49-F238E27FC236}">
                <a16:creationId xmlns:a16="http://schemas.microsoft.com/office/drawing/2014/main" id="{644381A0-3227-4997-AB19-30ECA1AC35B2}"/>
              </a:ext>
            </a:extLst>
          </p:cNvPr>
          <p:cNvSpPr>
            <a:spLocks xmlns:a="http://schemas.openxmlformats.org/drawingml/2006/main" noGrp="1"/>
          </p:cNvSpPr>
          <p:nvPr/>
        </p:nvSpPr>
        <p:spPr>
          <a:xfrm xmlns:a="http://schemas.openxmlformats.org/drawingml/2006/main">
            <a:off x="533400" y="64770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5181F"/>
                </a:solidFill>
                <a:latin typeface="Cairo"/>
                <a:ea typeface="Cairo"/>
                <a:cs typeface="Cairo"/>
              </a:defRPr>
            </a:defPPr>
          </a:lstStyle>
          <a:p xmlns:a="http://schemas.openxmlformats.org/drawingml/2006/main">
            <a:pPr>
              <a:defRPr sz="3150" b="1">
                <a:solidFill>
                  <a:srgbClr val="15181F"/>
                </a:solidFill>
                <a:latin typeface="Cairo"/>
                <a:ea typeface="Cairo"/>
                <a:cs typeface="Cairo"/>
              </a:defRPr>
            </a:pPr>
            <a:r>
              <a:rPr sz="3150" b="1">
                <a:solidFill>
                  <a:srgbClr val="15181F"/>
                </a:solidFill>
                <a:latin typeface="Cairo"/>
                <a:ea typeface="Cairo"/>
                <a:cs typeface="Cairo"/>
              </a:rPr>
              <a:t>Six exact alleles are shared by all samples</a:t>
            </a:r>
          </a:p>
        </p:txBody>
      </p:sp>
      <p:sp>
        <p:nvSpPr>
          <p:cNvPr id="3" name="text-2">
            <a:extLst xmlns:a="http://schemas.openxmlformats.org/drawingml/2006/main">
              <a:ext uri="{FF2B5EF4-FFF2-40B4-BE49-F238E27FC236}">
                <a16:creationId xmlns:a16="http://schemas.microsoft.com/office/drawing/2014/main" id="{0C2FCD9A-27F5-4B12-AB89-5C83A17AB35F}"/>
              </a:ext>
            </a:extLst>
          </p:cNvPr>
          <p:cNvSpPr>
            <a:spLocks xmlns:a="http://schemas.openxmlformats.org/drawingml/2006/main" noGrp="1"/>
          </p:cNvSpPr>
          <p:nvPr/>
        </p:nvSpPr>
        <p:spPr>
          <a:xfrm xmlns:a="http://schemas.openxmlformats.org/drawingml/2006/main">
            <a:off x="11144250" y="64103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687182"/>
                </a:solidFill>
                <a:latin typeface="Cairo"/>
                <a:ea typeface="Cairo"/>
                <a:cs typeface="Cairo"/>
              </a:defRPr>
            </a:defPPr>
          </a:lstStyle>
          <a:p xmlns:a="http://schemas.openxmlformats.org/drawingml/2006/main">
            <a:pPr>
              <a:defRPr sz="1125" b="0">
                <a:solidFill>
                  <a:srgbClr val="687182"/>
                </a:solidFill>
                <a:latin typeface="Cairo"/>
                <a:ea typeface="Cairo"/>
                <a:cs typeface="Cairo"/>
              </a:defRPr>
            </a:pPr>
            <a:r>
              <a:rPr sz="1125" b="0">
                <a:solidFill>
                  <a:srgbClr val="687182"/>
                </a:solidFill>
                <a:latin typeface="Cairo"/>
                <a:ea typeface="Cairo"/>
                <a:cs typeface="Cairo"/>
              </a:rPr>
              <a:t>09</a:t>
            </a:r>
          </a:p>
        </p:txBody>
      </p:sp>
      <p:sp>
        <p:nvSpPr>
          <p:cNvPr id="4" name="text-3">
            <a:extLst xmlns:a="http://schemas.openxmlformats.org/drawingml/2006/main">
              <a:ext uri="{FF2B5EF4-FFF2-40B4-BE49-F238E27FC236}">
                <a16:creationId xmlns:a16="http://schemas.microsoft.com/office/drawing/2014/main" id="{7C7389D1-1755-4621-87F3-0F1BA52D6DC7}"/>
              </a:ext>
            </a:extLst>
          </p:cNvPr>
          <p:cNvSpPr>
            <a:spLocks xmlns:a="http://schemas.openxmlformats.org/drawingml/2006/main" noGrp="1"/>
          </p:cNvSpPr>
          <p:nvPr/>
        </p:nvSpPr>
        <p:spPr>
          <a:xfrm xmlns:a="http://schemas.openxmlformats.org/drawingml/2006/main">
            <a:off x="533400" y="1685925"/>
            <a:ext cx="24288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925" b="1">
                <a:solidFill>
                  <a:srgbClr val="2457FF"/>
                </a:solidFill>
                <a:latin typeface="Cairo"/>
                <a:ea typeface="Cairo"/>
                <a:cs typeface="Cairo"/>
              </a:defRPr>
            </a:defPPr>
          </a:lstStyle>
          <a:p xmlns:a="http://schemas.openxmlformats.org/drawingml/2006/main">
            <a:pPr>
              <a:defRPr sz="8925" b="1">
                <a:solidFill>
                  <a:srgbClr val="2457FF"/>
                </a:solidFill>
                <a:latin typeface="Cairo"/>
                <a:ea typeface="Cairo"/>
                <a:cs typeface="Cairo"/>
              </a:defRPr>
            </a:pPr>
            <a:r>
              <a:rPr sz="8925" b="1">
                <a:solidFill>
                  <a:srgbClr val="2457FF"/>
                </a:solidFill>
                <a:latin typeface="Cairo"/>
                <a:ea typeface="Cairo"/>
                <a:cs typeface="Cairo"/>
              </a:rPr>
              <a:t>6</a:t>
            </a:r>
          </a:p>
        </p:txBody>
      </p:sp>
      <p:sp>
        <p:nvSpPr>
          <p:cNvPr id="5" name="text-4">
            <a:extLst xmlns:a="http://schemas.openxmlformats.org/drawingml/2006/main">
              <a:ext uri="{FF2B5EF4-FFF2-40B4-BE49-F238E27FC236}">
                <a16:creationId xmlns:a16="http://schemas.microsoft.com/office/drawing/2014/main" id="{8E3B0E55-68CE-40EE-9A76-894FFD298F5C}"/>
              </a:ext>
            </a:extLst>
          </p:cNvPr>
          <p:cNvSpPr>
            <a:spLocks xmlns:a="http://schemas.openxmlformats.org/drawingml/2006/main" noGrp="1"/>
          </p:cNvSpPr>
          <p:nvPr/>
        </p:nvSpPr>
        <p:spPr>
          <a:xfrm xmlns:a="http://schemas.openxmlformats.org/drawingml/2006/main">
            <a:off x="590550" y="3181350"/>
            <a:ext cx="295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15181F"/>
                </a:solidFill>
                <a:latin typeface="Cairo"/>
                <a:ea typeface="Cairo"/>
                <a:cs typeface="Cairo"/>
              </a:defRPr>
            </a:defPPr>
          </a:lstStyle>
          <a:p xmlns:a="http://schemas.openxmlformats.org/drawingml/2006/main">
            <a:pPr>
              <a:defRPr sz="2325" b="1">
                <a:solidFill>
                  <a:srgbClr val="15181F"/>
                </a:solidFill>
                <a:latin typeface="Cairo"/>
                <a:ea typeface="Cairo"/>
                <a:cs typeface="Cairo"/>
              </a:defRPr>
            </a:pPr>
            <a:r>
              <a:rPr sz="2325" b="1">
                <a:solidFill>
                  <a:srgbClr val="15181F"/>
                </a:solidFill>
                <a:latin typeface="Cairo"/>
                <a:ea typeface="Cairo"/>
                <a:cs typeface="Cairo"/>
              </a:rPr>
              <a:t>shared variants</a:t>
            </a:r>
          </a:p>
        </p:txBody>
      </p:sp>
      <p:sp>
        <p:nvSpPr>
          <p:cNvPr id="6" name="text-5">
            <a:extLst xmlns:a="http://schemas.openxmlformats.org/drawingml/2006/main">
              <a:ext uri="{FF2B5EF4-FFF2-40B4-BE49-F238E27FC236}">
                <a16:creationId xmlns:a16="http://schemas.microsoft.com/office/drawing/2014/main" id="{857FA584-0D89-46D1-8216-2B01E0CCECC0}"/>
              </a:ext>
            </a:extLst>
          </p:cNvPr>
          <p:cNvSpPr>
            <a:spLocks xmlns:a="http://schemas.openxmlformats.org/drawingml/2006/main" noGrp="1"/>
          </p:cNvSpPr>
          <p:nvPr/>
        </p:nvSpPr>
        <p:spPr>
          <a:xfrm xmlns:a="http://schemas.openxmlformats.org/drawingml/2006/main">
            <a:off x="590550" y="3971925"/>
            <a:ext cx="2857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687182"/>
                </a:solidFill>
                <a:latin typeface="Cairo"/>
                <a:ea typeface="Cairo"/>
                <a:cs typeface="Cairo"/>
              </a:defRPr>
            </a:defPPr>
          </a:lstStyle>
          <a:p xmlns:a="http://schemas.openxmlformats.org/drawingml/2006/main">
            <a:pPr>
              <a:defRPr sz="1800" b="0">
                <a:solidFill>
                  <a:srgbClr val="687182"/>
                </a:solidFill>
                <a:latin typeface="Cairo"/>
                <a:ea typeface="Cairo"/>
                <a:cs typeface="Cairo"/>
              </a:defRPr>
            </a:pPr>
            <a:r>
              <a:rPr sz="1800" b="0">
                <a:solidFill>
                  <a:srgbClr val="687182"/>
                </a:solidFill>
                <a:latin typeface="Cairo"/>
                <a:ea typeface="Cairo"/>
                <a:cs typeface="Cairo"/>
              </a:rPr>
              <a:t>Pairwise overlap</a:t>
            </a:r>
          </a:p>
          <a:p xmlns:a="http://schemas.openxmlformats.org/drawingml/2006/main">
            <a:pPr>
              <a:defRPr sz="1800" b="0">
                <a:solidFill>
                  <a:srgbClr val="687182"/>
                </a:solidFill>
                <a:latin typeface="Cairo"/>
                <a:ea typeface="Cairo"/>
                <a:cs typeface="Cairo"/>
              </a:defRPr>
            </a:pPr>
            <a:r>
              <a:rPr sz="1800" b="0">
                <a:solidFill>
                  <a:srgbClr val="687182"/>
                </a:solidFill>
                <a:latin typeface="Cairo"/>
                <a:ea typeface="Cairo"/>
                <a:cs typeface="Cairo"/>
              </a:rPr>
              <a:t>4863 / 4866: 19</a:t>
            </a:r>
          </a:p>
          <a:p xmlns:a="http://schemas.openxmlformats.org/drawingml/2006/main">
            <a:pPr>
              <a:defRPr sz="1800" b="0">
                <a:solidFill>
                  <a:srgbClr val="687182"/>
                </a:solidFill>
                <a:latin typeface="Cairo"/>
                <a:ea typeface="Cairo"/>
                <a:cs typeface="Cairo"/>
              </a:defRPr>
            </a:pPr>
            <a:r>
              <a:rPr sz="1800" b="0">
                <a:solidFill>
                  <a:srgbClr val="687182"/>
                </a:solidFill>
                <a:latin typeface="Cairo"/>
                <a:ea typeface="Cairo"/>
                <a:cs typeface="Cairo"/>
              </a:rPr>
              <a:t>4863 / 9044: 6</a:t>
            </a:r>
          </a:p>
          <a:p xmlns:a="http://schemas.openxmlformats.org/drawingml/2006/main">
            <a:pPr>
              <a:defRPr sz="1800" b="0">
                <a:solidFill>
                  <a:srgbClr val="687182"/>
                </a:solidFill>
                <a:latin typeface="Cairo"/>
                <a:ea typeface="Cairo"/>
                <a:cs typeface="Cairo"/>
              </a:defRPr>
            </a:pPr>
            <a:r>
              <a:rPr sz="1800" b="0">
                <a:solidFill>
                  <a:srgbClr val="687182"/>
                </a:solidFill>
                <a:latin typeface="Cairo"/>
                <a:ea typeface="Cairo"/>
                <a:cs typeface="Cairo"/>
              </a:rPr>
              <a:t>4866 / 9044: 6</a:t>
            </a:r>
          </a:p>
        </p:txBody>
      </p:sp>
      <p:graphicFrame>
        <p:nvGraphicFramePr>
          <p:cNvPr id="7" name="">
            <a:extLst xmlns:a="http://schemas.openxmlformats.org/drawingml/2006/main">
              <a:ext uri="{FF2B5EF4-FFF2-40B4-BE49-F238E27FC236}">
                <a16:creationId xmlns:a16="http://schemas.microsoft.com/office/drawing/2014/main" id="{E82CD40A-B513-429E-8DF9-59C2A4CB7C2D}"/>
              </a:ext>
            </a:extLst>
          </p:cNvPr>
          <p:cNvGraphicFramePr/>
          <p:nvPr/>
        </p:nvGraphicFramePr>
        <p:xfrm>
          <a:off xmlns:a="http://schemas.openxmlformats.org/drawingml/2006/main" x="3981450" y="1809750"/>
          <a:ext xmlns:a="http://schemas.openxmlformats.org/drawingml/2006/main" cx="7677150" cy="3619500"/>
        </p:xfrm>
        <a:graphic xmlns:a="http://schemas.openxmlformats.org/drawingml/2006/main">
          <a:graphicData uri="http://schemas.openxmlformats.org/drawingml/2006/table">
            <a:tbl>
              <a:tblPr/>
              <a:tblGrid>
                <a:gridCol w="2381250"/>
                <a:gridCol w="1428750"/>
                <a:gridCol w="1524000"/>
                <a:gridCol w="2343150"/>
              </a:tblGrid>
              <a:tr h="517071">
                <a:tc>
                  <a:txBody>
                    <a:bodyPr/>
                    <a:lstStyle/>
                    <a:p>
                      <a:r>
                        <a:rPr sz="1875" b="1">
                          <a:solidFill>
                            <a:srgbClr val="FFFFFF"/>
                          </a:solidFill>
                          <a:latin typeface="Cairo"/>
                          <a:ea typeface="Cairo"/>
                          <a:cs typeface="Cairo"/>
                        </a:rPr>
                        <a:t>Position</a:t>
                      </a:r>
                    </a:p>
                  </a:txBody>
                  <a:tcPr marL="91440" marR="91440" marT="45720" marB="45720">
                    <a:lnL w="9525">
                      <a:solidFill>
                        <a:srgbClr val="E6EBF2"/>
                      </a:solidFill>
                      <a:prstDash val="solid"/>
                    </a:lnL>
                    <a:lnR w="9525">
                      <a:solidFill>
                        <a:srgbClr val="E6EBF2"/>
                      </a:solidFill>
                      <a:prstDash val="solid"/>
                    </a:lnR>
                    <a:lnT w="9525">
                      <a:solidFill>
                        <a:srgbClr val="E6EBF2"/>
                      </a:solidFill>
                      <a:prstDash val="solid"/>
                    </a:lnT>
                    <a:lnB w="9525">
                      <a:solidFill>
                        <a:srgbClr val="E6EBF2"/>
                      </a:solidFill>
                      <a:prstDash val="solid"/>
                    </a:lnB>
                    <a:solidFill>
                      <a:srgbClr val="15181F"/>
                    </a:solidFill>
                  </a:tcPr>
                </a:tc>
                <a:tc>
                  <a:txBody>
                    <a:bodyPr/>
                    <a:lstStyle/>
                    <a:p>
                      <a:r>
                        <a:rPr sz="1875" b="1">
                          <a:solidFill>
                            <a:srgbClr val="FFFFFF"/>
                          </a:solidFill>
                          <a:latin typeface="Cairo"/>
                          <a:ea typeface="Cairo"/>
                          <a:cs typeface="Cairo"/>
                        </a:rPr>
                        <a:t>REF</a:t>
                      </a:r>
                    </a:p>
                  </a:txBody>
                  <a:tcPr marL="91440" marR="91440" marT="45720" marB="45720">
                    <a:lnR w="9525">
                      <a:solidFill>
                        <a:srgbClr val="E6EBF2"/>
                      </a:solidFill>
                      <a:prstDash val="solid"/>
                    </a:lnR>
                    <a:lnT w="9525">
                      <a:solidFill>
                        <a:srgbClr val="E6EBF2"/>
                      </a:solidFill>
                      <a:prstDash val="solid"/>
                    </a:lnT>
                    <a:lnB w="9525">
                      <a:solidFill>
                        <a:srgbClr val="E6EBF2"/>
                      </a:solidFill>
                      <a:prstDash val="solid"/>
                    </a:lnB>
                    <a:solidFill>
                      <a:srgbClr val="15181F"/>
                    </a:solidFill>
                  </a:tcPr>
                </a:tc>
                <a:tc>
                  <a:txBody>
                    <a:bodyPr/>
                    <a:lstStyle/>
                    <a:p>
                      <a:r>
                        <a:rPr sz="1875" b="1">
                          <a:solidFill>
                            <a:srgbClr val="FFFFFF"/>
                          </a:solidFill>
                          <a:latin typeface="Cairo"/>
                          <a:ea typeface="Cairo"/>
                          <a:cs typeface="Cairo"/>
                        </a:rPr>
                        <a:t>ALT</a:t>
                      </a:r>
                    </a:p>
                  </a:txBody>
                  <a:tcPr marL="91440" marR="91440" marT="45720" marB="45720">
                    <a:lnR w="9525">
                      <a:solidFill>
                        <a:srgbClr val="E6EBF2"/>
                      </a:solidFill>
                      <a:prstDash val="solid"/>
                    </a:lnR>
                    <a:lnT w="9525">
                      <a:solidFill>
                        <a:srgbClr val="E6EBF2"/>
                      </a:solidFill>
                      <a:prstDash val="solid"/>
                    </a:lnT>
                    <a:lnB w="9525">
                      <a:solidFill>
                        <a:srgbClr val="E6EBF2"/>
                      </a:solidFill>
                      <a:prstDash val="solid"/>
                    </a:lnB>
                    <a:solidFill>
                      <a:srgbClr val="15181F"/>
                    </a:solidFill>
                  </a:tcPr>
                </a:tc>
                <a:tc>
                  <a:txBody>
                    <a:bodyPr/>
                    <a:lstStyle/>
                    <a:p>
                      <a:r>
                        <a:rPr sz="1875" b="1">
                          <a:solidFill>
                            <a:srgbClr val="FFFFFF"/>
                          </a:solidFill>
                          <a:latin typeface="Cairo"/>
                          <a:ea typeface="Cairo"/>
                          <a:cs typeface="Cairo"/>
                        </a:rPr>
                        <a:t>Gene</a:t>
                      </a:r>
                    </a:p>
                  </a:txBody>
                  <a:tcPr marL="91440" marR="91440" marT="45720" marB="45720">
                    <a:lnR w="9525">
                      <a:solidFill>
                        <a:srgbClr val="E6EBF2"/>
                      </a:solidFill>
                      <a:prstDash val="solid"/>
                    </a:lnR>
                    <a:lnT w="9525">
                      <a:solidFill>
                        <a:srgbClr val="E6EBF2"/>
                      </a:solidFill>
                      <a:prstDash val="solid"/>
                    </a:lnT>
                    <a:lnB w="9525">
                      <a:solidFill>
                        <a:srgbClr val="E6EBF2"/>
                      </a:solidFill>
                      <a:prstDash val="solid"/>
                    </a:lnB>
                    <a:solidFill>
                      <a:srgbClr val="15181F"/>
                    </a:solidFill>
                  </a:tcPr>
                </a:tc>
              </a:tr>
              <a:tr h="517071">
                <a:tc>
                  <a:txBody>
                    <a:bodyPr/>
                    <a:lstStyle/>
                    <a:p>
                      <a:r>
                        <a:rPr sz="1875" b="0">
                          <a:solidFill>
                            <a:srgbClr val="15181F"/>
                          </a:solidFill>
                          <a:latin typeface="Cairo"/>
                          <a:ea typeface="Cairo"/>
                          <a:cs typeface="Cairo"/>
                        </a:rPr>
                        <a:t>648692</a:t>
                      </a:r>
                    </a:p>
                  </a:txBody>
                  <a:tcPr marL="91440" marR="91440" marT="45720" marB="45720">
                    <a:lnL w="9525">
                      <a:solidFill>
                        <a:srgbClr val="E6EBF2"/>
                      </a:solidFill>
                      <a:prstDash val="solid"/>
                    </a:lnL>
                    <a:lnR w="9525">
                      <a:solidFill>
                        <a:srgbClr val="E6EBF2"/>
                      </a:solidFill>
                      <a:prstDash val="solid"/>
                    </a:lnR>
                    <a:lnB w="9525">
                      <a:solidFill>
                        <a:srgbClr val="E6EBF2"/>
                      </a:solidFill>
                      <a:prstDash val="solid"/>
                    </a:lnB>
                    <a:solidFill>
                      <a:srgbClr val="F3F6FB"/>
                    </a:solidFill>
                  </a:tcPr>
                </a:tc>
                <a:tc>
                  <a:txBody>
                    <a:bodyPr/>
                    <a:lstStyle/>
                    <a:p>
                      <a:r>
                        <a:rPr sz="1875" b="0">
                          <a:solidFill>
                            <a:srgbClr val="15181F"/>
                          </a:solidFill>
                          <a:latin typeface="Cairo"/>
                          <a:ea typeface="Cairo"/>
                          <a:cs typeface="Cairo"/>
                        </a:rPr>
                        <a:t>C</a:t>
                      </a:r>
                    </a:p>
                  </a:txBody>
                  <a:tcPr marL="91440" marR="91440" marT="45720" marB="45720">
                    <a:lnR w="9525">
                      <a:solidFill>
                        <a:srgbClr val="E6EBF2"/>
                      </a:solidFill>
                      <a:prstDash val="solid"/>
                    </a:lnR>
                    <a:lnB w="9525">
                      <a:solidFill>
                        <a:srgbClr val="E6EBF2"/>
                      </a:solidFill>
                      <a:prstDash val="solid"/>
                    </a:lnB>
                    <a:solidFill>
                      <a:srgbClr val="F3F6FB"/>
                    </a:solidFill>
                  </a:tcPr>
                </a:tc>
                <a:tc>
                  <a:txBody>
                    <a:bodyPr/>
                    <a:lstStyle/>
                    <a:p>
                      <a:r>
                        <a:rPr sz="1875" b="0">
                          <a:solidFill>
                            <a:srgbClr val="15181F"/>
                          </a:solidFill>
                          <a:latin typeface="Cairo"/>
                          <a:ea typeface="Cairo"/>
                          <a:cs typeface="Cairo"/>
                        </a:rPr>
                        <a:t>T</a:t>
                      </a:r>
                    </a:p>
                  </a:txBody>
                  <a:tcPr marL="91440" marR="91440" marT="45720" marB="45720">
                    <a:lnR w="9525">
                      <a:solidFill>
                        <a:srgbClr val="E6EBF2"/>
                      </a:solidFill>
                      <a:prstDash val="solid"/>
                    </a:lnR>
                    <a:lnB w="9525">
                      <a:solidFill>
                        <a:srgbClr val="E6EBF2"/>
                      </a:solidFill>
                      <a:prstDash val="solid"/>
                    </a:lnB>
                    <a:solidFill>
                      <a:srgbClr val="F3F6FB"/>
                    </a:solidFill>
                  </a:tcPr>
                </a:tc>
                <a:tc>
                  <a:txBody>
                    <a:bodyPr/>
                    <a:lstStyle/>
                    <a:p>
                      <a:r>
                        <a:rPr sz="1875" b="0">
                          <a:solidFill>
                            <a:srgbClr val="15181F"/>
                          </a:solidFill>
                          <a:latin typeface="Cairo"/>
                          <a:ea typeface="Cairo"/>
                          <a:cs typeface="Cairo"/>
                        </a:rPr>
                        <a:t>mrdB</a:t>
                      </a:r>
                    </a:p>
                  </a:txBody>
                  <a:tcPr marL="91440" marR="91440" marT="45720" marB="45720">
                    <a:lnR w="9525">
                      <a:solidFill>
                        <a:srgbClr val="E6EBF2"/>
                      </a:solidFill>
                      <a:prstDash val="solid"/>
                    </a:lnR>
                    <a:lnB w="9525">
                      <a:solidFill>
                        <a:srgbClr val="E6EBF2"/>
                      </a:solidFill>
                      <a:prstDash val="solid"/>
                    </a:lnB>
                    <a:solidFill>
                      <a:srgbClr val="F3F6FB"/>
                    </a:solidFill>
                  </a:tcPr>
                </a:tc>
              </a:tr>
              <a:tr h="517071">
                <a:tc>
                  <a:txBody>
                    <a:bodyPr/>
                    <a:lstStyle/>
                    <a:p>
                      <a:r>
                        <a:rPr sz="1875" b="0">
                          <a:solidFill>
                            <a:srgbClr val="15181F"/>
                          </a:solidFill>
                          <a:latin typeface="Cairo"/>
                          <a:ea typeface="Cairo"/>
                          <a:cs typeface="Cairo"/>
                        </a:rPr>
                        <a:t>1331794</a:t>
                      </a:r>
                    </a:p>
                  </a:txBody>
                  <a:tcPr marL="91440" marR="91440" marT="45720" marB="45720">
                    <a:lnL w="9525">
                      <a:solidFill>
                        <a:srgbClr val="E6EBF2"/>
                      </a:solidFill>
                      <a:prstDash val="solid"/>
                    </a:lnL>
                    <a:lnR w="9525">
                      <a:solidFill>
                        <a:srgbClr val="E6EBF2"/>
                      </a:solidFill>
                      <a:prstDash val="solid"/>
                    </a:lnR>
                    <a:lnB w="9525">
                      <a:solidFill>
                        <a:srgbClr val="E6EBF2"/>
                      </a:solidFill>
                      <a:prstDash val="solid"/>
                    </a:lnB>
                    <a:solidFill>
                      <a:srgbClr val="FFFFFF"/>
                    </a:solidFill>
                  </a:tcPr>
                </a:tc>
                <a:tc>
                  <a:txBody>
                    <a:bodyPr/>
                    <a:lstStyle/>
                    <a:p>
                      <a:r>
                        <a:rPr sz="1875" b="0">
                          <a:solidFill>
                            <a:srgbClr val="15181F"/>
                          </a:solidFill>
                          <a:latin typeface="Cairo"/>
                          <a:ea typeface="Cairo"/>
                          <a:cs typeface="Cairo"/>
                        </a:rPr>
                        <a:t>C</a:t>
                      </a:r>
                    </a:p>
                  </a:txBody>
                  <a:tcPr marL="91440" marR="91440" marT="45720" marB="45720">
                    <a:lnR w="9525">
                      <a:solidFill>
                        <a:srgbClr val="E6EBF2"/>
                      </a:solidFill>
                      <a:prstDash val="solid"/>
                    </a:lnR>
                    <a:lnB w="9525">
                      <a:solidFill>
                        <a:srgbClr val="E6EBF2"/>
                      </a:solidFill>
                      <a:prstDash val="solid"/>
                    </a:lnB>
                    <a:solidFill>
                      <a:srgbClr val="FFFFFF"/>
                    </a:solidFill>
                  </a:tcPr>
                </a:tc>
                <a:tc>
                  <a:txBody>
                    <a:bodyPr/>
                    <a:lstStyle/>
                    <a:p>
                      <a:r>
                        <a:rPr sz="1875" b="0">
                          <a:solidFill>
                            <a:srgbClr val="15181F"/>
                          </a:solidFill>
                          <a:latin typeface="Cairo"/>
                          <a:ea typeface="Cairo"/>
                          <a:cs typeface="Cairo"/>
                        </a:rPr>
                        <a:t>A</a:t>
                      </a:r>
                    </a:p>
                  </a:txBody>
                  <a:tcPr marL="91440" marR="91440" marT="45720" marB="45720">
                    <a:lnR w="9525">
                      <a:solidFill>
                        <a:srgbClr val="E6EBF2"/>
                      </a:solidFill>
                      <a:prstDash val="solid"/>
                    </a:lnR>
                    <a:lnB w="9525">
                      <a:solidFill>
                        <a:srgbClr val="E6EBF2"/>
                      </a:solidFill>
                      <a:prstDash val="solid"/>
                    </a:lnB>
                    <a:solidFill>
                      <a:srgbClr val="FFFFFF"/>
                    </a:solidFill>
                  </a:tcPr>
                </a:tc>
                <a:tc>
                  <a:txBody>
                    <a:bodyPr/>
                    <a:lstStyle/>
                    <a:p>
                      <a:r>
                        <a:rPr sz="1875" b="0">
                          <a:solidFill>
                            <a:srgbClr val="15181F"/>
                          </a:solidFill>
                          <a:latin typeface="Cairo"/>
                          <a:ea typeface="Cairo"/>
                          <a:cs typeface="Cairo"/>
                        </a:rPr>
                        <a:t>topA</a:t>
                      </a:r>
                    </a:p>
                  </a:txBody>
                  <a:tcPr marL="91440" marR="91440" marT="45720" marB="45720">
                    <a:lnR w="9525">
                      <a:solidFill>
                        <a:srgbClr val="E6EBF2"/>
                      </a:solidFill>
                      <a:prstDash val="solid"/>
                    </a:lnR>
                    <a:lnB w="9525">
                      <a:solidFill>
                        <a:srgbClr val="E6EBF2"/>
                      </a:solidFill>
                      <a:prstDash val="solid"/>
                    </a:lnB>
                    <a:solidFill>
                      <a:srgbClr val="FFFFFF"/>
                    </a:solidFill>
                  </a:tcPr>
                </a:tc>
              </a:tr>
              <a:tr h="517071">
                <a:tc>
                  <a:txBody>
                    <a:bodyPr/>
                    <a:lstStyle/>
                    <a:p>
                      <a:r>
                        <a:rPr sz="1875" b="0">
                          <a:solidFill>
                            <a:srgbClr val="15181F"/>
                          </a:solidFill>
                          <a:latin typeface="Cairo"/>
                          <a:ea typeface="Cairo"/>
                          <a:cs typeface="Cairo"/>
                        </a:rPr>
                        <a:t>1733343</a:t>
                      </a:r>
                    </a:p>
                  </a:txBody>
                  <a:tcPr marL="91440" marR="91440" marT="45720" marB="45720">
                    <a:lnL w="9525">
                      <a:solidFill>
                        <a:srgbClr val="E6EBF2"/>
                      </a:solidFill>
                      <a:prstDash val="solid"/>
                    </a:lnL>
                    <a:lnR w="9525">
                      <a:solidFill>
                        <a:srgbClr val="E6EBF2"/>
                      </a:solidFill>
                      <a:prstDash val="solid"/>
                    </a:lnR>
                    <a:lnB w="9525">
                      <a:solidFill>
                        <a:srgbClr val="E6EBF2"/>
                      </a:solidFill>
                      <a:prstDash val="solid"/>
                    </a:lnB>
                    <a:solidFill>
                      <a:srgbClr val="F3F6FB"/>
                    </a:solidFill>
                  </a:tcPr>
                </a:tc>
                <a:tc>
                  <a:txBody>
                    <a:bodyPr/>
                    <a:lstStyle/>
                    <a:p>
                      <a:r>
                        <a:rPr sz="1875" b="0">
                          <a:solidFill>
                            <a:srgbClr val="15181F"/>
                          </a:solidFill>
                          <a:latin typeface="Cairo"/>
                          <a:ea typeface="Cairo"/>
                          <a:cs typeface="Cairo"/>
                        </a:rPr>
                        <a:t>G</a:t>
                      </a:r>
                    </a:p>
                  </a:txBody>
                  <a:tcPr marL="91440" marR="91440" marT="45720" marB="45720">
                    <a:lnR w="9525">
                      <a:solidFill>
                        <a:srgbClr val="E6EBF2"/>
                      </a:solidFill>
                      <a:prstDash val="solid"/>
                    </a:lnR>
                    <a:lnB w="9525">
                      <a:solidFill>
                        <a:srgbClr val="E6EBF2"/>
                      </a:solidFill>
                      <a:prstDash val="solid"/>
                    </a:lnB>
                    <a:solidFill>
                      <a:srgbClr val="F3F6FB"/>
                    </a:solidFill>
                  </a:tcPr>
                </a:tc>
                <a:tc>
                  <a:txBody>
                    <a:bodyPr/>
                    <a:lstStyle/>
                    <a:p>
                      <a:r>
                        <a:rPr sz="1875" b="0">
                          <a:solidFill>
                            <a:srgbClr val="15181F"/>
                          </a:solidFill>
                          <a:latin typeface="Cairo"/>
                          <a:ea typeface="Cairo"/>
                          <a:cs typeface="Cairo"/>
                        </a:rPr>
                        <a:t>A</a:t>
                      </a:r>
                    </a:p>
                  </a:txBody>
                  <a:tcPr marL="91440" marR="91440" marT="45720" marB="45720">
                    <a:lnR w="9525">
                      <a:solidFill>
                        <a:srgbClr val="E6EBF2"/>
                      </a:solidFill>
                      <a:prstDash val="solid"/>
                    </a:lnR>
                    <a:lnB w="9525">
                      <a:solidFill>
                        <a:srgbClr val="E6EBF2"/>
                      </a:solidFill>
                      <a:prstDash val="solid"/>
                    </a:lnB>
                    <a:solidFill>
                      <a:srgbClr val="F3F6FB"/>
                    </a:solidFill>
                  </a:tcPr>
                </a:tc>
                <a:tc>
                  <a:txBody>
                    <a:bodyPr/>
                    <a:lstStyle/>
                    <a:p>
                      <a:r>
                        <a:rPr sz="1875" b="0">
                          <a:solidFill>
                            <a:srgbClr val="15181F"/>
                          </a:solidFill>
                          <a:latin typeface="Cairo"/>
                          <a:ea typeface="Cairo"/>
                          <a:cs typeface="Cairo"/>
                        </a:rPr>
                        <a:t>pykF</a:t>
                      </a:r>
                    </a:p>
                  </a:txBody>
                  <a:tcPr marL="91440" marR="91440" marT="45720" marB="45720">
                    <a:lnR w="9525">
                      <a:solidFill>
                        <a:srgbClr val="E6EBF2"/>
                      </a:solidFill>
                      <a:prstDash val="solid"/>
                    </a:lnR>
                    <a:lnB w="9525">
                      <a:solidFill>
                        <a:srgbClr val="E6EBF2"/>
                      </a:solidFill>
                      <a:prstDash val="solid"/>
                    </a:lnB>
                    <a:solidFill>
                      <a:srgbClr val="F3F6FB"/>
                    </a:solidFill>
                  </a:tcPr>
                </a:tc>
              </a:tr>
              <a:tr h="517071">
                <a:tc>
                  <a:txBody>
                    <a:bodyPr/>
                    <a:lstStyle/>
                    <a:p>
                      <a:r>
                        <a:rPr sz="1875" b="0">
                          <a:solidFill>
                            <a:srgbClr val="15181F"/>
                          </a:solidFill>
                          <a:latin typeface="Cairo"/>
                          <a:ea typeface="Cairo"/>
                          <a:cs typeface="Cairo"/>
                        </a:rPr>
                        <a:t>3481820</a:t>
                      </a:r>
                    </a:p>
                  </a:txBody>
                  <a:tcPr marL="91440" marR="91440" marT="45720" marB="45720">
                    <a:lnL w="9525">
                      <a:solidFill>
                        <a:srgbClr val="E6EBF2"/>
                      </a:solidFill>
                      <a:prstDash val="solid"/>
                    </a:lnL>
                    <a:lnR w="9525">
                      <a:solidFill>
                        <a:srgbClr val="E6EBF2"/>
                      </a:solidFill>
                      <a:prstDash val="solid"/>
                    </a:lnR>
                    <a:lnB w="9525">
                      <a:solidFill>
                        <a:srgbClr val="E6EBF2"/>
                      </a:solidFill>
                      <a:prstDash val="solid"/>
                    </a:lnB>
                    <a:solidFill>
                      <a:srgbClr val="FFFFFF"/>
                    </a:solidFill>
                  </a:tcPr>
                </a:tc>
                <a:tc>
                  <a:txBody>
                    <a:bodyPr/>
                    <a:lstStyle/>
                    <a:p>
                      <a:r>
                        <a:rPr sz="1875" b="0">
                          <a:solidFill>
                            <a:srgbClr val="15181F"/>
                          </a:solidFill>
                          <a:latin typeface="Cairo"/>
                          <a:ea typeface="Cairo"/>
                          <a:cs typeface="Cairo"/>
                        </a:rPr>
                        <a:t>A</a:t>
                      </a:r>
                    </a:p>
                  </a:txBody>
                  <a:tcPr marL="91440" marR="91440" marT="45720" marB="45720">
                    <a:lnR w="9525">
                      <a:solidFill>
                        <a:srgbClr val="E6EBF2"/>
                      </a:solidFill>
                      <a:prstDash val="solid"/>
                    </a:lnR>
                    <a:lnB w="9525">
                      <a:solidFill>
                        <a:srgbClr val="E6EBF2"/>
                      </a:solidFill>
                      <a:prstDash val="solid"/>
                    </a:lnB>
                    <a:solidFill>
                      <a:srgbClr val="FFFFFF"/>
                    </a:solidFill>
                  </a:tcPr>
                </a:tc>
                <a:tc>
                  <a:txBody>
                    <a:bodyPr/>
                    <a:lstStyle/>
                    <a:p>
                      <a:r>
                        <a:rPr sz="1875" b="0">
                          <a:solidFill>
                            <a:srgbClr val="15181F"/>
                          </a:solidFill>
                          <a:latin typeface="Cairo"/>
                          <a:ea typeface="Cairo"/>
                          <a:cs typeface="Cairo"/>
                        </a:rPr>
                        <a:t>G</a:t>
                      </a:r>
                    </a:p>
                  </a:txBody>
                  <a:tcPr marL="91440" marR="91440" marT="45720" marB="45720">
                    <a:lnR w="9525">
                      <a:solidFill>
                        <a:srgbClr val="E6EBF2"/>
                      </a:solidFill>
                      <a:prstDash val="solid"/>
                    </a:lnR>
                    <a:lnB w="9525">
                      <a:solidFill>
                        <a:srgbClr val="E6EBF2"/>
                      </a:solidFill>
                      <a:prstDash val="solid"/>
                    </a:lnB>
                    <a:solidFill>
                      <a:srgbClr val="FFFFFF"/>
                    </a:solidFill>
                  </a:tcPr>
                </a:tc>
                <a:tc>
                  <a:txBody>
                    <a:bodyPr/>
                    <a:lstStyle/>
                    <a:p>
                      <a:r>
                        <a:rPr sz="1875" b="0">
                          <a:solidFill>
                            <a:srgbClr val="15181F"/>
                          </a:solidFill>
                          <a:latin typeface="Cairo"/>
                          <a:ea typeface="Cairo"/>
                          <a:cs typeface="Cairo"/>
                        </a:rPr>
                        <a:t>malT</a:t>
                      </a:r>
                    </a:p>
                  </a:txBody>
                  <a:tcPr marL="91440" marR="91440" marT="45720" marB="45720">
                    <a:lnR w="9525">
                      <a:solidFill>
                        <a:srgbClr val="E6EBF2"/>
                      </a:solidFill>
                      <a:prstDash val="solid"/>
                    </a:lnR>
                    <a:lnB w="9525">
                      <a:solidFill>
                        <a:srgbClr val="E6EBF2"/>
                      </a:solidFill>
                      <a:prstDash val="solid"/>
                    </a:lnB>
                    <a:solidFill>
                      <a:srgbClr val="FFFFFF"/>
                    </a:solidFill>
                  </a:tcPr>
                </a:tc>
              </a:tr>
              <a:tr h="517071">
                <a:tc>
                  <a:txBody>
                    <a:bodyPr/>
                    <a:lstStyle/>
                    <a:p>
                      <a:r>
                        <a:rPr sz="1875" b="0">
                          <a:solidFill>
                            <a:srgbClr val="15181F"/>
                          </a:solidFill>
                          <a:latin typeface="Cairo"/>
                          <a:ea typeface="Cairo"/>
                          <a:cs typeface="Cairo"/>
                        </a:rPr>
                        <a:t>4100183</a:t>
                      </a:r>
                    </a:p>
                  </a:txBody>
                  <a:tcPr marL="91440" marR="91440" marT="45720" marB="45720">
                    <a:lnL w="9525">
                      <a:solidFill>
                        <a:srgbClr val="E6EBF2"/>
                      </a:solidFill>
                      <a:prstDash val="solid"/>
                    </a:lnL>
                    <a:lnR w="9525">
                      <a:solidFill>
                        <a:srgbClr val="E6EBF2"/>
                      </a:solidFill>
                      <a:prstDash val="solid"/>
                    </a:lnR>
                    <a:lnB w="9525">
                      <a:solidFill>
                        <a:srgbClr val="E6EBF2"/>
                      </a:solidFill>
                      <a:prstDash val="solid"/>
                    </a:lnB>
                    <a:solidFill>
                      <a:srgbClr val="F3F6FB"/>
                    </a:solidFill>
                  </a:tcPr>
                </a:tc>
                <a:tc>
                  <a:txBody>
                    <a:bodyPr/>
                    <a:lstStyle/>
                    <a:p>
                      <a:r>
                        <a:rPr sz="1875" b="0">
                          <a:solidFill>
                            <a:srgbClr val="15181F"/>
                          </a:solidFill>
                          <a:latin typeface="Cairo"/>
                          <a:ea typeface="Cairo"/>
                          <a:cs typeface="Cairo"/>
                        </a:rPr>
                        <a:t>A</a:t>
                      </a:r>
                    </a:p>
                  </a:txBody>
                  <a:tcPr marL="91440" marR="91440" marT="45720" marB="45720">
                    <a:lnR w="9525">
                      <a:solidFill>
                        <a:srgbClr val="E6EBF2"/>
                      </a:solidFill>
                      <a:prstDash val="solid"/>
                    </a:lnR>
                    <a:lnB w="9525">
                      <a:solidFill>
                        <a:srgbClr val="E6EBF2"/>
                      </a:solidFill>
                      <a:prstDash val="solid"/>
                    </a:lnB>
                    <a:solidFill>
                      <a:srgbClr val="F3F6FB"/>
                    </a:solidFill>
                  </a:tcPr>
                </a:tc>
                <a:tc>
                  <a:txBody>
                    <a:bodyPr/>
                    <a:lstStyle/>
                    <a:p>
                      <a:r>
                        <a:rPr sz="1875" b="0">
                          <a:solidFill>
                            <a:srgbClr val="15181F"/>
                          </a:solidFill>
                          <a:latin typeface="Cairo"/>
                          <a:ea typeface="Cairo"/>
                          <a:cs typeface="Cairo"/>
                        </a:rPr>
                        <a:t>G</a:t>
                      </a:r>
                    </a:p>
                  </a:txBody>
                  <a:tcPr marL="91440" marR="91440" marT="45720" marB="45720">
                    <a:lnR w="9525">
                      <a:solidFill>
                        <a:srgbClr val="E6EBF2"/>
                      </a:solidFill>
                      <a:prstDash val="solid"/>
                    </a:lnR>
                    <a:lnB w="9525">
                      <a:solidFill>
                        <a:srgbClr val="E6EBF2"/>
                      </a:solidFill>
                      <a:prstDash val="solid"/>
                    </a:lnB>
                    <a:solidFill>
                      <a:srgbClr val="F3F6FB"/>
                    </a:solidFill>
                  </a:tcPr>
                </a:tc>
                <a:tc>
                  <a:txBody>
                    <a:bodyPr/>
                    <a:lstStyle/>
                    <a:p>
                      <a:r>
                        <a:rPr sz="1875" b="0">
                          <a:solidFill>
                            <a:srgbClr val="15181F"/>
                          </a:solidFill>
                          <a:latin typeface="Cairo"/>
                          <a:ea typeface="Cairo"/>
                          <a:cs typeface="Cairo"/>
                        </a:rPr>
                        <a:t>hslU</a:t>
                      </a:r>
                    </a:p>
                  </a:txBody>
                  <a:tcPr marL="91440" marR="91440" marT="45720" marB="45720">
                    <a:lnR w="9525">
                      <a:solidFill>
                        <a:srgbClr val="E6EBF2"/>
                      </a:solidFill>
                      <a:prstDash val="solid"/>
                    </a:lnR>
                    <a:lnB w="9525">
                      <a:solidFill>
                        <a:srgbClr val="E6EBF2"/>
                      </a:solidFill>
                      <a:prstDash val="solid"/>
                    </a:lnB>
                    <a:solidFill>
                      <a:srgbClr val="F3F6FB"/>
                    </a:solidFill>
                  </a:tcPr>
                </a:tc>
              </a:tr>
              <a:tr h="517071">
                <a:tc>
                  <a:txBody>
                    <a:bodyPr/>
                    <a:lstStyle/>
                    <a:p>
                      <a:r>
                        <a:rPr sz="1875" b="0">
                          <a:solidFill>
                            <a:srgbClr val="15181F"/>
                          </a:solidFill>
                          <a:latin typeface="Cairo"/>
                          <a:ea typeface="Cairo"/>
                          <a:cs typeface="Cairo"/>
                        </a:rPr>
                        <a:t>4431393</a:t>
                      </a:r>
                    </a:p>
                  </a:txBody>
                  <a:tcPr marL="91440" marR="91440" marT="45720" marB="45720">
                    <a:lnL w="9525">
                      <a:solidFill>
                        <a:srgbClr val="E6EBF2"/>
                      </a:solidFill>
                      <a:prstDash val="solid"/>
                    </a:lnL>
                    <a:lnR w="9525">
                      <a:solidFill>
                        <a:srgbClr val="E6EBF2"/>
                      </a:solidFill>
                      <a:prstDash val="solid"/>
                    </a:lnR>
                    <a:lnB w="9525">
                      <a:solidFill>
                        <a:srgbClr val="E6EBF2"/>
                      </a:solidFill>
                      <a:prstDash val="solid"/>
                    </a:lnB>
                    <a:solidFill>
                      <a:srgbClr val="FFFFFF"/>
                    </a:solidFill>
                  </a:tcPr>
                </a:tc>
                <a:tc>
                  <a:txBody>
                    <a:bodyPr/>
                    <a:lstStyle/>
                    <a:p>
                      <a:r>
                        <a:rPr sz="1875" b="0">
                          <a:solidFill>
                            <a:srgbClr val="15181F"/>
                          </a:solidFill>
                          <a:latin typeface="Cairo"/>
                          <a:ea typeface="Cairo"/>
                          <a:cs typeface="Cairo"/>
                        </a:rPr>
                        <a:t>TGG</a:t>
                      </a:r>
                    </a:p>
                  </a:txBody>
                  <a:tcPr marL="91440" marR="91440" marT="45720" marB="45720">
                    <a:lnR w="9525">
                      <a:solidFill>
                        <a:srgbClr val="E6EBF2"/>
                      </a:solidFill>
                      <a:prstDash val="solid"/>
                    </a:lnR>
                    <a:lnB w="9525">
                      <a:solidFill>
                        <a:srgbClr val="E6EBF2"/>
                      </a:solidFill>
                      <a:prstDash val="solid"/>
                    </a:lnB>
                    <a:solidFill>
                      <a:srgbClr val="FFFFFF"/>
                    </a:solidFill>
                  </a:tcPr>
                </a:tc>
                <a:tc>
                  <a:txBody>
                    <a:bodyPr/>
                    <a:lstStyle/>
                    <a:p>
                      <a:r>
                        <a:rPr sz="1875" b="0">
                          <a:solidFill>
                            <a:srgbClr val="15181F"/>
                          </a:solidFill>
                          <a:latin typeface="Cairo"/>
                          <a:ea typeface="Cairo"/>
                          <a:cs typeface="Cairo"/>
                        </a:rPr>
                        <a:t>T</a:t>
                      </a:r>
                    </a:p>
                  </a:txBody>
                  <a:tcPr marL="91440" marR="91440" marT="45720" marB="45720">
                    <a:lnR w="9525">
                      <a:solidFill>
                        <a:srgbClr val="E6EBF2"/>
                      </a:solidFill>
                      <a:prstDash val="solid"/>
                    </a:lnR>
                    <a:lnB w="9525">
                      <a:solidFill>
                        <a:srgbClr val="E6EBF2"/>
                      </a:solidFill>
                      <a:prstDash val="solid"/>
                    </a:lnB>
                    <a:solidFill>
                      <a:srgbClr val="FFFFFF"/>
                    </a:solidFill>
                  </a:tcPr>
                </a:tc>
                <a:tc>
                  <a:txBody>
                    <a:bodyPr/>
                    <a:lstStyle/>
                    <a:p>
                      <a:r>
                        <a:rPr sz="1875" b="0">
                          <a:solidFill>
                            <a:srgbClr val="15181F"/>
                          </a:solidFill>
                          <a:latin typeface="Cairo"/>
                          <a:ea typeface="Cairo"/>
                          <a:cs typeface="Cairo"/>
                        </a:rPr>
                        <a:t>ytfN</a:t>
                      </a:r>
                    </a:p>
                  </a:txBody>
                  <a:tcPr marL="91440" marR="91440" marT="45720" marB="45720">
                    <a:lnR w="9525">
                      <a:solidFill>
                        <a:srgbClr val="E6EBF2"/>
                      </a:solidFill>
                      <a:prstDash val="solid"/>
                    </a:lnR>
                    <a:lnB w="9525">
                      <a:solidFill>
                        <a:srgbClr val="E6EBF2"/>
                      </a:solidFill>
                      <a:prstDash val="solid"/>
                    </a:lnB>
                    <a:solidFill>
                      <a:srgbClr val="FFFFFF"/>
                    </a:solidFill>
                  </a:tcPr>
                </a:tc>
              </a:tr>
            </a:tbl>
          </a:graphicData>
        </a:graphic>
      </p:graphicFrame>
      <p:sp>
        <p:nvSpPr>
          <p:cNvPr id="8" name="text-6">
            <a:extLst xmlns:a="http://schemas.openxmlformats.org/drawingml/2006/main">
              <a:ext uri="{FF2B5EF4-FFF2-40B4-BE49-F238E27FC236}">
                <a16:creationId xmlns:a16="http://schemas.microsoft.com/office/drawing/2014/main" id="{9E98714D-54D7-480B-B7F7-278C608E0505}"/>
              </a:ext>
            </a:extLst>
          </p:cNvPr>
          <p:cNvSpPr>
            <a:spLocks xmlns:a="http://schemas.openxmlformats.org/drawingml/2006/main" noGrp="1"/>
          </p:cNvSpPr>
          <p:nvPr/>
        </p:nvSpPr>
        <p:spPr>
          <a:xfrm xmlns:a="http://schemas.openxmlformats.org/drawingml/2006/main">
            <a:off x="533400" y="6038850"/>
            <a:ext cx="1112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687182"/>
                </a:solidFill>
                <a:latin typeface="Cairo"/>
                <a:ea typeface="Cairo"/>
                <a:cs typeface="Cairo"/>
              </a:defRPr>
            </a:defPPr>
          </a:lstStyle>
          <a:p xmlns:a="http://schemas.openxmlformats.org/drawingml/2006/main">
            <a:pPr>
              <a:defRPr sz="1275" b="0">
                <a:solidFill>
                  <a:srgbClr val="687182"/>
                </a:solidFill>
                <a:latin typeface="Cairo"/>
                <a:ea typeface="Cairo"/>
                <a:cs typeface="Cairo"/>
              </a:defRPr>
            </a:pPr>
            <a:r>
              <a:rPr sz="1275" b="0">
                <a:solidFill>
                  <a:srgbClr val="687182"/>
                </a:solidFill>
                <a:latin typeface="Cairo"/>
                <a:ea typeface="Cairo"/>
                <a:cs typeface="Cairo"/>
              </a:rPr>
              <a:t>bcftools norm + isec -c none. Unique filtered records: 3 / 691 / 2.</a:t>
            </a:r>
          </a:p>
        </p:txBody>
      </p:sp>
    </p:spTree>
    <p:extLst>
      <p:ext uri="{BB962C8B-B14F-4D97-AF65-F5344CB8AC3E}">
        <p14:creationId xmlns:p14="http://schemas.microsoft.com/office/powerpoint/2010/main" val="123755584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C29B2A5B-AF4C-4B86-B200-DEB1D714857B}"/>
              </a:ext>
            </a:extLst>
          </p:cNvPr>
          <p:cNvSpPr>
            <a:spLocks xmlns:a="http://schemas.openxmlformats.org/drawingml/2006/main" noGrp="1"/>
          </p:cNvSpPr>
          <p:nvPr/>
        </p:nvSpPr>
        <p:spPr>
          <a:xfrm xmlns:a="http://schemas.openxmlformats.org/drawingml/2006/main">
            <a:off x="533400" y="2571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2457FF"/>
                </a:solidFill>
                <a:latin typeface="Cairo"/>
                <a:ea typeface="Cairo"/>
                <a:cs typeface="Cairo"/>
              </a:defRPr>
            </a:defPPr>
          </a:lstStyle>
          <a:p xmlns:a="http://schemas.openxmlformats.org/drawingml/2006/main">
            <a:pPr>
              <a:defRPr sz="1200" b="1">
                <a:solidFill>
                  <a:srgbClr val="2457FF"/>
                </a:solidFill>
                <a:latin typeface="Cairo"/>
                <a:ea typeface="Cairo"/>
                <a:cs typeface="Cairo"/>
              </a:defRPr>
            </a:pPr>
            <a:r>
              <a:rPr sz="1200" b="1">
                <a:solidFill>
                  <a:srgbClr val="2457FF"/>
                </a:solidFill>
                <a:latin typeface="Cairo"/>
                <a:ea typeface="Cairo"/>
                <a:cs typeface="Cairo"/>
              </a:rPr>
              <a:t>IGV EVIDENCE</a:t>
            </a:r>
          </a:p>
        </p:txBody>
      </p:sp>
      <p:sp>
        <p:nvSpPr>
          <p:cNvPr id="2" name="text-1">
            <a:extLst xmlns:a="http://schemas.openxmlformats.org/drawingml/2006/main">
              <a:ext uri="{FF2B5EF4-FFF2-40B4-BE49-F238E27FC236}">
                <a16:creationId xmlns:a16="http://schemas.microsoft.com/office/drawing/2014/main" id="{3B5303B5-0CF8-4782-AD41-276D54EE5AE6}"/>
              </a:ext>
            </a:extLst>
          </p:cNvPr>
          <p:cNvSpPr>
            <a:spLocks xmlns:a="http://schemas.openxmlformats.org/drawingml/2006/main" noGrp="1"/>
          </p:cNvSpPr>
          <p:nvPr/>
        </p:nvSpPr>
        <p:spPr>
          <a:xfrm xmlns:a="http://schemas.openxmlformats.org/drawingml/2006/main">
            <a:off x="533400" y="64770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5181F"/>
                </a:solidFill>
                <a:latin typeface="Cairo"/>
                <a:ea typeface="Cairo"/>
                <a:cs typeface="Cairo"/>
              </a:defRPr>
            </a:defPPr>
          </a:lstStyle>
          <a:p xmlns:a="http://schemas.openxmlformats.org/drawingml/2006/main">
            <a:pPr>
              <a:defRPr sz="3150" b="1">
                <a:solidFill>
                  <a:srgbClr val="15181F"/>
                </a:solidFill>
                <a:latin typeface="Cairo"/>
                <a:ea typeface="Cairo"/>
                <a:cs typeface="Cairo"/>
              </a:defRPr>
            </a:pPr>
            <a:r>
              <a:rPr sz="3150" b="1">
                <a:solidFill>
                  <a:srgbClr val="15181F"/>
                </a:solidFill>
                <a:latin typeface="Cairo"/>
                <a:ea typeface="Cairo"/>
                <a:cs typeface="Cairo"/>
              </a:rPr>
              <a:t>Shared SNP: C to T at 648692</a:t>
            </a:r>
          </a:p>
        </p:txBody>
      </p:sp>
      <p:sp>
        <p:nvSpPr>
          <p:cNvPr id="3" name="text-2">
            <a:extLst xmlns:a="http://schemas.openxmlformats.org/drawingml/2006/main">
              <a:ext uri="{FF2B5EF4-FFF2-40B4-BE49-F238E27FC236}">
                <a16:creationId xmlns:a16="http://schemas.microsoft.com/office/drawing/2014/main" id="{B700BAFF-AABE-4FF8-B691-AE0189A5BA6F}"/>
              </a:ext>
            </a:extLst>
          </p:cNvPr>
          <p:cNvSpPr>
            <a:spLocks xmlns:a="http://schemas.openxmlformats.org/drawingml/2006/main" noGrp="1"/>
          </p:cNvSpPr>
          <p:nvPr/>
        </p:nvSpPr>
        <p:spPr>
          <a:xfrm xmlns:a="http://schemas.openxmlformats.org/drawingml/2006/main">
            <a:off x="11144250" y="64103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687182"/>
                </a:solidFill>
                <a:latin typeface="Cairo"/>
                <a:ea typeface="Cairo"/>
                <a:cs typeface="Cairo"/>
              </a:defRPr>
            </a:defPPr>
          </a:lstStyle>
          <a:p xmlns:a="http://schemas.openxmlformats.org/drawingml/2006/main">
            <a:pPr>
              <a:defRPr sz="1125" b="0">
                <a:solidFill>
                  <a:srgbClr val="687182"/>
                </a:solidFill>
                <a:latin typeface="Cairo"/>
                <a:ea typeface="Cairo"/>
                <a:cs typeface="Cairo"/>
              </a:defRPr>
            </a:pPr>
            <a:r>
              <a:rPr sz="1125" b="0">
                <a:solidFill>
                  <a:srgbClr val="687182"/>
                </a:solidFill>
                <a:latin typeface="Cairo"/>
                <a:ea typeface="Cairo"/>
                <a:cs typeface="Cairo"/>
              </a:rPr>
              <a:t>10</a:t>
            </a:r>
          </a:p>
        </p:txBody>
      </p:sp>
      <p:pic>
        <p:nvPicPr>
          <p:cNvPr id="4" name="">
            <a:extLst xmlns:a="http://schemas.openxmlformats.org/drawingml/2006/main">
              <a:ext uri="{FF2B5EF4-FFF2-40B4-BE49-F238E27FC236}">
                <a16:creationId xmlns:a16="http://schemas.microsoft.com/office/drawing/2014/main" id="{3B3C5501-6C13-49B5-A904-D92DDD90B872}"/>
              </a:ext>
            </a:extLst>
          </p:cNvPr>
          <p:cNvPicPr>
            <a:picLocks xmlns:a="http://schemas.openxmlformats.org/drawingml/2006/main" noChangeAspect="1"/>
          </p:cNvPicPr>
          <p:nvPr/>
        </p:nvPicPr>
        <p:blipFill>
          <a:blip xmlns:r="http://schemas.openxmlformats.org/officeDocument/2006/relationships" xmlns:a="http://schemas.openxmlformats.org/drawingml/2006/main" r:embed="R479233bacf184c73"/>
          <a:stretch xmlns:a="http://schemas.openxmlformats.org/drawingml/2006/main"/>
        </p:blipFill>
        <p:spPr>
          <a:xfrm xmlns:a="http://schemas.openxmlformats.org/drawingml/2006/main">
            <a:off x="1334596" y="1647825"/>
            <a:ext cx="7446357" cy="409575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B9E536EC-CC32-465B-BA06-EBE6895C3EAF}"/>
              </a:ext>
            </a:extLst>
          </p:cNvPr>
          <p:cNvSpPr>
            <a:spLocks xmlns:a="http://schemas.openxmlformats.org/drawingml/2006/main" noGrp="1"/>
          </p:cNvSpPr>
          <p:nvPr/>
        </p:nvSpPr>
        <p:spPr>
          <a:xfrm xmlns:a="http://schemas.openxmlformats.org/drawingml/2006/main">
            <a:off x="9906000" y="189547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2457FF"/>
                </a:solidFill>
                <a:latin typeface="Cairo"/>
                <a:ea typeface="Cairo"/>
                <a:cs typeface="Cairo"/>
              </a:defRPr>
            </a:defPPr>
          </a:lstStyle>
          <a:p xmlns:a="http://schemas.openxmlformats.org/drawingml/2006/main">
            <a:pPr>
              <a:defRPr sz="3225" b="1">
                <a:solidFill>
                  <a:srgbClr val="2457FF"/>
                </a:solidFill>
                <a:latin typeface="Cairo"/>
                <a:ea typeface="Cairo"/>
                <a:cs typeface="Cairo"/>
              </a:defRPr>
            </a:pPr>
            <a:r>
              <a:rPr sz="3225" b="1">
                <a:solidFill>
                  <a:srgbClr val="2457FF"/>
                </a:solidFill>
                <a:latin typeface="Cairo"/>
                <a:ea typeface="Cairo"/>
                <a:cs typeface="Cairo"/>
              </a:rPr>
              <a:t>C → T</a:t>
            </a:r>
          </a:p>
        </p:txBody>
      </p:sp>
      <p:sp>
        <p:nvSpPr>
          <p:cNvPr id="6" name="text-4">
            <a:extLst xmlns:a="http://schemas.openxmlformats.org/drawingml/2006/main">
              <a:ext uri="{FF2B5EF4-FFF2-40B4-BE49-F238E27FC236}">
                <a16:creationId xmlns:a16="http://schemas.microsoft.com/office/drawing/2014/main" id="{0BBF5BAA-34FE-4A8A-81AD-0C0A41A5DD1D}"/>
              </a:ext>
            </a:extLst>
          </p:cNvPr>
          <p:cNvSpPr>
            <a:spLocks xmlns:a="http://schemas.openxmlformats.org/drawingml/2006/main" noGrp="1"/>
          </p:cNvSpPr>
          <p:nvPr/>
        </p:nvSpPr>
        <p:spPr>
          <a:xfrm xmlns:a="http://schemas.openxmlformats.org/drawingml/2006/main">
            <a:off x="9906000" y="3105150"/>
            <a:ext cx="17621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687182"/>
                </a:solidFill>
                <a:latin typeface="Cairo"/>
                <a:ea typeface="Cairo"/>
                <a:cs typeface="Cairo"/>
              </a:defRPr>
            </a:defPPr>
          </a:lstStyle>
          <a:p xmlns:a="http://schemas.openxmlformats.org/drawingml/2006/main">
            <a:pPr>
              <a:defRPr sz="1875" b="0">
                <a:solidFill>
                  <a:srgbClr val="687182"/>
                </a:solidFill>
                <a:latin typeface="Cairo"/>
                <a:ea typeface="Cairo"/>
                <a:cs typeface="Cairo"/>
              </a:defRPr>
            </a:pPr>
            <a:r>
              <a:rPr sz="1875" b="0">
                <a:solidFill>
                  <a:srgbClr val="687182"/>
                </a:solidFill>
                <a:latin typeface="Cairo"/>
                <a:ea typeface="Cairo"/>
                <a:cs typeface="Cairo"/>
              </a:rPr>
              <a:t>Same allele</a:t>
            </a:r>
          </a:p>
          <a:p xmlns:a="http://schemas.openxmlformats.org/drawingml/2006/main">
            <a:pPr>
              <a:defRPr sz="1875" b="0">
                <a:solidFill>
                  <a:srgbClr val="687182"/>
                </a:solidFill>
                <a:latin typeface="Cairo"/>
                <a:ea typeface="Cairo"/>
                <a:cs typeface="Cairo"/>
              </a:defRPr>
            </a:pPr>
            <a:r>
              <a:rPr sz="1875" b="0">
                <a:solidFill>
                  <a:srgbClr val="687182"/>
                </a:solidFill>
                <a:latin typeface="Cairo"/>
                <a:ea typeface="Cairo"/>
                <a:cs typeface="Cairo"/>
              </a:rPr>
              <a:t>in all three</a:t>
            </a:r>
          </a:p>
          <a:p xmlns:a="http://schemas.openxmlformats.org/drawingml/2006/main">
            <a:pPr>
              <a:defRPr sz="1875" b="0">
                <a:solidFill>
                  <a:srgbClr val="687182"/>
                </a:solidFill>
                <a:latin typeface="Cairo"/>
                <a:ea typeface="Cairo"/>
                <a:cs typeface="Cairo"/>
              </a:defRPr>
            </a:pPr>
            <a:r>
              <a:rPr sz="1875" b="0">
                <a:solidFill>
                  <a:srgbClr val="687182"/>
                </a:solidFill>
                <a:latin typeface="Cairo"/>
                <a:ea typeface="Cairo"/>
                <a:cs typeface="Cairo"/>
              </a:rPr>
              <a:t>filtered VCFs</a:t>
            </a:r>
          </a:p>
        </p:txBody>
      </p:sp>
      <p:sp>
        <p:nvSpPr>
          <p:cNvPr id="7" name="text-5">
            <a:extLst xmlns:a="http://schemas.openxmlformats.org/drawingml/2006/main">
              <a:ext uri="{FF2B5EF4-FFF2-40B4-BE49-F238E27FC236}">
                <a16:creationId xmlns:a16="http://schemas.microsoft.com/office/drawing/2014/main" id="{6DCB83A5-B931-4FBA-9410-E8A24DE740F0}"/>
              </a:ext>
            </a:extLst>
          </p:cNvPr>
          <p:cNvSpPr>
            <a:spLocks xmlns:a="http://schemas.openxmlformats.org/drawingml/2006/main" noGrp="1"/>
          </p:cNvSpPr>
          <p:nvPr/>
        </p:nvSpPr>
        <p:spPr>
          <a:xfrm xmlns:a="http://schemas.openxmlformats.org/drawingml/2006/main">
            <a:off x="533400" y="6038850"/>
            <a:ext cx="1112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687182"/>
                </a:solidFill>
                <a:latin typeface="Cairo"/>
                <a:ea typeface="Cairo"/>
                <a:cs typeface="Cairo"/>
              </a:defRPr>
            </a:defPPr>
          </a:lstStyle>
          <a:p xmlns:a="http://schemas.openxmlformats.org/drawingml/2006/main">
            <a:pPr>
              <a:defRPr sz="1275" b="0">
                <a:solidFill>
                  <a:srgbClr val="687182"/>
                </a:solidFill>
                <a:latin typeface="Cairo"/>
                <a:ea typeface="Cairo"/>
                <a:cs typeface="Cairo"/>
              </a:defRPr>
            </a:pPr>
            <a:r>
              <a:rPr sz="1275" b="0">
                <a:solidFill>
                  <a:srgbClr val="687182"/>
                </a:solidFill>
                <a:latin typeface="Cairo"/>
                <a:ea typeface="Cairo"/>
                <a:cs typeface="Cairo"/>
              </a:rPr>
              <a:t>Original IGV evidence. Review read support alongside the VCF call.</a:t>
            </a:r>
          </a:p>
        </p:txBody>
      </p:sp>
    </p:spTree>
    <p:extLst>
      <p:ext uri="{BB962C8B-B14F-4D97-AF65-F5344CB8AC3E}">
        <p14:creationId xmlns:p14="http://schemas.microsoft.com/office/powerpoint/2010/main" val="99689823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2BF6EE9-3D26-4E39-9EDE-4211609D955E}"/>
              </a:ext>
            </a:extLst>
          </p:cNvPr>
          <p:cNvSpPr>
            <a:spLocks xmlns:a="http://schemas.openxmlformats.org/drawingml/2006/main" noGrp="1"/>
          </p:cNvSpPr>
          <p:nvPr/>
        </p:nvSpPr>
        <p:spPr>
          <a:xfrm xmlns:a="http://schemas.openxmlformats.org/drawingml/2006/main">
            <a:off x="533400" y="2571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2457FF"/>
                </a:solidFill>
                <a:latin typeface="Cairo"/>
                <a:ea typeface="Cairo"/>
                <a:cs typeface="Cairo"/>
              </a:defRPr>
            </a:defPPr>
          </a:lstStyle>
          <a:p xmlns:a="http://schemas.openxmlformats.org/drawingml/2006/main">
            <a:pPr>
              <a:defRPr sz="1200" b="1">
                <a:solidFill>
                  <a:srgbClr val="2457FF"/>
                </a:solidFill>
                <a:latin typeface="Cairo"/>
                <a:ea typeface="Cairo"/>
                <a:cs typeface="Cairo"/>
              </a:defRPr>
            </a:pPr>
            <a:r>
              <a:rPr sz="1200" b="1">
                <a:solidFill>
                  <a:srgbClr val="2457FF"/>
                </a:solidFill>
                <a:latin typeface="Cairo"/>
                <a:ea typeface="Cairo"/>
                <a:cs typeface="Cairo"/>
              </a:rPr>
              <a:t>IGV EVIDENCE</a:t>
            </a:r>
          </a:p>
        </p:txBody>
      </p:sp>
      <p:sp>
        <p:nvSpPr>
          <p:cNvPr id="2" name="text-1">
            <a:extLst xmlns:a="http://schemas.openxmlformats.org/drawingml/2006/main">
              <a:ext uri="{FF2B5EF4-FFF2-40B4-BE49-F238E27FC236}">
                <a16:creationId xmlns:a16="http://schemas.microsoft.com/office/drawing/2014/main" id="{ADFF83D0-F87C-42E2-9BB6-583A61894FFC}"/>
              </a:ext>
            </a:extLst>
          </p:cNvPr>
          <p:cNvSpPr>
            <a:spLocks xmlns:a="http://schemas.openxmlformats.org/drawingml/2006/main" noGrp="1"/>
          </p:cNvSpPr>
          <p:nvPr/>
        </p:nvSpPr>
        <p:spPr>
          <a:xfrm xmlns:a="http://schemas.openxmlformats.org/drawingml/2006/main">
            <a:off x="533400" y="64770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5181F"/>
                </a:solidFill>
                <a:latin typeface="Cairo"/>
                <a:ea typeface="Cairo"/>
                <a:cs typeface="Cairo"/>
              </a:defRPr>
            </a:defPPr>
          </a:lstStyle>
          <a:p xmlns:a="http://schemas.openxmlformats.org/drawingml/2006/main">
            <a:pPr>
              <a:defRPr sz="3150" b="1">
                <a:solidFill>
                  <a:srgbClr val="15181F"/>
                </a:solidFill>
                <a:latin typeface="Cairo"/>
                <a:ea typeface="Cairo"/>
                <a:cs typeface="Cairo"/>
              </a:defRPr>
            </a:pPr>
            <a:r>
              <a:rPr sz="3150" b="1">
                <a:solidFill>
                  <a:srgbClr val="15181F"/>
                </a:solidFill>
                <a:latin typeface="Cairo"/>
                <a:ea typeface="Cairo"/>
                <a:cs typeface="Cairo"/>
              </a:rPr>
              <a:t>Shared deletion: TGG to T at 4431393</a:t>
            </a:r>
          </a:p>
        </p:txBody>
      </p:sp>
      <p:sp>
        <p:nvSpPr>
          <p:cNvPr id="3" name="text-2">
            <a:extLst xmlns:a="http://schemas.openxmlformats.org/drawingml/2006/main">
              <a:ext uri="{FF2B5EF4-FFF2-40B4-BE49-F238E27FC236}">
                <a16:creationId xmlns:a16="http://schemas.microsoft.com/office/drawing/2014/main" id="{6F0D82C7-5367-43F2-92A7-F223FEC7F413}"/>
              </a:ext>
            </a:extLst>
          </p:cNvPr>
          <p:cNvSpPr>
            <a:spLocks xmlns:a="http://schemas.openxmlformats.org/drawingml/2006/main" noGrp="1"/>
          </p:cNvSpPr>
          <p:nvPr/>
        </p:nvSpPr>
        <p:spPr>
          <a:xfrm xmlns:a="http://schemas.openxmlformats.org/drawingml/2006/main">
            <a:off x="11144250" y="64103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687182"/>
                </a:solidFill>
                <a:latin typeface="Cairo"/>
                <a:ea typeface="Cairo"/>
                <a:cs typeface="Cairo"/>
              </a:defRPr>
            </a:defPPr>
          </a:lstStyle>
          <a:p xmlns:a="http://schemas.openxmlformats.org/drawingml/2006/main">
            <a:pPr>
              <a:defRPr sz="1125" b="0">
                <a:solidFill>
                  <a:srgbClr val="687182"/>
                </a:solidFill>
                <a:latin typeface="Cairo"/>
                <a:ea typeface="Cairo"/>
                <a:cs typeface="Cairo"/>
              </a:defRPr>
            </a:pPr>
            <a:r>
              <a:rPr sz="1125" b="0">
                <a:solidFill>
                  <a:srgbClr val="687182"/>
                </a:solidFill>
                <a:latin typeface="Cairo"/>
                <a:ea typeface="Cairo"/>
                <a:cs typeface="Cairo"/>
              </a:rPr>
              <a:t>11</a:t>
            </a:r>
          </a:p>
        </p:txBody>
      </p:sp>
      <p:pic>
        <p:nvPicPr>
          <p:cNvPr id="4" name="">
            <a:extLst xmlns:a="http://schemas.openxmlformats.org/drawingml/2006/main">
              <a:ext uri="{FF2B5EF4-FFF2-40B4-BE49-F238E27FC236}">
                <a16:creationId xmlns:a16="http://schemas.microsoft.com/office/drawing/2014/main" id="{DB50AA9B-E71F-4B64-8333-375BB1EF4E09}"/>
              </a:ext>
            </a:extLst>
          </p:cNvPr>
          <p:cNvPicPr>
            <a:picLocks xmlns:a="http://schemas.openxmlformats.org/drawingml/2006/main" noChangeAspect="1"/>
          </p:cNvPicPr>
          <p:nvPr/>
        </p:nvPicPr>
        <p:blipFill>
          <a:blip xmlns:r="http://schemas.openxmlformats.org/officeDocument/2006/relationships" xmlns:a="http://schemas.openxmlformats.org/drawingml/2006/main" r:embed="Rf94396da4e3d496e"/>
          <a:stretch xmlns:a="http://schemas.openxmlformats.org/drawingml/2006/main"/>
        </p:blipFill>
        <p:spPr>
          <a:xfrm xmlns:a="http://schemas.openxmlformats.org/drawingml/2006/main">
            <a:off x="1334596" y="1647825"/>
            <a:ext cx="7446357" cy="409575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45D287BE-401A-4FED-B15A-D3B54FE5240F}"/>
              </a:ext>
            </a:extLst>
          </p:cNvPr>
          <p:cNvSpPr>
            <a:spLocks xmlns:a="http://schemas.openxmlformats.org/drawingml/2006/main" noGrp="1"/>
          </p:cNvSpPr>
          <p:nvPr/>
        </p:nvSpPr>
        <p:spPr>
          <a:xfrm xmlns:a="http://schemas.openxmlformats.org/drawingml/2006/main">
            <a:off x="9906000" y="1905000"/>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2457FF"/>
                </a:solidFill>
                <a:latin typeface="Cairo"/>
                <a:ea typeface="Cairo"/>
                <a:cs typeface="Cairo"/>
              </a:defRPr>
            </a:defPPr>
          </a:lstStyle>
          <a:p xmlns:a="http://schemas.openxmlformats.org/drawingml/2006/main">
            <a:pPr>
              <a:defRPr sz="3225" b="1">
                <a:solidFill>
                  <a:srgbClr val="2457FF"/>
                </a:solidFill>
                <a:latin typeface="Cairo"/>
                <a:ea typeface="Cairo"/>
                <a:cs typeface="Cairo"/>
              </a:defRPr>
            </a:pPr>
            <a:r>
              <a:rPr sz="3225" b="1">
                <a:solidFill>
                  <a:srgbClr val="2457FF"/>
                </a:solidFill>
                <a:latin typeface="Cairo"/>
                <a:ea typeface="Cairo"/>
                <a:cs typeface="Cairo"/>
              </a:rPr>
              <a:t>−2 bp</a:t>
            </a:r>
          </a:p>
        </p:txBody>
      </p:sp>
      <p:sp>
        <p:nvSpPr>
          <p:cNvPr id="6" name="text-4">
            <a:extLst xmlns:a="http://schemas.openxmlformats.org/drawingml/2006/main">
              <a:ext uri="{FF2B5EF4-FFF2-40B4-BE49-F238E27FC236}">
                <a16:creationId xmlns:a16="http://schemas.microsoft.com/office/drawing/2014/main" id="{E34CA7A0-E7D8-4A7D-8114-F809C33C88B2}"/>
              </a:ext>
            </a:extLst>
          </p:cNvPr>
          <p:cNvSpPr>
            <a:spLocks xmlns:a="http://schemas.openxmlformats.org/drawingml/2006/main" noGrp="1"/>
          </p:cNvSpPr>
          <p:nvPr/>
        </p:nvSpPr>
        <p:spPr>
          <a:xfrm xmlns:a="http://schemas.openxmlformats.org/drawingml/2006/main">
            <a:off x="9906000" y="3105150"/>
            <a:ext cx="17621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687182"/>
                </a:solidFill>
                <a:latin typeface="Cairo"/>
                <a:ea typeface="Cairo"/>
                <a:cs typeface="Cairo"/>
              </a:defRPr>
            </a:defPPr>
          </a:lstStyle>
          <a:p xmlns:a="http://schemas.openxmlformats.org/drawingml/2006/main">
            <a:pPr>
              <a:defRPr sz="1875" b="0">
                <a:solidFill>
                  <a:srgbClr val="687182"/>
                </a:solidFill>
                <a:latin typeface="Cairo"/>
                <a:ea typeface="Cairo"/>
                <a:cs typeface="Cairo"/>
              </a:defRPr>
            </a:pPr>
            <a:r>
              <a:rPr sz="1875" b="0">
                <a:solidFill>
                  <a:srgbClr val="687182"/>
                </a:solidFill>
                <a:latin typeface="Cairo"/>
                <a:ea typeface="Cairo"/>
                <a:cs typeface="Cairo"/>
              </a:rPr>
              <a:t>GG deleted</a:t>
            </a:r>
          </a:p>
          <a:p xmlns:a="http://schemas.openxmlformats.org/drawingml/2006/main">
            <a:pPr>
              <a:defRPr sz="1875" b="0">
                <a:solidFill>
                  <a:srgbClr val="687182"/>
                </a:solidFill>
                <a:latin typeface="Cairo"/>
                <a:ea typeface="Cairo"/>
                <a:cs typeface="Cairo"/>
              </a:defRPr>
            </a:pPr>
            <a:r>
              <a:rPr sz="1875" b="0">
                <a:solidFill>
                  <a:srgbClr val="687182"/>
                </a:solidFill>
                <a:latin typeface="Cairo"/>
                <a:ea typeface="Cairo"/>
                <a:cs typeface="Cairo"/>
              </a:rPr>
              <a:t>4431394–</a:t>
            </a:r>
          </a:p>
          <a:p xmlns:a="http://schemas.openxmlformats.org/drawingml/2006/main">
            <a:pPr>
              <a:defRPr sz="1875" b="0">
                <a:solidFill>
                  <a:srgbClr val="687182"/>
                </a:solidFill>
                <a:latin typeface="Cairo"/>
                <a:ea typeface="Cairo"/>
                <a:cs typeface="Cairo"/>
              </a:defRPr>
            </a:pPr>
            <a:r>
              <a:rPr sz="1875" b="0">
                <a:solidFill>
                  <a:srgbClr val="687182"/>
                </a:solidFill>
                <a:latin typeface="Cairo"/>
                <a:ea typeface="Cairo"/>
                <a:cs typeface="Cairo"/>
              </a:rPr>
              <a:t>4431395</a:t>
            </a:r>
          </a:p>
        </p:txBody>
      </p:sp>
      <p:sp>
        <p:nvSpPr>
          <p:cNvPr id="7" name="text-5">
            <a:extLst xmlns:a="http://schemas.openxmlformats.org/drawingml/2006/main">
              <a:ext uri="{FF2B5EF4-FFF2-40B4-BE49-F238E27FC236}">
                <a16:creationId xmlns:a16="http://schemas.microsoft.com/office/drawing/2014/main" id="{65650D7C-1163-47FE-8A8C-939DDCFA7BE4}"/>
              </a:ext>
            </a:extLst>
          </p:cNvPr>
          <p:cNvSpPr>
            <a:spLocks xmlns:a="http://schemas.openxmlformats.org/drawingml/2006/main" noGrp="1"/>
          </p:cNvSpPr>
          <p:nvPr/>
        </p:nvSpPr>
        <p:spPr>
          <a:xfrm xmlns:a="http://schemas.openxmlformats.org/drawingml/2006/main">
            <a:off x="533400" y="6038850"/>
            <a:ext cx="1112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687182"/>
                </a:solidFill>
                <a:latin typeface="Cairo"/>
                <a:ea typeface="Cairo"/>
                <a:cs typeface="Cairo"/>
              </a:defRPr>
            </a:defPPr>
          </a:lstStyle>
          <a:p xmlns:a="http://schemas.openxmlformats.org/drawingml/2006/main">
            <a:pPr>
              <a:defRPr sz="1275" b="0">
                <a:solidFill>
                  <a:srgbClr val="687182"/>
                </a:solidFill>
                <a:latin typeface="Cairo"/>
                <a:ea typeface="Cairo"/>
                <a:cs typeface="Cairo"/>
              </a:defRPr>
            </a:pPr>
            <a:r>
              <a:rPr sz="1275" b="0">
                <a:solidFill>
                  <a:srgbClr val="687182"/>
                </a:solidFill>
                <a:latin typeface="Cairo"/>
                <a:ea typeface="Cairo"/>
                <a:cs typeface="Cairo"/>
              </a:rPr>
              <a:t>T at 4431393 is the VCF anchor. Deleted bases lie inside the annotated ytfN CDS.</a:t>
            </a:r>
          </a:p>
        </p:txBody>
      </p:sp>
    </p:spTree>
    <p:extLst>
      <p:ext uri="{BB962C8B-B14F-4D97-AF65-F5344CB8AC3E}">
        <p14:creationId xmlns:p14="http://schemas.microsoft.com/office/powerpoint/2010/main" val="1025699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32FAB3B4-9A9F-4827-AD5F-791B509DBF6C}"/>
              </a:ext>
            </a:extLst>
          </p:cNvPr>
          <p:cNvSpPr>
            <a:spLocks xmlns:a="http://schemas.openxmlformats.org/drawingml/2006/main" noGrp="1"/>
          </p:cNvSpPr>
          <p:nvPr/>
        </p:nvSpPr>
        <p:spPr>
          <a:xfrm xmlns:a="http://schemas.openxmlformats.org/drawingml/2006/main">
            <a:off x="533400" y="2571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2457FF"/>
                </a:solidFill>
                <a:latin typeface="Cairo"/>
                <a:ea typeface="Cairo"/>
                <a:cs typeface="Cairo"/>
              </a:defRPr>
            </a:defPPr>
          </a:lstStyle>
          <a:p xmlns:a="http://schemas.openxmlformats.org/drawingml/2006/main">
            <a:pPr>
              <a:defRPr sz="1200" b="1">
                <a:solidFill>
                  <a:srgbClr val="2457FF"/>
                </a:solidFill>
                <a:latin typeface="Cairo"/>
                <a:ea typeface="Cairo"/>
                <a:cs typeface="Cairo"/>
              </a:defRPr>
            </a:pPr>
            <a:r>
              <a:rPr sz="1200" b="1">
                <a:solidFill>
                  <a:srgbClr val="2457FF"/>
                </a:solidFill>
                <a:latin typeface="Cairo"/>
                <a:ea typeface="Cairo"/>
                <a:cs typeface="Cairo"/>
              </a:rPr>
              <a:t>FILTER SENSITIVITY</a:t>
            </a:r>
          </a:p>
        </p:txBody>
      </p:sp>
      <p:sp>
        <p:nvSpPr>
          <p:cNvPr id="2" name="text-1">
            <a:extLst xmlns:a="http://schemas.openxmlformats.org/drawingml/2006/main">
              <a:ext uri="{FF2B5EF4-FFF2-40B4-BE49-F238E27FC236}">
                <a16:creationId xmlns:a16="http://schemas.microsoft.com/office/drawing/2014/main" id="{F19AEB0C-3984-4F95-B442-3EBAB632F6B4}"/>
              </a:ext>
            </a:extLst>
          </p:cNvPr>
          <p:cNvSpPr>
            <a:spLocks xmlns:a="http://schemas.openxmlformats.org/drawingml/2006/main" noGrp="1"/>
          </p:cNvSpPr>
          <p:nvPr/>
        </p:nvSpPr>
        <p:spPr>
          <a:xfrm xmlns:a="http://schemas.openxmlformats.org/drawingml/2006/main">
            <a:off x="533400" y="64770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5181F"/>
                </a:solidFill>
                <a:latin typeface="Cairo"/>
                <a:ea typeface="Cairo"/>
                <a:cs typeface="Cairo"/>
              </a:defRPr>
            </a:defPPr>
          </a:lstStyle>
          <a:p xmlns:a="http://schemas.openxmlformats.org/drawingml/2006/main">
            <a:pPr>
              <a:defRPr sz="3150" b="1">
                <a:solidFill>
                  <a:srgbClr val="15181F"/>
                </a:solidFill>
                <a:latin typeface="Cairo"/>
                <a:ea typeface="Cairo"/>
                <a:cs typeface="Cairo"/>
              </a:defRPr>
            </a:pPr>
            <a:r>
              <a:rPr sz="3150" b="1">
                <a:solidFill>
                  <a:srgbClr val="15181F"/>
                </a:solidFill>
                <a:latin typeface="Cairo"/>
                <a:ea typeface="Cairo"/>
                <a:cs typeface="Cairo"/>
              </a:rPr>
              <a:t>A depth filter changes apparent uniqueness</a:t>
            </a:r>
          </a:p>
        </p:txBody>
      </p:sp>
      <p:sp>
        <p:nvSpPr>
          <p:cNvPr id="3" name="text-2">
            <a:extLst xmlns:a="http://schemas.openxmlformats.org/drawingml/2006/main">
              <a:ext uri="{FF2B5EF4-FFF2-40B4-BE49-F238E27FC236}">
                <a16:creationId xmlns:a16="http://schemas.microsoft.com/office/drawing/2014/main" id="{B736DA43-18D5-40E0-A325-0CC125641DDF}"/>
              </a:ext>
            </a:extLst>
          </p:cNvPr>
          <p:cNvSpPr>
            <a:spLocks xmlns:a="http://schemas.openxmlformats.org/drawingml/2006/main" noGrp="1"/>
          </p:cNvSpPr>
          <p:nvPr/>
        </p:nvSpPr>
        <p:spPr>
          <a:xfrm xmlns:a="http://schemas.openxmlformats.org/drawingml/2006/main">
            <a:off x="11144250" y="64103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687182"/>
                </a:solidFill>
                <a:latin typeface="Cairo"/>
                <a:ea typeface="Cairo"/>
                <a:cs typeface="Cairo"/>
              </a:defRPr>
            </a:defPPr>
          </a:lstStyle>
          <a:p xmlns:a="http://schemas.openxmlformats.org/drawingml/2006/main">
            <a:pPr>
              <a:defRPr sz="1125" b="0">
                <a:solidFill>
                  <a:srgbClr val="687182"/>
                </a:solidFill>
                <a:latin typeface="Cairo"/>
                <a:ea typeface="Cairo"/>
                <a:cs typeface="Cairo"/>
              </a:defRPr>
            </a:pPr>
            <a:r>
              <a:rPr sz="1125" b="0">
                <a:solidFill>
                  <a:srgbClr val="687182"/>
                </a:solidFill>
                <a:latin typeface="Cairo"/>
                <a:ea typeface="Cairo"/>
                <a:cs typeface="Cairo"/>
              </a:rPr>
              <a:t>12</a:t>
            </a:r>
          </a:p>
        </p:txBody>
      </p:sp>
      <p:pic>
        <p:nvPicPr>
          <p:cNvPr id="4" name="">
            <a:extLst xmlns:a="http://schemas.openxmlformats.org/drawingml/2006/main">
              <a:ext uri="{FF2B5EF4-FFF2-40B4-BE49-F238E27FC236}">
                <a16:creationId xmlns:a16="http://schemas.microsoft.com/office/drawing/2014/main" id="{F36B2198-A24E-4EB3-AE65-47262DD0B317}"/>
              </a:ext>
            </a:extLst>
          </p:cNvPr>
          <p:cNvPicPr>
            <a:picLocks xmlns:a="http://schemas.openxmlformats.org/drawingml/2006/main" noChangeAspect="1"/>
          </p:cNvPicPr>
          <p:nvPr/>
        </p:nvPicPr>
        <p:blipFill>
          <a:blip xmlns:r="http://schemas.openxmlformats.org/officeDocument/2006/relationships" xmlns:a="http://schemas.openxmlformats.org/drawingml/2006/main" r:embed="R8b529c3d02fb4953"/>
          <a:stretch xmlns:a="http://schemas.openxmlformats.org/drawingml/2006/main"/>
        </p:blipFill>
        <p:spPr>
          <a:xfrm xmlns:a="http://schemas.openxmlformats.org/drawingml/2006/main">
            <a:off x="625402" y="1838325"/>
            <a:ext cx="6978795" cy="3838575"/>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73083F33-B970-4EEE-91A4-8383543B9F99}"/>
              </a:ext>
            </a:extLst>
          </p:cNvPr>
          <p:cNvSpPr>
            <a:spLocks xmlns:a="http://schemas.openxmlformats.org/drawingml/2006/main" noGrp="1"/>
          </p:cNvSpPr>
          <p:nvPr/>
        </p:nvSpPr>
        <p:spPr>
          <a:xfrm xmlns:a="http://schemas.openxmlformats.org/drawingml/2006/main">
            <a:off x="8115300" y="1666875"/>
            <a:ext cx="352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15181F"/>
                </a:solidFill>
                <a:latin typeface="Cairo"/>
                <a:ea typeface="Cairo"/>
                <a:cs typeface="Cairo"/>
              </a:defRPr>
            </a:defPPr>
          </a:lstStyle>
          <a:p xmlns:a="http://schemas.openxmlformats.org/drawingml/2006/main">
            <a:pPr>
              <a:defRPr sz="2325" b="1">
                <a:solidFill>
                  <a:srgbClr val="15181F"/>
                </a:solidFill>
                <a:latin typeface="Cairo"/>
                <a:ea typeface="Cairo"/>
                <a:cs typeface="Cairo"/>
              </a:defRPr>
            </a:pPr>
            <a:r>
              <a:rPr sz="2325" b="1">
                <a:solidFill>
                  <a:srgbClr val="15181F"/>
                </a:solidFill>
                <a:latin typeface="Cairo"/>
                <a:ea typeface="Cairo"/>
                <a:cs typeface="Cairo"/>
              </a:rPr>
              <a:t>4616538 A → C</a:t>
            </a:r>
          </a:p>
        </p:txBody>
      </p:sp>
      <p:sp>
        <p:nvSpPr>
          <p:cNvPr id="6" name="text-4">
            <a:extLst xmlns:a="http://schemas.openxmlformats.org/drawingml/2006/main">
              <a:ext uri="{FF2B5EF4-FFF2-40B4-BE49-F238E27FC236}">
                <a16:creationId xmlns:a16="http://schemas.microsoft.com/office/drawing/2014/main" id="{842A4A1D-49CF-4E94-966F-1C92CD716471}"/>
              </a:ext>
            </a:extLst>
          </p:cNvPr>
          <p:cNvSpPr>
            <a:spLocks xmlns:a="http://schemas.openxmlformats.org/drawingml/2006/main" noGrp="1"/>
          </p:cNvSpPr>
          <p:nvPr/>
        </p:nvSpPr>
        <p:spPr>
          <a:xfrm xmlns:a="http://schemas.openxmlformats.org/drawingml/2006/main">
            <a:off x="8115300" y="2552700"/>
            <a:ext cx="35242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4350" b="1">
                <a:solidFill>
                  <a:srgbClr val="2457FF"/>
                </a:solidFill>
                <a:latin typeface="Cairo"/>
                <a:ea typeface="Cairo"/>
                <a:cs typeface="Cairo"/>
              </a:defRPr>
            </a:defPPr>
          </a:lstStyle>
          <a:p xmlns:a="http://schemas.openxmlformats.org/drawingml/2006/main">
            <a:pPr>
              <a:defRPr sz="4350" b="1">
                <a:solidFill>
                  <a:srgbClr val="2457FF"/>
                </a:solidFill>
                <a:latin typeface="Cairo"/>
                <a:ea typeface="Cairo"/>
                <a:cs typeface="Cairo"/>
              </a:defRPr>
            </a:pPr>
            <a:r>
              <a:rPr sz="4350" b="1">
                <a:solidFill>
                  <a:srgbClr val="2457FF"/>
                </a:solidFill>
                <a:latin typeface="Cairo"/>
                <a:ea typeface="Cairo"/>
                <a:cs typeface="Cairo"/>
              </a:rPr>
              <a:t>DP 9</a:t>
            </a:r>
          </a:p>
        </p:txBody>
      </p:sp>
      <p:sp>
        <p:nvSpPr>
          <p:cNvPr id="7" name="text-5">
            <a:extLst xmlns:a="http://schemas.openxmlformats.org/drawingml/2006/main">
              <a:ext uri="{FF2B5EF4-FFF2-40B4-BE49-F238E27FC236}">
                <a16:creationId xmlns:a16="http://schemas.microsoft.com/office/drawing/2014/main" id="{1AD604FB-C24B-4D20-920A-38890826C1E7}"/>
              </a:ext>
            </a:extLst>
          </p:cNvPr>
          <p:cNvSpPr>
            <a:spLocks xmlns:a="http://schemas.openxmlformats.org/drawingml/2006/main" noGrp="1"/>
          </p:cNvSpPr>
          <p:nvPr/>
        </p:nvSpPr>
        <p:spPr>
          <a:xfrm xmlns:a="http://schemas.openxmlformats.org/drawingml/2006/main">
            <a:off x="8162925" y="3343275"/>
            <a:ext cx="3476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687182"/>
                </a:solidFill>
                <a:latin typeface="Cairo"/>
                <a:ea typeface="Cairo"/>
                <a:cs typeface="Cairo"/>
              </a:defRPr>
            </a:defPPr>
          </a:lstStyle>
          <a:p xmlns:a="http://schemas.openxmlformats.org/drawingml/2006/main">
            <a:pPr>
              <a:defRPr sz="1800" b="0">
                <a:solidFill>
                  <a:srgbClr val="687182"/>
                </a:solidFill>
                <a:latin typeface="Cairo"/>
                <a:ea typeface="Cairo"/>
                <a:cs typeface="Cairo"/>
              </a:defRPr>
            </a:pPr>
            <a:r>
              <a:rPr sz="1800" b="0">
                <a:solidFill>
                  <a:srgbClr val="687182"/>
                </a:solidFill>
                <a:latin typeface="Cairo"/>
                <a:ea typeface="Cairo"/>
                <a:cs typeface="Cairo"/>
              </a:rPr>
              <a:t>SRR2584863: retained</a:t>
            </a:r>
          </a:p>
        </p:txBody>
      </p:sp>
      <p:sp>
        <p:nvSpPr>
          <p:cNvPr id="8" name="">
            <a:extLst xmlns:a="http://schemas.openxmlformats.org/drawingml/2006/main">
              <a:ext uri="{FF2B5EF4-FFF2-40B4-BE49-F238E27FC236}">
                <a16:creationId xmlns:a16="http://schemas.microsoft.com/office/drawing/2014/main" id="{F9F36B7D-923E-4D79-8563-D4AE6C5C5E54}"/>
              </a:ext>
            </a:extLst>
          </p:cNvPr>
          <p:cNvSpPr>
            <a:spLocks xmlns:a="http://schemas.openxmlformats.org/drawingml/2006/main" noGrp="1"/>
          </p:cNvSpPr>
          <p:nvPr/>
        </p:nvSpPr>
        <p:spPr>
          <a:xfrm xmlns:a="http://schemas.openxmlformats.org/drawingml/2006/main">
            <a:off x="8115300" y="4000500"/>
            <a:ext cx="3524250" cy="11430"/>
          </a:xfrm>
          <a:prstGeom xmlns:a="http://schemas.openxmlformats.org/drawingml/2006/main" prst="rect">
            <a:avLst/>
          </a:prstGeom>
          <a:solidFill xmlns:a="http://schemas.openxmlformats.org/drawingml/2006/main">
            <a:srgbClr val="E6EBF2"/>
          </a:solidFill>
          <a:ln xmlns:a="http://schemas.openxmlformats.org/drawingml/2006/main" w="0">
            <a:noFill/>
            <a:prstDash val="solid"/>
          </a:ln>
        </p:spPr>
      </p:sp>
      <p:sp>
        <p:nvSpPr>
          <p:cNvPr id="9" name="text-7">
            <a:extLst xmlns:a="http://schemas.openxmlformats.org/drawingml/2006/main">
              <a:ext uri="{FF2B5EF4-FFF2-40B4-BE49-F238E27FC236}">
                <a16:creationId xmlns:a16="http://schemas.microsoft.com/office/drawing/2014/main" id="{17CEE2A7-0ABE-401A-95AF-5810E7E8196E}"/>
              </a:ext>
            </a:extLst>
          </p:cNvPr>
          <p:cNvSpPr>
            <a:spLocks xmlns:a="http://schemas.openxmlformats.org/drawingml/2006/main" noGrp="1"/>
          </p:cNvSpPr>
          <p:nvPr/>
        </p:nvSpPr>
        <p:spPr>
          <a:xfrm xmlns:a="http://schemas.openxmlformats.org/drawingml/2006/main">
            <a:off x="8115300" y="4200525"/>
            <a:ext cx="35242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4350" b="1">
                <a:solidFill>
                  <a:srgbClr val="15181F"/>
                </a:solidFill>
                <a:latin typeface="Cairo"/>
                <a:ea typeface="Cairo"/>
                <a:cs typeface="Cairo"/>
              </a:defRPr>
            </a:defPPr>
          </a:lstStyle>
          <a:p xmlns:a="http://schemas.openxmlformats.org/drawingml/2006/main">
            <a:pPr>
              <a:defRPr sz="4350" b="1">
                <a:solidFill>
                  <a:srgbClr val="15181F"/>
                </a:solidFill>
                <a:latin typeface="Cairo"/>
                <a:ea typeface="Cairo"/>
                <a:cs typeface="Cairo"/>
              </a:defRPr>
            </a:pPr>
            <a:r>
              <a:rPr sz="4350" b="1">
                <a:solidFill>
                  <a:srgbClr val="15181F"/>
                </a:solidFill>
                <a:latin typeface="Cairo"/>
                <a:ea typeface="Cairo"/>
                <a:cs typeface="Cairo"/>
              </a:rPr>
              <a:t>DP 4</a:t>
            </a:r>
          </a:p>
        </p:txBody>
      </p:sp>
      <p:sp>
        <p:nvSpPr>
          <p:cNvPr id="10" name="text-8">
            <a:extLst xmlns:a="http://schemas.openxmlformats.org/drawingml/2006/main">
              <a:ext uri="{FF2B5EF4-FFF2-40B4-BE49-F238E27FC236}">
                <a16:creationId xmlns:a16="http://schemas.microsoft.com/office/drawing/2014/main" id="{CAA2D03A-B1D1-499D-A495-70C4F61A294F}"/>
              </a:ext>
            </a:extLst>
          </p:cNvPr>
          <p:cNvSpPr>
            <a:spLocks xmlns:a="http://schemas.openxmlformats.org/drawingml/2006/main" noGrp="1"/>
          </p:cNvSpPr>
          <p:nvPr/>
        </p:nvSpPr>
        <p:spPr>
          <a:xfrm xmlns:a="http://schemas.openxmlformats.org/drawingml/2006/main">
            <a:off x="8162925" y="5000625"/>
            <a:ext cx="3476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687182"/>
                </a:solidFill>
                <a:latin typeface="Cairo"/>
                <a:ea typeface="Cairo"/>
                <a:cs typeface="Cairo"/>
              </a:defRPr>
            </a:defPPr>
          </a:lstStyle>
          <a:p xmlns:a="http://schemas.openxmlformats.org/drawingml/2006/main">
            <a:pPr>
              <a:defRPr sz="1800" b="0">
                <a:solidFill>
                  <a:srgbClr val="687182"/>
                </a:solidFill>
                <a:latin typeface="Cairo"/>
                <a:ea typeface="Cairo"/>
                <a:cs typeface="Cairo"/>
              </a:defRPr>
            </a:pPr>
            <a:r>
              <a:rPr sz="1800" b="0">
                <a:solidFill>
                  <a:srgbClr val="687182"/>
                </a:solidFill>
                <a:latin typeface="Cairo"/>
                <a:ea typeface="Cairo"/>
                <a:cs typeface="Cairo"/>
              </a:rPr>
              <a:t>SRR2584866: excluded</a:t>
            </a:r>
          </a:p>
        </p:txBody>
      </p:sp>
      <p:sp>
        <p:nvSpPr>
          <p:cNvPr id="11" name="text-9">
            <a:extLst xmlns:a="http://schemas.openxmlformats.org/drawingml/2006/main">
              <a:ext uri="{FF2B5EF4-FFF2-40B4-BE49-F238E27FC236}">
                <a16:creationId xmlns:a16="http://schemas.microsoft.com/office/drawing/2014/main" id="{6F163E67-D2E6-4303-B6E1-52147B8BCC26}"/>
              </a:ext>
            </a:extLst>
          </p:cNvPr>
          <p:cNvSpPr>
            <a:spLocks xmlns:a="http://schemas.openxmlformats.org/drawingml/2006/main" noGrp="1"/>
          </p:cNvSpPr>
          <p:nvPr/>
        </p:nvSpPr>
        <p:spPr>
          <a:xfrm xmlns:a="http://schemas.openxmlformats.org/drawingml/2006/main">
            <a:off x="533400" y="6038850"/>
            <a:ext cx="1112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687182"/>
                </a:solidFill>
                <a:latin typeface="Cairo"/>
                <a:ea typeface="Cairo"/>
                <a:cs typeface="Cairo"/>
              </a:defRPr>
            </a:defPPr>
          </a:lstStyle>
          <a:p xmlns:a="http://schemas.openxmlformats.org/drawingml/2006/main">
            <a:pPr>
              <a:defRPr sz="1275" b="0">
                <a:solidFill>
                  <a:srgbClr val="687182"/>
                </a:solidFill>
                <a:latin typeface="Cairo"/>
                <a:ea typeface="Cairo"/>
                <a:cs typeface="Cairo"/>
              </a:defRPr>
            </a:pPr>
            <a:r>
              <a:rPr sz="1275" b="0">
                <a:solidFill>
                  <a:srgbClr val="687182"/>
                </a:solidFill>
                <a:latin typeface="Cairo"/>
                <a:ea typeface="Cairo"/>
                <a:cs typeface="Cairo"/>
              </a:rPr>
              <a:t>The alternate call exists in the raw 4866 VCF. Filtered absence is conditional.</a:t>
            </a:r>
          </a:p>
        </p:txBody>
      </p:sp>
    </p:spTree>
    <p:extLst>
      <p:ext uri="{BB962C8B-B14F-4D97-AF65-F5344CB8AC3E}">
        <p14:creationId xmlns:p14="http://schemas.microsoft.com/office/powerpoint/2010/main" val="122221821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687A5783-BCAB-4982-86BC-E8AA95E2609B}"/>
              </a:ext>
            </a:extLst>
          </p:cNvPr>
          <p:cNvSpPr>
            <a:spLocks xmlns:a="http://schemas.openxmlformats.org/drawingml/2006/main" noGrp="1"/>
          </p:cNvSpPr>
          <p:nvPr/>
        </p:nvSpPr>
        <p:spPr>
          <a:xfrm xmlns:a="http://schemas.openxmlformats.org/drawingml/2006/main">
            <a:off x="533400" y="2571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2457FF"/>
                </a:solidFill>
                <a:latin typeface="Cairo"/>
                <a:ea typeface="Cairo"/>
                <a:cs typeface="Cairo"/>
              </a:defRPr>
            </a:defPPr>
          </a:lstStyle>
          <a:p xmlns:a="http://schemas.openxmlformats.org/drawingml/2006/main">
            <a:pPr>
              <a:defRPr sz="1200" b="1">
                <a:solidFill>
                  <a:srgbClr val="2457FF"/>
                </a:solidFill>
                <a:latin typeface="Cairo"/>
                <a:ea typeface="Cairo"/>
                <a:cs typeface="Cairo"/>
              </a:defRPr>
            </a:pPr>
            <a:r>
              <a:rPr sz="1200" b="1">
                <a:solidFill>
                  <a:srgbClr val="2457FF"/>
                </a:solidFill>
                <a:latin typeface="Cairo"/>
                <a:ea typeface="Cairo"/>
                <a:cs typeface="Cairo"/>
              </a:rPr>
              <a:t>COVERAGE INVESTIGATION</a:t>
            </a:r>
          </a:p>
        </p:txBody>
      </p:sp>
      <p:sp>
        <p:nvSpPr>
          <p:cNvPr id="2" name="text-1">
            <a:extLst xmlns:a="http://schemas.openxmlformats.org/drawingml/2006/main">
              <a:ext uri="{FF2B5EF4-FFF2-40B4-BE49-F238E27FC236}">
                <a16:creationId xmlns:a16="http://schemas.microsoft.com/office/drawing/2014/main" id="{631AD2E2-9CDE-44BE-9F57-376768107FAE}"/>
              </a:ext>
            </a:extLst>
          </p:cNvPr>
          <p:cNvSpPr>
            <a:spLocks xmlns:a="http://schemas.openxmlformats.org/drawingml/2006/main" noGrp="1"/>
          </p:cNvSpPr>
          <p:nvPr/>
        </p:nvSpPr>
        <p:spPr>
          <a:xfrm xmlns:a="http://schemas.openxmlformats.org/drawingml/2006/main">
            <a:off x="533400" y="64770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5181F"/>
                </a:solidFill>
                <a:latin typeface="Cairo"/>
                <a:ea typeface="Cairo"/>
                <a:cs typeface="Cairo"/>
              </a:defRPr>
            </a:defPPr>
          </a:lstStyle>
          <a:p xmlns:a="http://schemas.openxmlformats.org/drawingml/2006/main">
            <a:pPr>
              <a:defRPr sz="3150" b="1">
                <a:solidFill>
                  <a:srgbClr val="15181F"/>
                </a:solidFill>
                <a:latin typeface="Cairo"/>
                <a:ea typeface="Cairo"/>
                <a:cs typeface="Cairo"/>
              </a:defRPr>
            </a:pPr>
            <a:r>
              <a:rPr sz="3150" b="1">
                <a:solidFill>
                  <a:srgbClr val="15181F"/>
                </a:solidFill>
                <a:latin typeface="Cairo"/>
                <a:ea typeface="Cairo"/>
                <a:cs typeface="Cairo"/>
              </a:rPr>
              <a:t>A 43,944-base coverage gap needs investigation</a:t>
            </a:r>
          </a:p>
        </p:txBody>
      </p:sp>
      <p:sp>
        <p:nvSpPr>
          <p:cNvPr id="3" name="text-2">
            <a:extLst xmlns:a="http://schemas.openxmlformats.org/drawingml/2006/main">
              <a:ext uri="{FF2B5EF4-FFF2-40B4-BE49-F238E27FC236}">
                <a16:creationId xmlns:a16="http://schemas.microsoft.com/office/drawing/2014/main" id="{1DB00390-27E6-44CB-BCF0-2691BA961606}"/>
              </a:ext>
            </a:extLst>
          </p:cNvPr>
          <p:cNvSpPr>
            <a:spLocks xmlns:a="http://schemas.openxmlformats.org/drawingml/2006/main" noGrp="1"/>
          </p:cNvSpPr>
          <p:nvPr/>
        </p:nvSpPr>
        <p:spPr>
          <a:xfrm xmlns:a="http://schemas.openxmlformats.org/drawingml/2006/main">
            <a:off x="11144250" y="64103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687182"/>
                </a:solidFill>
                <a:latin typeface="Cairo"/>
                <a:ea typeface="Cairo"/>
                <a:cs typeface="Cairo"/>
              </a:defRPr>
            </a:defPPr>
          </a:lstStyle>
          <a:p xmlns:a="http://schemas.openxmlformats.org/drawingml/2006/main">
            <a:pPr>
              <a:defRPr sz="1125" b="0">
                <a:solidFill>
                  <a:srgbClr val="687182"/>
                </a:solidFill>
                <a:latin typeface="Cairo"/>
                <a:ea typeface="Cairo"/>
                <a:cs typeface="Cairo"/>
              </a:defRPr>
            </a:pPr>
            <a:r>
              <a:rPr sz="1125" b="0">
                <a:solidFill>
                  <a:srgbClr val="687182"/>
                </a:solidFill>
                <a:latin typeface="Cairo"/>
                <a:ea typeface="Cairo"/>
                <a:cs typeface="Cairo"/>
              </a:rPr>
              <a:t>13</a:t>
            </a:r>
          </a:p>
        </p:txBody>
      </p:sp>
      <p:pic>
        <p:nvPicPr>
          <p:cNvPr id="4" name="">
            <a:extLst xmlns:a="http://schemas.openxmlformats.org/drawingml/2006/main">
              <a:ext uri="{FF2B5EF4-FFF2-40B4-BE49-F238E27FC236}">
                <a16:creationId xmlns:a16="http://schemas.microsoft.com/office/drawing/2014/main" id="{58664B07-BE22-4D29-AB9D-F41E26C4941C}"/>
              </a:ext>
            </a:extLst>
          </p:cNvPr>
          <p:cNvPicPr>
            <a:picLocks xmlns:a="http://schemas.openxmlformats.org/drawingml/2006/main" noChangeAspect="1"/>
          </p:cNvPicPr>
          <p:nvPr/>
        </p:nvPicPr>
        <p:blipFill>
          <a:blip xmlns:r="http://schemas.openxmlformats.org/officeDocument/2006/relationships" xmlns:a="http://schemas.openxmlformats.org/drawingml/2006/main" r:embed="R6efda64a2c1840d8"/>
          <a:stretch xmlns:a="http://schemas.openxmlformats.org/drawingml/2006/main"/>
        </p:blipFill>
        <p:spPr>
          <a:xfrm xmlns:a="http://schemas.openxmlformats.org/drawingml/2006/main">
            <a:off x="648289" y="1857375"/>
            <a:ext cx="5056596" cy="27813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BB707B79-7F80-42AD-BCE8-86404EBE7785}"/>
              </a:ext>
            </a:extLst>
          </p:cNvPr>
          <p:cNvPicPr>
            <a:picLocks xmlns:a="http://schemas.openxmlformats.org/drawingml/2006/main" noChangeAspect="1"/>
          </p:cNvPicPr>
          <p:nvPr/>
        </p:nvPicPr>
        <p:blipFill>
          <a:blip xmlns:r="http://schemas.openxmlformats.org/officeDocument/2006/relationships" xmlns:a="http://schemas.openxmlformats.org/drawingml/2006/main" r:embed="Rda0530ebecc34989"/>
          <a:stretch xmlns:a="http://schemas.openxmlformats.org/drawingml/2006/main"/>
        </p:blipFill>
        <p:spPr>
          <a:xfrm xmlns:a="http://schemas.openxmlformats.org/drawingml/2006/main">
            <a:off x="6487114" y="1857375"/>
            <a:ext cx="5056596" cy="2781300"/>
          </a:xfrm>
          <a:prstGeom xmlns:a="http://schemas.openxmlformats.org/drawingml/2006/main" prst="rect">
            <a:avLst/>
          </a:prstGeom>
        </p:spPr>
      </p:pic>
      <p:sp>
        <p:nvSpPr>
          <p:cNvPr id="6" name="text-3">
            <a:extLst xmlns:a="http://schemas.openxmlformats.org/drawingml/2006/main">
              <a:ext uri="{FF2B5EF4-FFF2-40B4-BE49-F238E27FC236}">
                <a16:creationId xmlns:a16="http://schemas.microsoft.com/office/drawing/2014/main" id="{6455E66F-C854-4DDB-B704-A01F94CEBA56}"/>
              </a:ext>
            </a:extLst>
          </p:cNvPr>
          <p:cNvSpPr>
            <a:spLocks xmlns:a="http://schemas.openxmlformats.org/drawingml/2006/main" noGrp="1"/>
          </p:cNvSpPr>
          <p:nvPr/>
        </p:nvSpPr>
        <p:spPr>
          <a:xfrm xmlns:a="http://schemas.openxmlformats.org/drawingml/2006/main">
            <a:off x="533400" y="1514475"/>
            <a:ext cx="5286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687182"/>
                </a:solidFill>
                <a:latin typeface="Cairo"/>
                <a:ea typeface="Cairo"/>
                <a:cs typeface="Cairo"/>
              </a:defRPr>
            </a:defPPr>
          </a:lstStyle>
          <a:p xmlns:a="http://schemas.openxmlformats.org/drawingml/2006/main">
            <a:pPr>
              <a:defRPr sz="1650" b="0">
                <a:solidFill>
                  <a:srgbClr val="687182"/>
                </a:solidFill>
                <a:latin typeface="Cairo"/>
                <a:ea typeface="Cairo"/>
                <a:cs typeface="Cairo"/>
              </a:defRPr>
            </a:pPr>
            <a:r>
              <a:rPr sz="1650" b="0">
                <a:solidFill>
                  <a:srgbClr val="687182"/>
                </a:solidFill>
                <a:latin typeface="Cairo"/>
                <a:ea typeface="Cairo"/>
                <a:cs typeface="Cairo"/>
              </a:rPr>
              <a:t>Left boundary</a:t>
            </a:r>
          </a:p>
        </p:txBody>
      </p:sp>
      <p:sp>
        <p:nvSpPr>
          <p:cNvPr id="7" name="text-4">
            <a:extLst xmlns:a="http://schemas.openxmlformats.org/drawingml/2006/main">
              <a:ext uri="{FF2B5EF4-FFF2-40B4-BE49-F238E27FC236}">
                <a16:creationId xmlns:a16="http://schemas.microsoft.com/office/drawing/2014/main" id="{7C4DE8FC-56A0-4CDF-8887-B5B5B304A405}"/>
              </a:ext>
            </a:extLst>
          </p:cNvPr>
          <p:cNvSpPr>
            <a:spLocks xmlns:a="http://schemas.openxmlformats.org/drawingml/2006/main" noGrp="1"/>
          </p:cNvSpPr>
          <p:nvPr/>
        </p:nvSpPr>
        <p:spPr>
          <a:xfrm xmlns:a="http://schemas.openxmlformats.org/drawingml/2006/main">
            <a:off x="6372225" y="1514475"/>
            <a:ext cx="5286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687182"/>
                </a:solidFill>
                <a:latin typeface="Cairo"/>
                <a:ea typeface="Cairo"/>
                <a:cs typeface="Cairo"/>
              </a:defRPr>
            </a:defPPr>
          </a:lstStyle>
          <a:p xmlns:a="http://schemas.openxmlformats.org/drawingml/2006/main">
            <a:pPr>
              <a:defRPr sz="1650" b="0">
                <a:solidFill>
                  <a:srgbClr val="687182"/>
                </a:solidFill>
                <a:latin typeface="Cairo"/>
                <a:ea typeface="Cairo"/>
                <a:cs typeface="Cairo"/>
              </a:defRPr>
            </a:pPr>
            <a:r>
              <a:rPr sz="1650" b="0">
                <a:solidFill>
                  <a:srgbClr val="687182"/>
                </a:solidFill>
                <a:latin typeface="Cairo"/>
                <a:ea typeface="Cairo"/>
                <a:cs typeface="Cairo"/>
              </a:rPr>
              <a:t>Right boundary</a:t>
            </a:r>
          </a:p>
        </p:txBody>
      </p:sp>
      <p:sp>
        <p:nvSpPr>
          <p:cNvPr id="8" name="text-5">
            <a:extLst xmlns:a="http://schemas.openxmlformats.org/drawingml/2006/main">
              <a:ext uri="{FF2B5EF4-FFF2-40B4-BE49-F238E27FC236}">
                <a16:creationId xmlns:a16="http://schemas.microsoft.com/office/drawing/2014/main" id="{693A85E6-180B-430E-B3E4-E986E04EC378}"/>
              </a:ext>
            </a:extLst>
          </p:cNvPr>
          <p:cNvSpPr>
            <a:spLocks xmlns:a="http://schemas.openxmlformats.org/drawingml/2006/main" noGrp="1"/>
          </p:cNvSpPr>
          <p:nvPr/>
        </p:nvSpPr>
        <p:spPr>
          <a:xfrm xmlns:a="http://schemas.openxmlformats.org/drawingml/2006/main">
            <a:off x="533400" y="4953000"/>
            <a:ext cx="111252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75" b="1">
                <a:solidFill>
                  <a:srgbClr val="2457FF"/>
                </a:solidFill>
                <a:latin typeface="Cairo"/>
                <a:ea typeface="Cairo"/>
                <a:cs typeface="Cairo"/>
              </a:defRPr>
            </a:defPPr>
          </a:lstStyle>
          <a:p xmlns:a="http://schemas.openxmlformats.org/drawingml/2006/main">
            <a:pPr>
              <a:defRPr sz="3675" b="1">
                <a:solidFill>
                  <a:srgbClr val="2457FF"/>
                </a:solidFill>
                <a:latin typeface="Cairo"/>
                <a:ea typeface="Cairo"/>
                <a:cs typeface="Cairo"/>
              </a:defRPr>
            </a:pPr>
            <a:r>
              <a:rPr sz="3675" b="1">
                <a:solidFill>
                  <a:srgbClr val="2457FF"/>
                </a:solidFill>
                <a:latin typeface="Cairo"/>
                <a:ea typeface="Cairo"/>
                <a:cs typeface="Cairo"/>
              </a:rPr>
              <a:t>4,289,284–4,333,227</a:t>
            </a:r>
          </a:p>
        </p:txBody>
      </p:sp>
      <p:sp>
        <p:nvSpPr>
          <p:cNvPr id="9" name="text-6">
            <a:extLst xmlns:a="http://schemas.openxmlformats.org/drawingml/2006/main">
              <a:ext uri="{FF2B5EF4-FFF2-40B4-BE49-F238E27FC236}">
                <a16:creationId xmlns:a16="http://schemas.microsoft.com/office/drawing/2014/main" id="{ED71EE2C-7C67-40DC-B192-806F2072CFFC}"/>
              </a:ext>
            </a:extLst>
          </p:cNvPr>
          <p:cNvSpPr>
            <a:spLocks xmlns:a="http://schemas.openxmlformats.org/drawingml/2006/main" noGrp="1"/>
          </p:cNvSpPr>
          <p:nvPr/>
        </p:nvSpPr>
        <p:spPr>
          <a:xfrm xmlns:a="http://schemas.openxmlformats.org/drawingml/2006/main">
            <a:off x="533400" y="6038850"/>
            <a:ext cx="1112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687182"/>
                </a:solidFill>
                <a:latin typeface="Cairo"/>
                <a:ea typeface="Cairo"/>
                <a:cs typeface="Cairo"/>
              </a:defRPr>
            </a:defPPr>
          </a:lstStyle>
          <a:p xmlns:a="http://schemas.openxmlformats.org/drawingml/2006/main">
            <a:pPr>
              <a:defRPr sz="1275" b="0">
                <a:solidFill>
                  <a:srgbClr val="687182"/>
                </a:solidFill>
                <a:latin typeface="Cairo"/>
                <a:ea typeface="Cairo"/>
                <a:cs typeface="Cairo"/>
              </a:defRPr>
            </a:pPr>
            <a:r>
              <a:rPr sz="1275" b="0">
                <a:solidFill>
                  <a:srgbClr val="687182"/>
                </a:solidFill>
                <a:latin typeface="Cairo"/>
                <a:ea typeface="Cairo"/>
                <a:cs typeface="Cairo"/>
              </a:rPr>
              <a:t>SRR2584866, CP000819.1. Zero depth under SAMtools depth settings is not proof of deletion.</a:t>
            </a:r>
          </a:p>
        </p:txBody>
      </p:sp>
    </p:spTree>
    <p:extLst>
      <p:ext uri="{BB962C8B-B14F-4D97-AF65-F5344CB8AC3E}">
        <p14:creationId xmlns:p14="http://schemas.microsoft.com/office/powerpoint/2010/main" val="169813691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E6811A15-E25A-4159-AC73-6D61A0963CF0}"/>
              </a:ext>
            </a:extLst>
          </p:cNvPr>
          <p:cNvSpPr>
            <a:spLocks xmlns:a="http://schemas.openxmlformats.org/drawingml/2006/main" noGrp="1"/>
          </p:cNvSpPr>
          <p:nvPr/>
        </p:nvSpPr>
        <p:spPr>
          <a:xfrm xmlns:a="http://schemas.openxmlformats.org/drawingml/2006/main">
            <a:off x="533400" y="2571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2457FF"/>
                </a:solidFill>
                <a:latin typeface="Cairo"/>
                <a:ea typeface="Cairo"/>
                <a:cs typeface="Cairo"/>
              </a:defRPr>
            </a:defPPr>
          </a:lstStyle>
          <a:p xmlns:a="http://schemas.openxmlformats.org/drawingml/2006/main">
            <a:pPr>
              <a:defRPr sz="1200" b="1">
                <a:solidFill>
                  <a:srgbClr val="2457FF"/>
                </a:solidFill>
                <a:latin typeface="Cairo"/>
                <a:ea typeface="Cairo"/>
                <a:cs typeface="Cairo"/>
              </a:defRPr>
            </a:pPr>
            <a:r>
              <a:rPr sz="1200" b="1">
                <a:solidFill>
                  <a:srgbClr val="2457FF"/>
                </a:solidFill>
                <a:latin typeface="Cairo"/>
                <a:ea typeface="Cairo"/>
                <a:cs typeface="Cairo"/>
              </a:rPr>
              <a:t>CODING CONSEQUENCES</a:t>
            </a:r>
          </a:p>
        </p:txBody>
      </p:sp>
      <p:sp>
        <p:nvSpPr>
          <p:cNvPr id="2" name="text-1">
            <a:extLst xmlns:a="http://schemas.openxmlformats.org/drawingml/2006/main">
              <a:ext uri="{FF2B5EF4-FFF2-40B4-BE49-F238E27FC236}">
                <a16:creationId xmlns:a16="http://schemas.microsoft.com/office/drawing/2014/main" id="{3FE3D4C4-2B8E-4D14-9DB9-D1D1809D3506}"/>
              </a:ext>
            </a:extLst>
          </p:cNvPr>
          <p:cNvSpPr>
            <a:spLocks xmlns:a="http://schemas.openxmlformats.org/drawingml/2006/main" noGrp="1"/>
          </p:cNvSpPr>
          <p:nvPr/>
        </p:nvSpPr>
        <p:spPr>
          <a:xfrm xmlns:a="http://schemas.openxmlformats.org/drawingml/2006/main">
            <a:off x="533400" y="64770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5181F"/>
                </a:solidFill>
                <a:latin typeface="Cairo"/>
                <a:ea typeface="Cairo"/>
                <a:cs typeface="Cairo"/>
              </a:defRPr>
            </a:defPPr>
          </a:lstStyle>
          <a:p xmlns:a="http://schemas.openxmlformats.org/drawingml/2006/main">
            <a:pPr>
              <a:defRPr sz="3150" b="1">
                <a:solidFill>
                  <a:srgbClr val="15181F"/>
                </a:solidFill>
                <a:latin typeface="Cairo"/>
                <a:ea typeface="Cairo"/>
                <a:cs typeface="Cairo"/>
              </a:defRPr>
            </a:pPr>
            <a:r>
              <a:rPr sz="3150" b="1">
                <a:solidFill>
                  <a:srgbClr val="15181F"/>
                </a:solidFill>
                <a:latin typeface="Cairo"/>
                <a:ea typeface="Cairo"/>
                <a:cs typeface="Cairo"/>
              </a:rPr>
              <a:t>Predicted effects of the six shared variants</a:t>
            </a:r>
          </a:p>
        </p:txBody>
      </p:sp>
      <p:sp>
        <p:nvSpPr>
          <p:cNvPr id="3" name="text-2">
            <a:extLst xmlns:a="http://schemas.openxmlformats.org/drawingml/2006/main">
              <a:ext uri="{FF2B5EF4-FFF2-40B4-BE49-F238E27FC236}">
                <a16:creationId xmlns:a16="http://schemas.microsoft.com/office/drawing/2014/main" id="{77D7EEC1-047D-45FF-8FEB-534D17D872F5}"/>
              </a:ext>
            </a:extLst>
          </p:cNvPr>
          <p:cNvSpPr>
            <a:spLocks xmlns:a="http://schemas.openxmlformats.org/drawingml/2006/main" noGrp="1"/>
          </p:cNvSpPr>
          <p:nvPr/>
        </p:nvSpPr>
        <p:spPr>
          <a:xfrm xmlns:a="http://schemas.openxmlformats.org/drawingml/2006/main">
            <a:off x="11144250" y="64103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687182"/>
                </a:solidFill>
                <a:latin typeface="Cairo"/>
                <a:ea typeface="Cairo"/>
                <a:cs typeface="Cairo"/>
              </a:defRPr>
            </a:defPPr>
          </a:lstStyle>
          <a:p xmlns:a="http://schemas.openxmlformats.org/drawingml/2006/main">
            <a:pPr>
              <a:defRPr sz="1125" b="0">
                <a:solidFill>
                  <a:srgbClr val="687182"/>
                </a:solidFill>
                <a:latin typeface="Cairo"/>
                <a:ea typeface="Cairo"/>
                <a:cs typeface="Cairo"/>
              </a:defRPr>
            </a:pPr>
            <a:r>
              <a:rPr sz="1125" b="0">
                <a:solidFill>
                  <a:srgbClr val="687182"/>
                </a:solidFill>
                <a:latin typeface="Cairo"/>
                <a:ea typeface="Cairo"/>
                <a:cs typeface="Cairo"/>
              </a:rPr>
              <a:t>14</a:t>
            </a:r>
          </a:p>
        </p:txBody>
      </p:sp>
      <p:graphicFrame>
        <p:nvGraphicFramePr>
          <p:cNvPr id="4" name="">
            <a:extLst xmlns:a="http://schemas.openxmlformats.org/drawingml/2006/main">
              <a:ext uri="{FF2B5EF4-FFF2-40B4-BE49-F238E27FC236}">
                <a16:creationId xmlns:a16="http://schemas.microsoft.com/office/drawing/2014/main" id="{682FFD90-25FB-4E7F-972A-39BFF6AB6DD8}"/>
              </a:ext>
            </a:extLst>
          </p:cNvPr>
          <p:cNvGraphicFramePr/>
          <p:nvPr/>
        </p:nvGraphicFramePr>
        <p:xfrm>
          <a:off xmlns:a="http://schemas.openxmlformats.org/drawingml/2006/main" x="533400" y="1752600"/>
          <a:ext xmlns:a="http://schemas.openxmlformats.org/drawingml/2006/main" cx="7372350" cy="3648075"/>
        </p:xfrm>
        <a:graphic xmlns:a="http://schemas.openxmlformats.org/drawingml/2006/main">
          <a:graphicData uri="http://schemas.openxmlformats.org/drawingml/2006/table">
            <a:tbl>
              <a:tblPr/>
              <a:tblGrid>
                <a:gridCol w="1285875"/>
                <a:gridCol w="2133600"/>
                <a:gridCol w="3952875"/>
              </a:tblGrid>
              <a:tr h="521154">
                <a:tc>
                  <a:txBody>
                    <a:bodyPr/>
                    <a:lstStyle/>
                    <a:p>
                      <a:r>
                        <a:rPr sz="1650" b="1">
                          <a:solidFill>
                            <a:srgbClr val="FFFFFF"/>
                          </a:solidFill>
                          <a:latin typeface="Cairo"/>
                          <a:ea typeface="Cairo"/>
                          <a:cs typeface="Cairo"/>
                        </a:rPr>
                        <a:t>Gene</a:t>
                      </a:r>
                    </a:p>
                  </a:txBody>
                  <a:tcPr marL="91440" marR="91440" marT="45720" marB="45720">
                    <a:lnL w="9525">
                      <a:solidFill>
                        <a:srgbClr val="E6EBF2"/>
                      </a:solidFill>
                      <a:prstDash val="solid"/>
                    </a:lnL>
                    <a:lnR w="9525">
                      <a:solidFill>
                        <a:srgbClr val="E6EBF2"/>
                      </a:solidFill>
                      <a:prstDash val="solid"/>
                    </a:lnR>
                    <a:lnT w="9525">
                      <a:solidFill>
                        <a:srgbClr val="E6EBF2"/>
                      </a:solidFill>
                      <a:prstDash val="solid"/>
                    </a:lnT>
                    <a:lnB w="9525">
                      <a:solidFill>
                        <a:srgbClr val="E6EBF2"/>
                      </a:solidFill>
                      <a:prstDash val="solid"/>
                    </a:lnB>
                    <a:solidFill>
                      <a:srgbClr val="15181F"/>
                    </a:solidFill>
                  </a:tcPr>
                </a:tc>
                <a:tc>
                  <a:txBody>
                    <a:bodyPr/>
                    <a:lstStyle/>
                    <a:p>
                      <a:r>
                        <a:rPr sz="1650" b="1">
                          <a:solidFill>
                            <a:srgbClr val="FFFFFF"/>
                          </a:solidFill>
                          <a:latin typeface="Cairo"/>
                          <a:ea typeface="Cairo"/>
                          <a:cs typeface="Cairo"/>
                        </a:rPr>
                        <a:t>Codon</a:t>
                      </a:r>
                    </a:p>
                  </a:txBody>
                  <a:tcPr marL="91440" marR="91440" marT="45720" marB="45720">
                    <a:lnR w="9525">
                      <a:solidFill>
                        <a:srgbClr val="E6EBF2"/>
                      </a:solidFill>
                      <a:prstDash val="solid"/>
                    </a:lnR>
                    <a:lnT w="9525">
                      <a:solidFill>
                        <a:srgbClr val="E6EBF2"/>
                      </a:solidFill>
                      <a:prstDash val="solid"/>
                    </a:lnT>
                    <a:lnB w="9525">
                      <a:solidFill>
                        <a:srgbClr val="E6EBF2"/>
                      </a:solidFill>
                      <a:prstDash val="solid"/>
                    </a:lnB>
                    <a:solidFill>
                      <a:srgbClr val="15181F"/>
                    </a:solidFill>
                  </a:tcPr>
                </a:tc>
                <a:tc>
                  <a:txBody>
                    <a:bodyPr/>
                    <a:lstStyle/>
                    <a:p>
                      <a:r>
                        <a:rPr sz="1650" b="1">
                          <a:solidFill>
                            <a:srgbClr val="FFFFFF"/>
                          </a:solidFill>
                          <a:latin typeface="Cairo"/>
                          <a:ea typeface="Cairo"/>
                          <a:cs typeface="Cairo"/>
                        </a:rPr>
                        <a:t>Protein change</a:t>
                      </a:r>
                    </a:p>
                  </a:txBody>
                  <a:tcPr marL="91440" marR="91440" marT="45720" marB="45720">
                    <a:lnR w="9525">
                      <a:solidFill>
                        <a:srgbClr val="E6EBF2"/>
                      </a:solidFill>
                      <a:prstDash val="solid"/>
                    </a:lnR>
                    <a:lnT w="9525">
                      <a:solidFill>
                        <a:srgbClr val="E6EBF2"/>
                      </a:solidFill>
                      <a:prstDash val="solid"/>
                    </a:lnT>
                    <a:lnB w="9525">
                      <a:solidFill>
                        <a:srgbClr val="E6EBF2"/>
                      </a:solidFill>
                      <a:prstDash val="solid"/>
                    </a:lnB>
                    <a:solidFill>
                      <a:srgbClr val="15181F"/>
                    </a:solidFill>
                  </a:tcPr>
                </a:tc>
              </a:tr>
              <a:tr h="521154">
                <a:tc>
                  <a:txBody>
                    <a:bodyPr/>
                    <a:lstStyle/>
                    <a:p>
                      <a:r>
                        <a:rPr sz="1650" b="0">
                          <a:solidFill>
                            <a:srgbClr val="15181F"/>
                          </a:solidFill>
                          <a:latin typeface="Cairo"/>
                          <a:ea typeface="Cairo"/>
                          <a:cs typeface="Cairo"/>
                        </a:rPr>
                        <a:t>mrdB</a:t>
                      </a:r>
                    </a:p>
                  </a:txBody>
                  <a:tcPr marL="91440" marR="91440" marT="45720" marB="45720">
                    <a:lnL w="9525">
                      <a:solidFill>
                        <a:srgbClr val="E6EBF2"/>
                      </a:solidFill>
                      <a:prstDash val="solid"/>
                    </a:lnL>
                    <a:lnR w="9525">
                      <a:solidFill>
                        <a:srgbClr val="E6EBF2"/>
                      </a:solidFill>
                      <a:prstDash val="solid"/>
                    </a:lnR>
                    <a:lnB w="9525">
                      <a:solidFill>
                        <a:srgbClr val="E6EBF2"/>
                      </a:solidFill>
                      <a:prstDash val="solid"/>
                    </a:lnB>
                    <a:solidFill>
                      <a:srgbClr val="F3F6FB"/>
                    </a:solidFill>
                  </a:tcPr>
                </a:tc>
                <a:tc>
                  <a:txBody>
                    <a:bodyPr/>
                    <a:lstStyle/>
                    <a:p>
                      <a:r>
                        <a:rPr sz="1650" b="0">
                          <a:solidFill>
                            <a:srgbClr val="15181F"/>
                          </a:solidFill>
                          <a:latin typeface="Cairo"/>
                          <a:ea typeface="Cairo"/>
                          <a:cs typeface="Cairo"/>
                        </a:rPr>
                        <a:t>CGC → CAC</a:t>
                      </a:r>
                    </a:p>
                  </a:txBody>
                  <a:tcPr marL="91440" marR="91440" marT="45720" marB="45720">
                    <a:lnR w="9525">
                      <a:solidFill>
                        <a:srgbClr val="E6EBF2"/>
                      </a:solidFill>
                      <a:prstDash val="solid"/>
                    </a:lnR>
                    <a:lnB w="9525">
                      <a:solidFill>
                        <a:srgbClr val="E6EBF2"/>
                      </a:solidFill>
                      <a:prstDash val="solid"/>
                    </a:lnB>
                    <a:solidFill>
                      <a:srgbClr val="F3F6FB"/>
                    </a:solidFill>
                  </a:tcPr>
                </a:tc>
                <a:tc>
                  <a:txBody>
                    <a:bodyPr/>
                    <a:lstStyle/>
                    <a:p>
                      <a:r>
                        <a:rPr sz="1650" b="0">
                          <a:solidFill>
                            <a:srgbClr val="15181F"/>
                          </a:solidFill>
                          <a:latin typeface="Cairo"/>
                          <a:ea typeface="Cairo"/>
                          <a:cs typeface="Cairo"/>
                        </a:rPr>
                        <a:t>p.Arg69His</a:t>
                      </a:r>
                    </a:p>
                  </a:txBody>
                  <a:tcPr marL="91440" marR="91440" marT="45720" marB="45720">
                    <a:lnR w="9525">
                      <a:solidFill>
                        <a:srgbClr val="E6EBF2"/>
                      </a:solidFill>
                      <a:prstDash val="solid"/>
                    </a:lnR>
                    <a:lnB w="9525">
                      <a:solidFill>
                        <a:srgbClr val="E6EBF2"/>
                      </a:solidFill>
                      <a:prstDash val="solid"/>
                    </a:lnB>
                    <a:solidFill>
                      <a:srgbClr val="F3F6FB"/>
                    </a:solidFill>
                  </a:tcPr>
                </a:tc>
              </a:tr>
              <a:tr h="521154">
                <a:tc>
                  <a:txBody>
                    <a:bodyPr/>
                    <a:lstStyle/>
                    <a:p>
                      <a:r>
                        <a:rPr sz="1650" b="0">
                          <a:solidFill>
                            <a:srgbClr val="15181F"/>
                          </a:solidFill>
                          <a:latin typeface="Cairo"/>
                          <a:ea typeface="Cairo"/>
                          <a:cs typeface="Cairo"/>
                        </a:rPr>
                        <a:t>topA</a:t>
                      </a:r>
                    </a:p>
                  </a:txBody>
                  <a:tcPr marL="91440" marR="91440" marT="45720" marB="45720">
                    <a:lnL w="9525">
                      <a:solidFill>
                        <a:srgbClr val="E6EBF2"/>
                      </a:solidFill>
                      <a:prstDash val="solid"/>
                    </a:lnL>
                    <a:lnR w="9525">
                      <a:solidFill>
                        <a:srgbClr val="E6EBF2"/>
                      </a:solidFill>
                      <a:prstDash val="solid"/>
                    </a:lnR>
                    <a:lnB w="9525">
                      <a:solidFill>
                        <a:srgbClr val="E6EBF2"/>
                      </a:solidFill>
                      <a:prstDash val="solid"/>
                    </a:lnB>
                    <a:solidFill>
                      <a:srgbClr val="FFFFFF"/>
                    </a:solidFill>
                  </a:tcPr>
                </a:tc>
                <a:tc>
                  <a:txBody>
                    <a:bodyPr/>
                    <a:lstStyle/>
                    <a:p>
                      <a:r>
                        <a:rPr sz="1650" b="0">
                          <a:solidFill>
                            <a:srgbClr val="15181F"/>
                          </a:solidFill>
                          <a:latin typeface="Cairo"/>
                          <a:ea typeface="Cairo"/>
                          <a:cs typeface="Cairo"/>
                        </a:rPr>
                        <a:t>ACG → AAG</a:t>
                      </a:r>
                    </a:p>
                  </a:txBody>
                  <a:tcPr marL="91440" marR="91440" marT="45720" marB="45720">
                    <a:lnR w="9525">
                      <a:solidFill>
                        <a:srgbClr val="E6EBF2"/>
                      </a:solidFill>
                      <a:prstDash val="solid"/>
                    </a:lnR>
                    <a:lnB w="9525">
                      <a:solidFill>
                        <a:srgbClr val="E6EBF2"/>
                      </a:solidFill>
                      <a:prstDash val="solid"/>
                    </a:lnB>
                    <a:solidFill>
                      <a:srgbClr val="FFFFFF"/>
                    </a:solidFill>
                  </a:tcPr>
                </a:tc>
                <a:tc>
                  <a:txBody>
                    <a:bodyPr/>
                    <a:lstStyle/>
                    <a:p>
                      <a:r>
                        <a:rPr sz="1650" b="0">
                          <a:solidFill>
                            <a:srgbClr val="15181F"/>
                          </a:solidFill>
                          <a:latin typeface="Cairo"/>
                          <a:ea typeface="Cairo"/>
                          <a:cs typeface="Cairo"/>
                        </a:rPr>
                        <a:t>p.Thr792Lys</a:t>
                      </a:r>
                    </a:p>
                  </a:txBody>
                  <a:tcPr marL="91440" marR="91440" marT="45720" marB="45720">
                    <a:lnR w="9525">
                      <a:solidFill>
                        <a:srgbClr val="E6EBF2"/>
                      </a:solidFill>
                      <a:prstDash val="solid"/>
                    </a:lnR>
                    <a:lnB w="9525">
                      <a:solidFill>
                        <a:srgbClr val="E6EBF2"/>
                      </a:solidFill>
                      <a:prstDash val="solid"/>
                    </a:lnB>
                    <a:solidFill>
                      <a:srgbClr val="FFFFFF"/>
                    </a:solidFill>
                  </a:tcPr>
                </a:tc>
              </a:tr>
              <a:tr h="521154">
                <a:tc>
                  <a:txBody>
                    <a:bodyPr/>
                    <a:lstStyle/>
                    <a:p>
                      <a:r>
                        <a:rPr sz="1650" b="0">
                          <a:solidFill>
                            <a:srgbClr val="15181F"/>
                          </a:solidFill>
                          <a:latin typeface="Cairo"/>
                          <a:ea typeface="Cairo"/>
                          <a:cs typeface="Cairo"/>
                        </a:rPr>
                        <a:t>pykF</a:t>
                      </a:r>
                    </a:p>
                  </a:txBody>
                  <a:tcPr marL="91440" marR="91440" marT="45720" marB="45720">
                    <a:lnL w="9525">
                      <a:solidFill>
                        <a:srgbClr val="E6EBF2"/>
                      </a:solidFill>
                      <a:prstDash val="solid"/>
                    </a:lnL>
                    <a:lnR w="9525">
                      <a:solidFill>
                        <a:srgbClr val="E6EBF2"/>
                      </a:solidFill>
                      <a:prstDash val="solid"/>
                    </a:lnR>
                    <a:lnB w="9525">
                      <a:solidFill>
                        <a:srgbClr val="E6EBF2"/>
                      </a:solidFill>
                      <a:prstDash val="solid"/>
                    </a:lnB>
                    <a:solidFill>
                      <a:srgbClr val="F3F6FB"/>
                    </a:solidFill>
                  </a:tcPr>
                </a:tc>
                <a:tc>
                  <a:txBody>
                    <a:bodyPr/>
                    <a:lstStyle/>
                    <a:p>
                      <a:r>
                        <a:rPr sz="1650" b="0">
                          <a:solidFill>
                            <a:srgbClr val="15181F"/>
                          </a:solidFill>
                          <a:latin typeface="Cairo"/>
                          <a:ea typeface="Cairo"/>
                          <a:cs typeface="Cairo"/>
                        </a:rPr>
                        <a:t>GAT → AAT</a:t>
                      </a:r>
                    </a:p>
                  </a:txBody>
                  <a:tcPr marL="91440" marR="91440" marT="45720" marB="45720">
                    <a:lnR w="9525">
                      <a:solidFill>
                        <a:srgbClr val="E6EBF2"/>
                      </a:solidFill>
                      <a:prstDash val="solid"/>
                    </a:lnR>
                    <a:lnB w="9525">
                      <a:solidFill>
                        <a:srgbClr val="E6EBF2"/>
                      </a:solidFill>
                      <a:prstDash val="solid"/>
                    </a:lnB>
                    <a:solidFill>
                      <a:srgbClr val="F3F6FB"/>
                    </a:solidFill>
                  </a:tcPr>
                </a:tc>
                <a:tc>
                  <a:txBody>
                    <a:bodyPr/>
                    <a:lstStyle/>
                    <a:p>
                      <a:r>
                        <a:rPr sz="1650" b="0">
                          <a:solidFill>
                            <a:srgbClr val="15181F"/>
                          </a:solidFill>
                          <a:latin typeface="Cairo"/>
                          <a:ea typeface="Cairo"/>
                          <a:cs typeface="Cairo"/>
                        </a:rPr>
                        <a:t>p.Asp127Asn</a:t>
                      </a:r>
                    </a:p>
                  </a:txBody>
                  <a:tcPr marL="91440" marR="91440" marT="45720" marB="45720">
                    <a:lnR w="9525">
                      <a:solidFill>
                        <a:srgbClr val="E6EBF2"/>
                      </a:solidFill>
                      <a:prstDash val="solid"/>
                    </a:lnR>
                    <a:lnB w="9525">
                      <a:solidFill>
                        <a:srgbClr val="E6EBF2"/>
                      </a:solidFill>
                      <a:prstDash val="solid"/>
                    </a:lnB>
                    <a:solidFill>
                      <a:srgbClr val="F3F6FB"/>
                    </a:solidFill>
                  </a:tcPr>
                </a:tc>
              </a:tr>
              <a:tr h="521154">
                <a:tc>
                  <a:txBody>
                    <a:bodyPr/>
                    <a:lstStyle/>
                    <a:p>
                      <a:r>
                        <a:rPr sz="1650" b="0">
                          <a:solidFill>
                            <a:srgbClr val="15181F"/>
                          </a:solidFill>
                          <a:latin typeface="Cairo"/>
                          <a:ea typeface="Cairo"/>
                          <a:cs typeface="Cairo"/>
                        </a:rPr>
                        <a:t>malT</a:t>
                      </a:r>
                    </a:p>
                  </a:txBody>
                  <a:tcPr marL="91440" marR="91440" marT="45720" marB="45720">
                    <a:lnL w="9525">
                      <a:solidFill>
                        <a:srgbClr val="E6EBF2"/>
                      </a:solidFill>
                      <a:prstDash val="solid"/>
                    </a:lnL>
                    <a:lnR w="9525">
                      <a:solidFill>
                        <a:srgbClr val="E6EBF2"/>
                      </a:solidFill>
                      <a:prstDash val="solid"/>
                    </a:lnR>
                    <a:lnB w="9525">
                      <a:solidFill>
                        <a:srgbClr val="E6EBF2"/>
                      </a:solidFill>
                      <a:prstDash val="solid"/>
                    </a:lnB>
                    <a:solidFill>
                      <a:srgbClr val="FFFFFF"/>
                    </a:solidFill>
                  </a:tcPr>
                </a:tc>
                <a:tc>
                  <a:txBody>
                    <a:bodyPr/>
                    <a:lstStyle/>
                    <a:p>
                      <a:r>
                        <a:rPr sz="1650" b="0">
                          <a:solidFill>
                            <a:srgbClr val="15181F"/>
                          </a:solidFill>
                          <a:latin typeface="Cairo"/>
                          <a:ea typeface="Cairo"/>
                          <a:cs typeface="Cairo"/>
                        </a:rPr>
                        <a:t>ACC → GCC</a:t>
                      </a:r>
                    </a:p>
                  </a:txBody>
                  <a:tcPr marL="91440" marR="91440" marT="45720" marB="45720">
                    <a:lnR w="9525">
                      <a:solidFill>
                        <a:srgbClr val="E6EBF2"/>
                      </a:solidFill>
                      <a:prstDash val="solid"/>
                    </a:lnR>
                    <a:lnB w="9525">
                      <a:solidFill>
                        <a:srgbClr val="E6EBF2"/>
                      </a:solidFill>
                      <a:prstDash val="solid"/>
                    </a:lnB>
                    <a:solidFill>
                      <a:srgbClr val="FFFFFF"/>
                    </a:solidFill>
                  </a:tcPr>
                </a:tc>
                <a:tc>
                  <a:txBody>
                    <a:bodyPr/>
                    <a:lstStyle/>
                    <a:p>
                      <a:r>
                        <a:rPr sz="1650" b="0">
                          <a:solidFill>
                            <a:srgbClr val="15181F"/>
                          </a:solidFill>
                          <a:latin typeface="Cairo"/>
                          <a:ea typeface="Cairo"/>
                          <a:cs typeface="Cairo"/>
                        </a:rPr>
                        <a:t>p.Thr46Ala</a:t>
                      </a:r>
                    </a:p>
                  </a:txBody>
                  <a:tcPr marL="91440" marR="91440" marT="45720" marB="45720">
                    <a:lnR w="9525">
                      <a:solidFill>
                        <a:srgbClr val="E6EBF2"/>
                      </a:solidFill>
                      <a:prstDash val="solid"/>
                    </a:lnR>
                    <a:lnB w="9525">
                      <a:solidFill>
                        <a:srgbClr val="E6EBF2"/>
                      </a:solidFill>
                      <a:prstDash val="solid"/>
                    </a:lnB>
                    <a:solidFill>
                      <a:srgbClr val="FFFFFF"/>
                    </a:solidFill>
                  </a:tcPr>
                </a:tc>
              </a:tr>
              <a:tr h="521154">
                <a:tc>
                  <a:txBody>
                    <a:bodyPr/>
                    <a:lstStyle/>
                    <a:p>
                      <a:r>
                        <a:rPr sz="1650" b="0">
                          <a:solidFill>
                            <a:srgbClr val="15181F"/>
                          </a:solidFill>
                          <a:latin typeface="Cairo"/>
                          <a:ea typeface="Cairo"/>
                          <a:cs typeface="Cairo"/>
                        </a:rPr>
                        <a:t>hslU</a:t>
                      </a:r>
                    </a:p>
                  </a:txBody>
                  <a:tcPr marL="91440" marR="91440" marT="45720" marB="45720">
                    <a:lnL w="9525">
                      <a:solidFill>
                        <a:srgbClr val="E6EBF2"/>
                      </a:solidFill>
                      <a:prstDash val="solid"/>
                    </a:lnL>
                    <a:lnR w="9525">
                      <a:solidFill>
                        <a:srgbClr val="E6EBF2"/>
                      </a:solidFill>
                      <a:prstDash val="solid"/>
                    </a:lnR>
                    <a:lnB w="9525">
                      <a:solidFill>
                        <a:srgbClr val="E6EBF2"/>
                      </a:solidFill>
                      <a:prstDash val="solid"/>
                    </a:lnB>
                    <a:solidFill>
                      <a:srgbClr val="F3F6FB"/>
                    </a:solidFill>
                  </a:tcPr>
                </a:tc>
                <a:tc>
                  <a:txBody>
                    <a:bodyPr/>
                    <a:lstStyle/>
                    <a:p>
                      <a:r>
                        <a:rPr sz="1650" b="0">
                          <a:solidFill>
                            <a:srgbClr val="15181F"/>
                          </a:solidFill>
                          <a:latin typeface="Cairo"/>
                          <a:ea typeface="Cairo"/>
                          <a:cs typeface="Cairo"/>
                        </a:rPr>
                        <a:t>TCT → CCT</a:t>
                      </a:r>
                    </a:p>
                  </a:txBody>
                  <a:tcPr marL="91440" marR="91440" marT="45720" marB="45720">
                    <a:lnR w="9525">
                      <a:solidFill>
                        <a:srgbClr val="E6EBF2"/>
                      </a:solidFill>
                      <a:prstDash val="solid"/>
                    </a:lnR>
                    <a:lnB w="9525">
                      <a:solidFill>
                        <a:srgbClr val="E6EBF2"/>
                      </a:solidFill>
                      <a:prstDash val="solid"/>
                    </a:lnB>
                    <a:solidFill>
                      <a:srgbClr val="F3F6FB"/>
                    </a:solidFill>
                  </a:tcPr>
                </a:tc>
                <a:tc>
                  <a:txBody>
                    <a:bodyPr/>
                    <a:lstStyle/>
                    <a:p>
                      <a:r>
                        <a:rPr sz="1650" b="0">
                          <a:solidFill>
                            <a:srgbClr val="15181F"/>
                          </a:solidFill>
                          <a:latin typeface="Cairo"/>
                          <a:ea typeface="Cairo"/>
                          <a:cs typeface="Cairo"/>
                        </a:rPr>
                        <a:t>p.Ser350Pro</a:t>
                      </a:r>
                    </a:p>
                  </a:txBody>
                  <a:tcPr marL="91440" marR="91440" marT="45720" marB="45720">
                    <a:lnR w="9525">
                      <a:solidFill>
                        <a:srgbClr val="E6EBF2"/>
                      </a:solidFill>
                      <a:prstDash val="solid"/>
                    </a:lnR>
                    <a:lnB w="9525">
                      <a:solidFill>
                        <a:srgbClr val="E6EBF2"/>
                      </a:solidFill>
                      <a:prstDash val="solid"/>
                    </a:lnB>
                    <a:solidFill>
                      <a:srgbClr val="F3F6FB"/>
                    </a:solidFill>
                  </a:tcPr>
                </a:tc>
              </a:tr>
              <a:tr h="521154">
                <a:tc>
                  <a:txBody>
                    <a:bodyPr/>
                    <a:lstStyle/>
                    <a:p>
                      <a:r>
                        <a:rPr sz="1650" b="0">
                          <a:solidFill>
                            <a:srgbClr val="15181F"/>
                          </a:solidFill>
                          <a:latin typeface="Cairo"/>
                          <a:ea typeface="Cairo"/>
                          <a:cs typeface="Cairo"/>
                        </a:rPr>
                        <a:t>ytfN</a:t>
                      </a:r>
                    </a:p>
                  </a:txBody>
                  <a:tcPr marL="91440" marR="91440" marT="45720" marB="45720">
                    <a:lnL w="9525">
                      <a:solidFill>
                        <a:srgbClr val="E6EBF2"/>
                      </a:solidFill>
                      <a:prstDash val="solid"/>
                    </a:lnL>
                    <a:lnR w="9525">
                      <a:solidFill>
                        <a:srgbClr val="E6EBF2"/>
                      </a:solidFill>
                      <a:prstDash val="solid"/>
                    </a:lnR>
                    <a:lnB w="9525">
                      <a:solidFill>
                        <a:srgbClr val="E6EBF2"/>
                      </a:solidFill>
                      <a:prstDash val="solid"/>
                    </a:lnB>
                    <a:solidFill>
                      <a:srgbClr val="FFFFFF"/>
                    </a:solidFill>
                  </a:tcPr>
                </a:tc>
                <a:tc>
                  <a:txBody>
                    <a:bodyPr/>
                    <a:lstStyle/>
                    <a:p>
                      <a:r>
                        <a:rPr sz="1650" b="0">
                          <a:solidFill>
                            <a:srgbClr val="15181F"/>
                          </a:solidFill>
                          <a:latin typeface="Cairo"/>
                          <a:ea typeface="Cairo"/>
                          <a:cs typeface="Cairo"/>
                        </a:rPr>
                        <a:t>GGC → CCA*</a:t>
                      </a:r>
                    </a:p>
                  </a:txBody>
                  <a:tcPr marL="91440" marR="91440" marT="45720" marB="45720">
                    <a:lnR w="9525">
                      <a:solidFill>
                        <a:srgbClr val="E6EBF2"/>
                      </a:solidFill>
                      <a:prstDash val="solid"/>
                    </a:lnR>
                    <a:lnB w="9525">
                      <a:solidFill>
                        <a:srgbClr val="E6EBF2"/>
                      </a:solidFill>
                      <a:prstDash val="solid"/>
                    </a:lnB>
                    <a:solidFill>
                      <a:srgbClr val="FFFFFF"/>
                    </a:solidFill>
                  </a:tcPr>
                </a:tc>
                <a:tc>
                  <a:txBody>
                    <a:bodyPr/>
                    <a:lstStyle/>
                    <a:p>
                      <a:r>
                        <a:rPr sz="1650" b="0">
                          <a:solidFill>
                            <a:srgbClr val="15181F"/>
                          </a:solidFill>
                          <a:latin typeface="Cairo"/>
                          <a:ea typeface="Cairo"/>
                          <a:cs typeface="Cairo"/>
                        </a:rPr>
                        <a:t>p.Gly1176ProfsTer5</a:t>
                      </a:r>
                    </a:p>
                  </a:txBody>
                  <a:tcPr marL="91440" marR="91440" marT="45720" marB="45720">
                    <a:lnR w="9525">
                      <a:solidFill>
                        <a:srgbClr val="E6EBF2"/>
                      </a:solidFill>
                      <a:prstDash val="solid"/>
                    </a:lnR>
                    <a:lnB w="9525">
                      <a:solidFill>
                        <a:srgbClr val="E6EBF2"/>
                      </a:solidFill>
                      <a:prstDash val="solid"/>
                    </a:lnB>
                    <a:solidFill>
                      <a:srgbClr val="FFFFFF"/>
                    </a:solidFill>
                  </a:tcPr>
                </a:tc>
              </a:tr>
            </a:tbl>
          </a:graphicData>
        </a:graphic>
      </p:graphicFrame>
      <p:pic>
        <p:nvPicPr>
          <p:cNvPr id="5" name="">
            <a:extLst xmlns:a="http://schemas.openxmlformats.org/drawingml/2006/main">
              <a:ext uri="{FF2B5EF4-FFF2-40B4-BE49-F238E27FC236}">
                <a16:creationId xmlns:a16="http://schemas.microsoft.com/office/drawing/2014/main" id="{E5AE1334-D090-4EB1-BB1A-EB89B3CB2CDD}"/>
              </a:ext>
            </a:extLst>
          </p:cNvPr>
          <p:cNvPicPr>
            <a:picLocks xmlns:a="http://schemas.openxmlformats.org/drawingml/2006/main" noChangeAspect="1"/>
          </p:cNvPicPr>
          <p:nvPr/>
        </p:nvPicPr>
        <p:blipFill>
          <a:blip xmlns:r="http://schemas.openxmlformats.org/officeDocument/2006/relationships" xmlns:a="http://schemas.openxmlformats.org/drawingml/2006/main" r:embed="R8343e0a673eb475b"/>
          <a:stretch xmlns:a="http://schemas.openxmlformats.org/drawingml/2006/main"/>
        </p:blipFill>
        <p:spPr>
          <a:xfrm xmlns:a="http://schemas.openxmlformats.org/drawingml/2006/main">
            <a:off x="8134350" y="1941978"/>
            <a:ext cx="3524250" cy="1983445"/>
          </a:xfrm>
          <a:prstGeom xmlns:a="http://schemas.openxmlformats.org/drawingml/2006/main" prst="rect">
            <a:avLst/>
          </a:prstGeom>
        </p:spPr>
      </p:pic>
      <p:sp>
        <p:nvSpPr>
          <p:cNvPr id="6" name="text-3">
            <a:extLst xmlns:a="http://schemas.openxmlformats.org/drawingml/2006/main">
              <a:ext uri="{FF2B5EF4-FFF2-40B4-BE49-F238E27FC236}">
                <a16:creationId xmlns:a16="http://schemas.microsoft.com/office/drawing/2014/main" id="{F09A857F-5092-4102-BFB6-CDD8DC57D87F}"/>
              </a:ext>
            </a:extLst>
          </p:cNvPr>
          <p:cNvSpPr>
            <a:spLocks xmlns:a="http://schemas.openxmlformats.org/drawingml/2006/main" noGrp="1"/>
          </p:cNvSpPr>
          <p:nvPr/>
        </p:nvSpPr>
        <p:spPr>
          <a:xfrm xmlns:a="http://schemas.openxmlformats.org/drawingml/2006/main">
            <a:off x="8286750" y="4295775"/>
            <a:ext cx="3333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2457FF"/>
                </a:solidFill>
                <a:latin typeface="Cairo"/>
                <a:ea typeface="Cairo"/>
                <a:cs typeface="Cairo"/>
              </a:defRPr>
            </a:defPPr>
          </a:lstStyle>
          <a:p xmlns:a="http://schemas.openxmlformats.org/drawingml/2006/main">
            <a:pPr>
              <a:defRPr sz="2400" b="1">
                <a:solidFill>
                  <a:srgbClr val="2457FF"/>
                </a:solidFill>
                <a:latin typeface="Cairo"/>
                <a:ea typeface="Cairo"/>
                <a:cs typeface="Cairo"/>
              </a:defRPr>
            </a:pPr>
            <a:r>
              <a:rPr sz="2400" b="1">
                <a:solidFill>
                  <a:srgbClr val="2457FF"/>
                </a:solidFill>
                <a:latin typeface="Cairo"/>
                <a:ea typeface="Cairo"/>
                <a:cs typeface="Cairo"/>
              </a:rPr>
              <a:t>5 missense</a:t>
            </a:r>
          </a:p>
        </p:txBody>
      </p:sp>
      <p:sp>
        <p:nvSpPr>
          <p:cNvPr id="7" name="text-4">
            <a:extLst xmlns:a="http://schemas.openxmlformats.org/drawingml/2006/main">
              <a:ext uri="{FF2B5EF4-FFF2-40B4-BE49-F238E27FC236}">
                <a16:creationId xmlns:a16="http://schemas.microsoft.com/office/drawing/2014/main" id="{A0F8623C-C200-4325-964D-2C5EA0BC5E60}"/>
              </a:ext>
            </a:extLst>
          </p:cNvPr>
          <p:cNvSpPr>
            <a:spLocks xmlns:a="http://schemas.openxmlformats.org/drawingml/2006/main" noGrp="1"/>
          </p:cNvSpPr>
          <p:nvPr/>
        </p:nvSpPr>
        <p:spPr>
          <a:xfrm xmlns:a="http://schemas.openxmlformats.org/drawingml/2006/main">
            <a:off x="8286750" y="4905375"/>
            <a:ext cx="3333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15181F"/>
                </a:solidFill>
                <a:latin typeface="Cairo"/>
                <a:ea typeface="Cairo"/>
                <a:cs typeface="Cairo"/>
              </a:defRPr>
            </a:defPPr>
          </a:lstStyle>
          <a:p xmlns:a="http://schemas.openxmlformats.org/drawingml/2006/main">
            <a:pPr>
              <a:defRPr sz="2400" b="1">
                <a:solidFill>
                  <a:srgbClr val="15181F"/>
                </a:solidFill>
                <a:latin typeface="Cairo"/>
                <a:ea typeface="Cairo"/>
                <a:cs typeface="Cairo"/>
              </a:defRPr>
            </a:pPr>
            <a:r>
              <a:rPr sz="2400" b="1">
                <a:solidFill>
                  <a:srgbClr val="15181F"/>
                </a:solidFill>
                <a:latin typeface="Cairo"/>
                <a:ea typeface="Cairo"/>
                <a:cs typeface="Cairo"/>
              </a:rPr>
              <a:t>1 frameshift</a:t>
            </a:r>
          </a:p>
        </p:txBody>
      </p:sp>
      <p:sp>
        <p:nvSpPr>
          <p:cNvPr id="8" name="text-5">
            <a:extLst xmlns:a="http://schemas.openxmlformats.org/drawingml/2006/main">
              <a:ext uri="{FF2B5EF4-FFF2-40B4-BE49-F238E27FC236}">
                <a16:creationId xmlns:a16="http://schemas.microsoft.com/office/drawing/2014/main" id="{556C1F8E-9343-4243-8F57-6930A8C7D189}"/>
              </a:ext>
            </a:extLst>
          </p:cNvPr>
          <p:cNvSpPr>
            <a:spLocks xmlns:a="http://schemas.openxmlformats.org/drawingml/2006/main" noGrp="1"/>
          </p:cNvSpPr>
          <p:nvPr/>
        </p:nvSpPr>
        <p:spPr>
          <a:xfrm xmlns:a="http://schemas.openxmlformats.org/drawingml/2006/main">
            <a:off x="533400" y="6038850"/>
            <a:ext cx="1112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687182"/>
                </a:solidFill>
                <a:latin typeface="Cairo"/>
                <a:ea typeface="Cairo"/>
                <a:cs typeface="Cairo"/>
              </a:defRPr>
            </a:defPPr>
          </a:lstStyle>
          <a:p xmlns:a="http://schemas.openxmlformats.org/drawingml/2006/main">
            <a:pPr>
              <a:defRPr sz="1275" b="0">
                <a:solidFill>
                  <a:srgbClr val="687182"/>
                </a:solidFill>
                <a:latin typeface="Cairo"/>
                <a:ea typeface="Cairo"/>
                <a:cs typeface="Cairo"/>
              </a:defRPr>
            </a:pPr>
            <a:r>
              <a:rPr sz="1275" b="0">
                <a:solidFill>
                  <a:srgbClr val="687182"/>
                </a:solidFill>
                <a:latin typeface="Cairo"/>
                <a:ea typeface="Cairo"/>
                <a:cs typeface="Cairo"/>
              </a:rPr>
              <a:t>* First altered codon. Predictions treat each variant separately. Functional effects remain untested.</a:t>
            </a:r>
          </a:p>
        </p:txBody>
      </p:sp>
    </p:spTree>
    <p:extLst>
      <p:ext uri="{BB962C8B-B14F-4D97-AF65-F5344CB8AC3E}">
        <p14:creationId xmlns:p14="http://schemas.microsoft.com/office/powerpoint/2010/main" val="2128793509"/>
      </p:ext>
    </p:extLst>
  </p:cSld>
</p:sld>
</file>

<file path=ppt/slides/slide15.xml><?xml version="1.0" encoding="utf-8"?>
<p:sld xmlns:p="http://schemas.openxmlformats.org/presentationml/2006/main">
  <p:cSld>
    <p:bg>
      <p:bgPr>
        <a:solidFill xmlns:a="http://schemas.openxmlformats.org/drawingml/2006/main">
          <a:srgbClr val="15181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F3F14BA0-E633-4226-BDDA-493E6ADA1FB9}"/>
              </a:ext>
            </a:extLst>
          </p:cNvPr>
          <p:cNvSpPr>
            <a:spLocks xmlns:a="http://schemas.openxmlformats.org/drawingml/2006/main" noGrp="1"/>
          </p:cNvSpPr>
          <p:nvPr/>
        </p:nvSpPr>
        <p:spPr>
          <a:xfrm xmlns:a="http://schemas.openxmlformats.org/drawingml/2006/main">
            <a:off x="533400" y="2571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B4C4FF"/>
                </a:solidFill>
                <a:latin typeface="Cairo"/>
                <a:ea typeface="Cairo"/>
                <a:cs typeface="Cairo"/>
              </a:defRPr>
            </a:defPPr>
          </a:lstStyle>
          <a:p xmlns:a="http://schemas.openxmlformats.org/drawingml/2006/main">
            <a:pPr>
              <a:defRPr sz="1200" b="1">
                <a:solidFill>
                  <a:srgbClr val="B4C4FF"/>
                </a:solidFill>
                <a:latin typeface="Cairo"/>
                <a:ea typeface="Cairo"/>
                <a:cs typeface="Cairo"/>
              </a:defRPr>
            </a:pPr>
            <a:r>
              <a:rPr sz="1200" b="1">
                <a:solidFill>
                  <a:srgbClr val="B4C4FF"/>
                </a:solidFill>
                <a:latin typeface="Cairo"/>
                <a:ea typeface="Cairo"/>
                <a:cs typeface="Cairo"/>
              </a:rPr>
              <a:t>CONCLUSIONS</a:t>
            </a:r>
          </a:p>
        </p:txBody>
      </p:sp>
      <p:sp>
        <p:nvSpPr>
          <p:cNvPr id="2" name="text-1">
            <a:extLst xmlns:a="http://schemas.openxmlformats.org/drawingml/2006/main">
              <a:ext uri="{FF2B5EF4-FFF2-40B4-BE49-F238E27FC236}">
                <a16:creationId xmlns:a16="http://schemas.microsoft.com/office/drawing/2014/main" id="{0A0D4C9B-3B03-49AD-8C1B-33A261C9B02D}"/>
              </a:ext>
            </a:extLst>
          </p:cNvPr>
          <p:cNvSpPr>
            <a:spLocks xmlns:a="http://schemas.openxmlformats.org/drawingml/2006/main" noGrp="1"/>
          </p:cNvSpPr>
          <p:nvPr/>
        </p:nvSpPr>
        <p:spPr>
          <a:xfrm xmlns:a="http://schemas.openxmlformats.org/drawingml/2006/main">
            <a:off x="533400" y="64770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FFFFFF"/>
                </a:solidFill>
                <a:latin typeface="Cairo"/>
                <a:ea typeface="Cairo"/>
                <a:cs typeface="Cairo"/>
              </a:defRPr>
            </a:defPPr>
          </a:lstStyle>
          <a:p xmlns:a="http://schemas.openxmlformats.org/drawingml/2006/main">
            <a:pPr>
              <a:defRPr sz="3150" b="1">
                <a:solidFill>
                  <a:srgbClr val="FFFFFF"/>
                </a:solidFill>
                <a:latin typeface="Cairo"/>
                <a:ea typeface="Cairo"/>
                <a:cs typeface="Cairo"/>
              </a:defRPr>
            </a:pPr>
            <a:r>
              <a:rPr sz="3150" b="1">
                <a:solidFill>
                  <a:srgbClr val="FFFFFF"/>
                </a:solidFill>
                <a:latin typeface="Cairo"/>
                <a:ea typeface="Cairo"/>
                <a:cs typeface="Cairo"/>
              </a:rPr>
              <a:t>What this analysis establishes</a:t>
            </a:r>
          </a:p>
        </p:txBody>
      </p:sp>
      <p:sp>
        <p:nvSpPr>
          <p:cNvPr id="3" name="text-2">
            <a:extLst xmlns:a="http://schemas.openxmlformats.org/drawingml/2006/main">
              <a:ext uri="{FF2B5EF4-FFF2-40B4-BE49-F238E27FC236}">
                <a16:creationId xmlns:a16="http://schemas.microsoft.com/office/drawing/2014/main" id="{FF1C1601-AE09-4509-A193-E85A9064CD1E}"/>
              </a:ext>
            </a:extLst>
          </p:cNvPr>
          <p:cNvSpPr>
            <a:spLocks xmlns:a="http://schemas.openxmlformats.org/drawingml/2006/main" noGrp="1"/>
          </p:cNvSpPr>
          <p:nvPr/>
        </p:nvSpPr>
        <p:spPr>
          <a:xfrm xmlns:a="http://schemas.openxmlformats.org/drawingml/2006/main">
            <a:off x="11144250" y="64103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B4C4FF"/>
                </a:solidFill>
                <a:latin typeface="Cairo"/>
                <a:ea typeface="Cairo"/>
                <a:cs typeface="Cairo"/>
              </a:defRPr>
            </a:defPPr>
          </a:lstStyle>
          <a:p xmlns:a="http://schemas.openxmlformats.org/drawingml/2006/main">
            <a:pPr>
              <a:defRPr sz="1125" b="0">
                <a:solidFill>
                  <a:srgbClr val="B4C4FF"/>
                </a:solidFill>
                <a:latin typeface="Cairo"/>
                <a:ea typeface="Cairo"/>
                <a:cs typeface="Cairo"/>
              </a:defRPr>
            </a:pPr>
            <a:r>
              <a:rPr sz="1125" b="0">
                <a:solidFill>
                  <a:srgbClr val="B4C4FF"/>
                </a:solidFill>
                <a:latin typeface="Cairo"/>
                <a:ea typeface="Cairo"/>
                <a:cs typeface="Cairo"/>
              </a:rPr>
              <a:t>15</a:t>
            </a:r>
          </a:p>
        </p:txBody>
      </p:sp>
      <p:sp>
        <p:nvSpPr>
          <p:cNvPr id="4" name="text-3">
            <a:extLst xmlns:a="http://schemas.openxmlformats.org/drawingml/2006/main">
              <a:ext uri="{FF2B5EF4-FFF2-40B4-BE49-F238E27FC236}">
                <a16:creationId xmlns:a16="http://schemas.microsoft.com/office/drawing/2014/main" id="{41ED9B2A-FB33-4567-B97C-54A14E11F8B2}"/>
              </a:ext>
            </a:extLst>
          </p:cNvPr>
          <p:cNvSpPr>
            <a:spLocks xmlns:a="http://schemas.openxmlformats.org/drawingml/2006/main" noGrp="1"/>
          </p:cNvSpPr>
          <p:nvPr/>
        </p:nvSpPr>
        <p:spPr>
          <a:xfrm xmlns:a="http://schemas.openxmlformats.org/drawingml/2006/main">
            <a:off x="533400" y="1857375"/>
            <a:ext cx="111252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800" b="1">
                <a:solidFill>
                  <a:srgbClr val="FFFFFF"/>
                </a:solidFill>
                <a:latin typeface="Cairo"/>
                <a:ea typeface="Cairo"/>
                <a:cs typeface="Cairo"/>
              </a:defRPr>
            </a:defPPr>
          </a:lstStyle>
          <a:p xmlns:a="http://schemas.openxmlformats.org/drawingml/2006/main">
            <a:pPr>
              <a:defRPr sz="7800" b="1">
                <a:solidFill>
                  <a:srgbClr val="FFFFFF"/>
                </a:solidFill>
                <a:latin typeface="Cairo"/>
                <a:ea typeface="Cairo"/>
                <a:cs typeface="Cairo"/>
              </a:defRPr>
            </a:pPr>
            <a:r>
              <a:rPr sz="7800" b="1">
                <a:solidFill>
                  <a:srgbClr val="FFFFFF"/>
                </a:solidFill>
                <a:latin typeface="Cairo"/>
                <a:ea typeface="Cairo"/>
                <a:cs typeface="Cairo"/>
              </a:rPr>
              <a:t>22 / 710 / 8</a:t>
            </a:r>
          </a:p>
        </p:txBody>
      </p:sp>
      <p:sp>
        <p:nvSpPr>
          <p:cNvPr id="5" name="text-4">
            <a:extLst xmlns:a="http://schemas.openxmlformats.org/drawingml/2006/main">
              <a:ext uri="{FF2B5EF4-FFF2-40B4-BE49-F238E27FC236}">
                <a16:creationId xmlns:a16="http://schemas.microsoft.com/office/drawing/2014/main" id="{D5C318DE-D865-423F-9B46-3A4EAEB5A96E}"/>
              </a:ext>
            </a:extLst>
          </p:cNvPr>
          <p:cNvSpPr>
            <a:spLocks xmlns:a="http://schemas.openxmlformats.org/drawingml/2006/main" noGrp="1"/>
          </p:cNvSpPr>
          <p:nvPr/>
        </p:nvSpPr>
        <p:spPr>
          <a:xfrm xmlns:a="http://schemas.openxmlformats.org/drawingml/2006/main">
            <a:off x="581025" y="3238500"/>
            <a:ext cx="1047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0">
                <a:solidFill>
                  <a:srgbClr val="B8C6E6"/>
                </a:solidFill>
                <a:latin typeface="Cairo"/>
                <a:ea typeface="Cairo"/>
                <a:cs typeface="Cairo"/>
              </a:defRPr>
            </a:defPPr>
          </a:lstStyle>
          <a:p xmlns:a="http://schemas.openxmlformats.org/drawingml/2006/main">
            <a:pPr>
              <a:defRPr sz="2625" b="0">
                <a:solidFill>
                  <a:srgbClr val="B8C6E6"/>
                </a:solidFill>
                <a:latin typeface="Cairo"/>
                <a:ea typeface="Cairo"/>
                <a:cs typeface="Cairo"/>
              </a:defRPr>
            </a:pPr>
            <a:r>
              <a:rPr sz="2625" b="0">
                <a:solidFill>
                  <a:srgbClr val="B8C6E6"/>
                </a:solidFill>
                <a:latin typeface="Cairo"/>
                <a:ea typeface="Cairo"/>
                <a:cs typeface="Cairo"/>
              </a:rPr>
              <a:t>filtered variant records</a:t>
            </a:r>
          </a:p>
        </p:txBody>
      </p:sp>
      <p:sp>
        <p:nvSpPr>
          <p:cNvPr id="6" name="">
            <a:extLst xmlns:a="http://schemas.openxmlformats.org/drawingml/2006/main">
              <a:ext uri="{FF2B5EF4-FFF2-40B4-BE49-F238E27FC236}">
                <a16:creationId xmlns:a16="http://schemas.microsoft.com/office/drawing/2014/main" id="{1C010D62-4C7D-48B4-BF11-098D261C9FFF}"/>
              </a:ext>
            </a:extLst>
          </p:cNvPr>
          <p:cNvSpPr>
            <a:spLocks xmlns:a="http://schemas.openxmlformats.org/drawingml/2006/main" noGrp="1"/>
          </p:cNvSpPr>
          <p:nvPr/>
        </p:nvSpPr>
        <p:spPr>
          <a:xfrm xmlns:a="http://schemas.openxmlformats.org/drawingml/2006/main">
            <a:off x="533400" y="4133850"/>
            <a:ext cx="11125200" cy="11430"/>
          </a:xfrm>
          <a:prstGeom xmlns:a="http://schemas.openxmlformats.org/drawingml/2006/main" prst="rect">
            <a:avLst/>
          </a:prstGeom>
          <a:solidFill xmlns:a="http://schemas.openxmlformats.org/drawingml/2006/main">
            <a:srgbClr val="384253"/>
          </a:solidFill>
          <a:ln xmlns:a="http://schemas.openxmlformats.org/drawingml/2006/main" w="0">
            <a:noFill/>
            <a:prstDash val="solid"/>
          </a:ln>
        </p:spPr>
      </p:sp>
      <p:sp>
        <p:nvSpPr>
          <p:cNvPr id="7" name="text-6">
            <a:extLst xmlns:a="http://schemas.openxmlformats.org/drawingml/2006/main">
              <a:ext uri="{FF2B5EF4-FFF2-40B4-BE49-F238E27FC236}">
                <a16:creationId xmlns:a16="http://schemas.microsoft.com/office/drawing/2014/main" id="{253FE8AD-46C5-49B4-8564-676CAD7EFAA5}"/>
              </a:ext>
            </a:extLst>
          </p:cNvPr>
          <p:cNvSpPr>
            <a:spLocks xmlns:a="http://schemas.openxmlformats.org/drawingml/2006/main" noGrp="1"/>
          </p:cNvSpPr>
          <p:nvPr/>
        </p:nvSpPr>
        <p:spPr>
          <a:xfrm xmlns:a="http://schemas.openxmlformats.org/drawingml/2006/main">
            <a:off x="533400" y="4495800"/>
            <a:ext cx="5334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75" b="1">
                <a:solidFill>
                  <a:srgbClr val="FFFFFF"/>
                </a:solidFill>
                <a:latin typeface="Cairo"/>
                <a:ea typeface="Cairo"/>
                <a:cs typeface="Cairo"/>
              </a:defRPr>
            </a:defPPr>
          </a:lstStyle>
          <a:p xmlns:a="http://schemas.openxmlformats.org/drawingml/2006/main">
            <a:pPr>
              <a:defRPr sz="2775" b="1">
                <a:solidFill>
                  <a:srgbClr val="FFFFFF"/>
                </a:solidFill>
                <a:latin typeface="Cairo"/>
                <a:ea typeface="Cairo"/>
                <a:cs typeface="Cairo"/>
              </a:defRPr>
            </a:pPr>
            <a:r>
              <a:rPr sz="2775" b="1">
                <a:solidFill>
                  <a:srgbClr val="FFFFFF"/>
                </a:solidFill>
                <a:latin typeface="Cairo"/>
                <a:ea typeface="Cairo"/>
                <a:cs typeface="Cairo"/>
              </a:rPr>
              <a:t>Six shared alleles</a:t>
            </a:r>
          </a:p>
        </p:txBody>
      </p:sp>
      <p:sp>
        <p:nvSpPr>
          <p:cNvPr id="8" name="text-7">
            <a:extLst xmlns:a="http://schemas.openxmlformats.org/drawingml/2006/main">
              <a:ext uri="{FF2B5EF4-FFF2-40B4-BE49-F238E27FC236}">
                <a16:creationId xmlns:a16="http://schemas.microsoft.com/office/drawing/2014/main" id="{309D50CF-8EED-4004-BB09-4A91A2F30141}"/>
              </a:ext>
            </a:extLst>
          </p:cNvPr>
          <p:cNvSpPr>
            <a:spLocks xmlns:a="http://schemas.openxmlformats.org/drawingml/2006/main" noGrp="1"/>
          </p:cNvSpPr>
          <p:nvPr/>
        </p:nvSpPr>
        <p:spPr>
          <a:xfrm xmlns:a="http://schemas.openxmlformats.org/drawingml/2006/main">
            <a:off x="533400" y="5076825"/>
            <a:ext cx="533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B8C6E6"/>
                </a:solidFill>
                <a:latin typeface="Cairo"/>
                <a:ea typeface="Cairo"/>
                <a:cs typeface="Cairo"/>
              </a:defRPr>
            </a:defPPr>
          </a:lstStyle>
          <a:p xmlns:a="http://schemas.openxmlformats.org/drawingml/2006/main">
            <a:pPr>
              <a:defRPr sz="1950" b="0">
                <a:solidFill>
                  <a:srgbClr val="B8C6E6"/>
                </a:solidFill>
                <a:latin typeface="Cairo"/>
                <a:ea typeface="Cairo"/>
                <a:cs typeface="Cairo"/>
              </a:defRPr>
            </a:pPr>
            <a:r>
              <a:rPr sz="1950" b="0">
                <a:solidFill>
                  <a:srgbClr val="B8C6E6"/>
                </a:solidFill>
                <a:latin typeface="Cairo"/>
                <a:ea typeface="Cairo"/>
                <a:cs typeface="Cairo"/>
              </a:rPr>
              <a:t>with predicted coding effects</a:t>
            </a:r>
          </a:p>
        </p:txBody>
      </p:sp>
      <p:sp>
        <p:nvSpPr>
          <p:cNvPr id="9" name="text-8">
            <a:extLst xmlns:a="http://schemas.openxmlformats.org/drawingml/2006/main">
              <a:ext uri="{FF2B5EF4-FFF2-40B4-BE49-F238E27FC236}">
                <a16:creationId xmlns:a16="http://schemas.microsoft.com/office/drawing/2014/main" id="{CA0E5649-BF2D-48AE-B57A-604205A534F9}"/>
              </a:ext>
            </a:extLst>
          </p:cNvPr>
          <p:cNvSpPr>
            <a:spLocks xmlns:a="http://schemas.openxmlformats.org/drawingml/2006/main" noGrp="1"/>
          </p:cNvSpPr>
          <p:nvPr/>
        </p:nvSpPr>
        <p:spPr>
          <a:xfrm xmlns:a="http://schemas.openxmlformats.org/drawingml/2006/main">
            <a:off x="6372225" y="4495800"/>
            <a:ext cx="5286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FFFFFF"/>
                </a:solidFill>
                <a:latin typeface="Cairo"/>
                <a:ea typeface="Cairo"/>
                <a:cs typeface="Cairo"/>
              </a:defRPr>
            </a:defPPr>
          </a:lstStyle>
          <a:p xmlns:a="http://schemas.openxmlformats.org/drawingml/2006/main">
            <a:pPr>
              <a:defRPr sz="2550" b="1">
                <a:solidFill>
                  <a:srgbClr val="FFFFFF"/>
                </a:solidFill>
                <a:latin typeface="Cairo"/>
                <a:ea typeface="Cairo"/>
                <a:cs typeface="Cairo"/>
              </a:defRPr>
            </a:pPr>
            <a:r>
              <a:rPr sz="2550" b="1">
                <a:solidFill>
                  <a:srgbClr val="FFFFFF"/>
                </a:solidFill>
                <a:latin typeface="Cairo"/>
                <a:ea typeface="Cairo"/>
                <a:cs typeface="Cairo"/>
              </a:rPr>
              <a:t>One large coverage gap</a:t>
            </a:r>
          </a:p>
        </p:txBody>
      </p:sp>
      <p:sp>
        <p:nvSpPr>
          <p:cNvPr id="10" name="text-9">
            <a:extLst xmlns:a="http://schemas.openxmlformats.org/drawingml/2006/main">
              <a:ext uri="{FF2B5EF4-FFF2-40B4-BE49-F238E27FC236}">
                <a16:creationId xmlns:a16="http://schemas.microsoft.com/office/drawing/2014/main" id="{84A959CF-71A7-4B71-8536-DB367006A806}"/>
              </a:ext>
            </a:extLst>
          </p:cNvPr>
          <p:cNvSpPr>
            <a:spLocks xmlns:a="http://schemas.openxmlformats.org/drawingml/2006/main" noGrp="1"/>
          </p:cNvSpPr>
          <p:nvPr/>
        </p:nvSpPr>
        <p:spPr>
          <a:xfrm xmlns:a="http://schemas.openxmlformats.org/drawingml/2006/main">
            <a:off x="6372225" y="5076825"/>
            <a:ext cx="5286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B8C6E6"/>
                </a:solidFill>
                <a:latin typeface="Cairo"/>
                <a:ea typeface="Cairo"/>
                <a:cs typeface="Cairo"/>
              </a:defRPr>
            </a:defPPr>
          </a:lstStyle>
          <a:p xmlns:a="http://schemas.openxmlformats.org/drawingml/2006/main">
            <a:pPr>
              <a:defRPr sz="1950" b="0">
                <a:solidFill>
                  <a:srgbClr val="B8C6E6"/>
                </a:solidFill>
                <a:latin typeface="Cairo"/>
                <a:ea typeface="Cairo"/>
                <a:cs typeface="Cairo"/>
              </a:defRPr>
            </a:pPr>
            <a:r>
              <a:rPr sz="1950" b="0">
                <a:solidFill>
                  <a:srgbClr val="B8C6E6"/>
                </a:solidFill>
                <a:latin typeface="Cairo"/>
                <a:ea typeface="Cairo"/>
                <a:cs typeface="Cairo"/>
              </a:rPr>
              <a:t>requiring further validation</a:t>
            </a:r>
          </a:p>
        </p:txBody>
      </p:sp>
    </p:spTree>
    <p:extLst>
      <p:ext uri="{BB962C8B-B14F-4D97-AF65-F5344CB8AC3E}">
        <p14:creationId xmlns:p14="http://schemas.microsoft.com/office/powerpoint/2010/main" val="3957678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 name="text-0">
            <a:extLst xmlns:a="http://schemas.openxmlformats.org/drawingml/2006/main">
              <a:ext uri="{FF2B5EF4-FFF2-40B4-BE49-F238E27FC236}">
                <a16:creationId xmlns:a16="http://schemas.microsoft.com/office/drawing/2014/main" id="{AD753B4C-8E04-4157-9240-13F479E3D464}"/>
              </a:ext>
            </a:extLst>
          </p:cNvPr>
          <p:cNvSpPr>
            <a:spLocks xmlns:a="http://schemas.openxmlformats.org/drawingml/2006/main" noGrp="1"/>
          </p:cNvSpPr>
          <p:nvPr/>
        </p:nvSpPr>
        <p:spPr>
          <a:xfrm xmlns:a="http://schemas.openxmlformats.org/drawingml/2006/main">
            <a:off x="533400" y="2571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2457FF"/>
                </a:solidFill>
                <a:latin typeface="Cairo"/>
                <a:ea typeface="Cairo"/>
                <a:cs typeface="Cairo"/>
              </a:defRPr>
            </a:defPPr>
          </a:lstStyle>
          <a:p xmlns:a="http://schemas.openxmlformats.org/drawingml/2006/main">
            <a:pPr>
              <a:defRPr sz="1200" b="1">
                <a:solidFill>
                  <a:srgbClr val="2457FF"/>
                </a:solidFill>
                <a:latin typeface="Cairo"/>
                <a:ea typeface="Cairo"/>
                <a:cs typeface="Cairo"/>
              </a:defRPr>
            </a:pPr>
            <a:r>
              <a:rPr sz="1200" b="1">
                <a:solidFill>
                  <a:srgbClr val="2457FF"/>
                </a:solidFill>
                <a:latin typeface="Cairo"/>
                <a:ea typeface="Cairo"/>
                <a:cs typeface="Cairo"/>
              </a:rPr>
              <a:t>BACKUP</a:t>
            </a:r>
          </a:p>
        </p:txBody>
      </p:sp>
      <p:sp>
        <p:nvSpPr>
          <p:cNvPr id="2" name="text-1">
            <a:extLst xmlns:a="http://schemas.openxmlformats.org/drawingml/2006/main">
              <a:ext uri="{FF2B5EF4-FFF2-40B4-BE49-F238E27FC236}">
                <a16:creationId xmlns:a16="http://schemas.microsoft.com/office/drawing/2014/main" id="{D1B9C1B6-DB1E-44C9-9A34-C38C7D8ABEDA}"/>
              </a:ext>
            </a:extLst>
          </p:cNvPr>
          <p:cNvSpPr>
            <a:spLocks xmlns:a="http://schemas.openxmlformats.org/drawingml/2006/main" noGrp="1"/>
          </p:cNvSpPr>
          <p:nvPr/>
        </p:nvSpPr>
        <p:spPr>
          <a:xfrm xmlns:a="http://schemas.openxmlformats.org/drawingml/2006/main">
            <a:off x="533400" y="64770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5181F"/>
                </a:solidFill>
                <a:latin typeface="Cairo"/>
                <a:ea typeface="Cairo"/>
                <a:cs typeface="Cairo"/>
              </a:defRPr>
            </a:defPPr>
          </a:lstStyle>
          <a:p xmlns:a="http://schemas.openxmlformats.org/drawingml/2006/main">
            <a:pPr>
              <a:defRPr sz="3150" b="1">
                <a:solidFill>
                  <a:srgbClr val="15181F"/>
                </a:solidFill>
                <a:latin typeface="Cairo"/>
                <a:ea typeface="Cairo"/>
                <a:cs typeface="Cairo"/>
              </a:defRPr>
            </a:pPr>
            <a:r>
              <a:rPr sz="3150" b="1">
                <a:solidFill>
                  <a:srgbClr val="15181F"/>
                </a:solidFill>
                <a:latin typeface="Cairo"/>
                <a:ea typeface="Cairo"/>
                <a:cs typeface="Cairo"/>
              </a:rPr>
              <a:t>Complete workflow reference</a:t>
            </a:r>
          </a:p>
        </p:txBody>
      </p:sp>
      <p:sp>
        <p:nvSpPr>
          <p:cNvPr id="3" name="text-2">
            <a:extLst xmlns:a="http://schemas.openxmlformats.org/drawingml/2006/main">
              <a:ext uri="{FF2B5EF4-FFF2-40B4-BE49-F238E27FC236}">
                <a16:creationId xmlns:a16="http://schemas.microsoft.com/office/drawing/2014/main" id="{654679E7-9D15-4CD9-ADEC-FD732D1DED81}"/>
              </a:ext>
            </a:extLst>
          </p:cNvPr>
          <p:cNvSpPr>
            <a:spLocks xmlns:a="http://schemas.openxmlformats.org/drawingml/2006/main" noGrp="1"/>
          </p:cNvSpPr>
          <p:nvPr/>
        </p:nvSpPr>
        <p:spPr>
          <a:xfrm xmlns:a="http://schemas.openxmlformats.org/drawingml/2006/main">
            <a:off x="11144250" y="64103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687182"/>
                </a:solidFill>
                <a:latin typeface="Cairo"/>
                <a:ea typeface="Cairo"/>
                <a:cs typeface="Cairo"/>
              </a:defRPr>
            </a:defPPr>
          </a:lstStyle>
          <a:p xmlns:a="http://schemas.openxmlformats.org/drawingml/2006/main">
            <a:pPr>
              <a:defRPr sz="1125" b="0">
                <a:solidFill>
                  <a:srgbClr val="687182"/>
                </a:solidFill>
                <a:latin typeface="Cairo"/>
                <a:ea typeface="Cairo"/>
                <a:cs typeface="Cairo"/>
              </a:defRPr>
            </a:pPr>
            <a:r>
              <a:rPr sz="1125" b="0">
                <a:solidFill>
                  <a:srgbClr val="687182"/>
                </a:solidFill>
                <a:latin typeface="Cairo"/>
                <a:ea typeface="Cairo"/>
                <a:cs typeface="Cairo"/>
              </a:rPr>
              <a:t>16</a:t>
            </a:r>
          </a:p>
        </p:txBody>
      </p:sp>
      <p:sp>
        <p:nvSpPr>
          <p:cNvPr id="4" name="text-3">
            <a:extLst xmlns:a="http://schemas.openxmlformats.org/drawingml/2006/main">
              <a:ext uri="{FF2B5EF4-FFF2-40B4-BE49-F238E27FC236}">
                <a16:creationId xmlns:a16="http://schemas.microsoft.com/office/drawing/2014/main" id="{6EDE3EA7-F2B6-4B2E-A0C7-0103831017CA}"/>
              </a:ext>
            </a:extLst>
          </p:cNvPr>
          <p:cNvSpPr>
            <a:spLocks xmlns:a="http://schemas.openxmlformats.org/drawingml/2006/main" noGrp="1"/>
          </p:cNvSpPr>
          <p:nvPr/>
        </p:nvSpPr>
        <p:spPr>
          <a:xfrm xmlns:a="http://schemas.openxmlformats.org/drawingml/2006/main">
            <a:off x="533400" y="1752600"/>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457FF"/>
                </a:solidFill>
                <a:latin typeface="Cairo"/>
                <a:ea typeface="Cairo"/>
                <a:cs typeface="Cairo"/>
              </a:defRPr>
            </a:defPPr>
          </a:lstStyle>
          <a:p xmlns:a="http://schemas.openxmlformats.org/drawingml/2006/main">
            <a:pPr>
              <a:defRPr sz="1875" b="1">
                <a:solidFill>
                  <a:srgbClr val="2457FF"/>
                </a:solidFill>
                <a:latin typeface="Cairo"/>
                <a:ea typeface="Cairo"/>
                <a:cs typeface="Cairo"/>
              </a:defRPr>
            </a:pPr>
            <a:r>
              <a:rPr sz="1875" b="1">
                <a:solidFill>
                  <a:srgbClr val="2457FF"/>
                </a:solidFill>
                <a:latin typeface="Cairo"/>
                <a:ea typeface="Cairo"/>
                <a:cs typeface="Cairo"/>
              </a:rPr>
              <a:t>01</a:t>
            </a:r>
          </a:p>
        </p:txBody>
      </p:sp>
      <p:sp>
        <p:nvSpPr>
          <p:cNvPr id="5" name="text-4">
            <a:extLst xmlns:a="http://schemas.openxmlformats.org/drawingml/2006/main">
              <a:ext uri="{FF2B5EF4-FFF2-40B4-BE49-F238E27FC236}">
                <a16:creationId xmlns:a16="http://schemas.microsoft.com/office/drawing/2014/main" id="{F851C412-D790-4485-A892-832D975F767D}"/>
              </a:ext>
            </a:extLst>
          </p:cNvPr>
          <p:cNvSpPr>
            <a:spLocks xmlns:a="http://schemas.openxmlformats.org/drawingml/2006/main" noGrp="1"/>
          </p:cNvSpPr>
          <p:nvPr/>
        </p:nvSpPr>
        <p:spPr>
          <a:xfrm xmlns:a="http://schemas.openxmlformats.org/drawingml/2006/main">
            <a:off x="1123950" y="1752600"/>
            <a:ext cx="271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5181F"/>
                </a:solidFill>
                <a:latin typeface="Cairo"/>
                <a:ea typeface="Cairo"/>
                <a:cs typeface="Cairo"/>
              </a:defRPr>
            </a:defPPr>
          </a:lstStyle>
          <a:p xmlns:a="http://schemas.openxmlformats.org/drawingml/2006/main">
            <a:pPr>
              <a:defRPr sz="1725" b="1">
                <a:solidFill>
                  <a:srgbClr val="15181F"/>
                </a:solidFill>
                <a:latin typeface="Cairo"/>
                <a:ea typeface="Cairo"/>
                <a:cs typeface="Cairo"/>
              </a:defRPr>
            </a:pPr>
            <a:r>
              <a:rPr sz="1725" b="1">
                <a:solidFill>
                  <a:srgbClr val="15181F"/>
                </a:solidFill>
                <a:latin typeface="Cairo"/>
                <a:ea typeface="Cairo"/>
                <a:cs typeface="Cairo"/>
              </a:rPr>
              <a:t>Inputs</a:t>
            </a:r>
          </a:p>
        </p:txBody>
      </p:sp>
      <p:sp>
        <p:nvSpPr>
          <p:cNvPr id="6" name="text-5">
            <a:extLst xmlns:a="http://schemas.openxmlformats.org/drawingml/2006/main">
              <a:ext uri="{FF2B5EF4-FFF2-40B4-BE49-F238E27FC236}">
                <a16:creationId xmlns:a16="http://schemas.microsoft.com/office/drawing/2014/main" id="{4D710F94-FCF8-4723-A3D9-9F16AC1A5933}"/>
              </a:ext>
            </a:extLst>
          </p:cNvPr>
          <p:cNvSpPr>
            <a:spLocks xmlns:a="http://schemas.openxmlformats.org/drawingml/2006/main" noGrp="1"/>
          </p:cNvSpPr>
          <p:nvPr/>
        </p:nvSpPr>
        <p:spPr>
          <a:xfrm xmlns:a="http://schemas.openxmlformats.org/drawingml/2006/main">
            <a:off x="1123950" y="20859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87182"/>
                </a:solidFill>
                <a:latin typeface="Cairo"/>
                <a:ea typeface="Cairo"/>
                <a:cs typeface="Cairo"/>
              </a:defRPr>
            </a:defPPr>
          </a:lstStyle>
          <a:p xmlns:a="http://schemas.openxmlformats.org/drawingml/2006/main">
            <a:pPr>
              <a:defRPr sz="1350" b="0">
                <a:solidFill>
                  <a:srgbClr val="687182"/>
                </a:solidFill>
                <a:latin typeface="Cairo"/>
                <a:ea typeface="Cairo"/>
                <a:cs typeface="Cairo"/>
              </a:defRPr>
            </a:pPr>
            <a:r>
              <a:rPr sz="1350" b="0">
                <a:solidFill>
                  <a:srgbClr val="687182"/>
                </a:solidFill>
                <a:latin typeface="Cairo"/>
                <a:ea typeface="Cairo"/>
                <a:cs typeface="Cairo"/>
              </a:rPr>
              <a:t>FASTQ / FASTA</a:t>
            </a:r>
          </a:p>
        </p:txBody>
      </p:sp>
      <p:sp>
        <p:nvSpPr>
          <p:cNvPr id="7" name="text-6">
            <a:extLst xmlns:a="http://schemas.openxmlformats.org/drawingml/2006/main">
              <a:ext uri="{FF2B5EF4-FFF2-40B4-BE49-F238E27FC236}">
                <a16:creationId xmlns:a16="http://schemas.microsoft.com/office/drawing/2014/main" id="{0CB0FB7B-5D4F-47DE-B053-4BF02E13B797}"/>
              </a:ext>
            </a:extLst>
          </p:cNvPr>
          <p:cNvSpPr>
            <a:spLocks xmlns:a="http://schemas.openxmlformats.org/drawingml/2006/main" noGrp="1"/>
          </p:cNvSpPr>
          <p:nvPr/>
        </p:nvSpPr>
        <p:spPr>
          <a:xfrm xmlns:a="http://schemas.openxmlformats.org/drawingml/2006/main">
            <a:off x="533400" y="2447925"/>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457FF"/>
                </a:solidFill>
                <a:latin typeface="Cairo"/>
                <a:ea typeface="Cairo"/>
                <a:cs typeface="Cairo"/>
              </a:defRPr>
            </a:defPPr>
          </a:lstStyle>
          <a:p xmlns:a="http://schemas.openxmlformats.org/drawingml/2006/main">
            <a:pPr>
              <a:defRPr sz="1875" b="1">
                <a:solidFill>
                  <a:srgbClr val="2457FF"/>
                </a:solidFill>
                <a:latin typeface="Cairo"/>
                <a:ea typeface="Cairo"/>
                <a:cs typeface="Cairo"/>
              </a:defRPr>
            </a:pPr>
            <a:r>
              <a:rPr sz="1875" b="1">
                <a:solidFill>
                  <a:srgbClr val="2457FF"/>
                </a:solidFill>
                <a:latin typeface="Cairo"/>
                <a:ea typeface="Cairo"/>
                <a:cs typeface="Cairo"/>
              </a:rPr>
              <a:t>02</a:t>
            </a:r>
          </a:p>
        </p:txBody>
      </p:sp>
      <p:sp>
        <p:nvSpPr>
          <p:cNvPr id="8" name="text-7">
            <a:extLst xmlns:a="http://schemas.openxmlformats.org/drawingml/2006/main">
              <a:ext uri="{FF2B5EF4-FFF2-40B4-BE49-F238E27FC236}">
                <a16:creationId xmlns:a16="http://schemas.microsoft.com/office/drawing/2014/main" id="{2FCE0481-E2F8-402C-AF0C-4762B7683485}"/>
              </a:ext>
            </a:extLst>
          </p:cNvPr>
          <p:cNvSpPr>
            <a:spLocks xmlns:a="http://schemas.openxmlformats.org/drawingml/2006/main" noGrp="1"/>
          </p:cNvSpPr>
          <p:nvPr/>
        </p:nvSpPr>
        <p:spPr>
          <a:xfrm xmlns:a="http://schemas.openxmlformats.org/drawingml/2006/main">
            <a:off x="1123950" y="2447925"/>
            <a:ext cx="271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5181F"/>
                </a:solidFill>
                <a:latin typeface="Cairo"/>
                <a:ea typeface="Cairo"/>
                <a:cs typeface="Cairo"/>
              </a:defRPr>
            </a:defPPr>
          </a:lstStyle>
          <a:p xmlns:a="http://schemas.openxmlformats.org/drawingml/2006/main">
            <a:pPr>
              <a:defRPr sz="1725" b="1">
                <a:solidFill>
                  <a:srgbClr val="15181F"/>
                </a:solidFill>
                <a:latin typeface="Cairo"/>
                <a:ea typeface="Cairo"/>
                <a:cs typeface="Cairo"/>
              </a:defRPr>
            </a:pPr>
            <a:r>
              <a:rPr sz="1725" b="1">
                <a:solidFill>
                  <a:srgbClr val="15181F"/>
                </a:solidFill>
                <a:latin typeface="Cairo"/>
                <a:ea typeface="Cairo"/>
                <a:cs typeface="Cairo"/>
              </a:rPr>
              <a:t>QC</a:t>
            </a:r>
          </a:p>
        </p:txBody>
      </p:sp>
      <p:sp>
        <p:nvSpPr>
          <p:cNvPr id="9" name="text-8">
            <a:extLst xmlns:a="http://schemas.openxmlformats.org/drawingml/2006/main">
              <a:ext uri="{FF2B5EF4-FFF2-40B4-BE49-F238E27FC236}">
                <a16:creationId xmlns:a16="http://schemas.microsoft.com/office/drawing/2014/main" id="{7C1EC30B-8F02-4ACC-9D10-016DD45B0291}"/>
              </a:ext>
            </a:extLst>
          </p:cNvPr>
          <p:cNvSpPr>
            <a:spLocks xmlns:a="http://schemas.openxmlformats.org/drawingml/2006/main" noGrp="1"/>
          </p:cNvSpPr>
          <p:nvPr/>
        </p:nvSpPr>
        <p:spPr>
          <a:xfrm xmlns:a="http://schemas.openxmlformats.org/drawingml/2006/main">
            <a:off x="1123950" y="278130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87182"/>
                </a:solidFill>
                <a:latin typeface="Cairo"/>
                <a:ea typeface="Cairo"/>
                <a:cs typeface="Cairo"/>
              </a:defRPr>
            </a:defPPr>
          </a:lstStyle>
          <a:p xmlns:a="http://schemas.openxmlformats.org/drawingml/2006/main">
            <a:pPr>
              <a:defRPr sz="1350" b="0">
                <a:solidFill>
                  <a:srgbClr val="687182"/>
                </a:solidFill>
                <a:latin typeface="Cairo"/>
                <a:ea typeface="Cairo"/>
                <a:cs typeface="Cairo"/>
              </a:defRPr>
            </a:pPr>
            <a:r>
              <a:rPr sz="1350" b="0">
                <a:solidFill>
                  <a:srgbClr val="687182"/>
                </a:solidFill>
                <a:latin typeface="Cairo"/>
                <a:ea typeface="Cairo"/>
                <a:cs typeface="Cairo"/>
              </a:rPr>
              <a:t>FastQC / MultiQC</a:t>
            </a:r>
          </a:p>
        </p:txBody>
      </p:sp>
      <p:sp>
        <p:nvSpPr>
          <p:cNvPr id="10" name="text-9">
            <a:extLst xmlns:a="http://schemas.openxmlformats.org/drawingml/2006/main">
              <a:ext uri="{FF2B5EF4-FFF2-40B4-BE49-F238E27FC236}">
                <a16:creationId xmlns:a16="http://schemas.microsoft.com/office/drawing/2014/main" id="{62DCC0D7-9F4A-40C9-87D0-D527977BCE45}"/>
              </a:ext>
            </a:extLst>
          </p:cNvPr>
          <p:cNvSpPr>
            <a:spLocks xmlns:a="http://schemas.openxmlformats.org/drawingml/2006/main" noGrp="1"/>
          </p:cNvSpPr>
          <p:nvPr/>
        </p:nvSpPr>
        <p:spPr>
          <a:xfrm xmlns:a="http://schemas.openxmlformats.org/drawingml/2006/main">
            <a:off x="533400" y="3143250"/>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457FF"/>
                </a:solidFill>
                <a:latin typeface="Cairo"/>
                <a:ea typeface="Cairo"/>
                <a:cs typeface="Cairo"/>
              </a:defRPr>
            </a:defPPr>
          </a:lstStyle>
          <a:p xmlns:a="http://schemas.openxmlformats.org/drawingml/2006/main">
            <a:pPr>
              <a:defRPr sz="1875" b="1">
                <a:solidFill>
                  <a:srgbClr val="2457FF"/>
                </a:solidFill>
                <a:latin typeface="Cairo"/>
                <a:ea typeface="Cairo"/>
                <a:cs typeface="Cairo"/>
              </a:defRPr>
            </a:pPr>
            <a:r>
              <a:rPr sz="1875" b="1">
                <a:solidFill>
                  <a:srgbClr val="2457FF"/>
                </a:solidFill>
                <a:latin typeface="Cairo"/>
                <a:ea typeface="Cairo"/>
                <a:cs typeface="Cairo"/>
              </a:rPr>
              <a:t>03</a:t>
            </a:r>
          </a:p>
        </p:txBody>
      </p:sp>
      <p:sp>
        <p:nvSpPr>
          <p:cNvPr id="11" name="text-10">
            <a:extLst xmlns:a="http://schemas.openxmlformats.org/drawingml/2006/main">
              <a:ext uri="{FF2B5EF4-FFF2-40B4-BE49-F238E27FC236}">
                <a16:creationId xmlns:a16="http://schemas.microsoft.com/office/drawing/2014/main" id="{1AA13884-7AC8-4B47-83FA-C716416FE92E}"/>
              </a:ext>
            </a:extLst>
          </p:cNvPr>
          <p:cNvSpPr>
            <a:spLocks xmlns:a="http://schemas.openxmlformats.org/drawingml/2006/main" noGrp="1"/>
          </p:cNvSpPr>
          <p:nvPr/>
        </p:nvSpPr>
        <p:spPr>
          <a:xfrm xmlns:a="http://schemas.openxmlformats.org/drawingml/2006/main">
            <a:off x="1123950" y="3143250"/>
            <a:ext cx="271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5181F"/>
                </a:solidFill>
                <a:latin typeface="Cairo"/>
                <a:ea typeface="Cairo"/>
                <a:cs typeface="Cairo"/>
              </a:defRPr>
            </a:defPPr>
          </a:lstStyle>
          <a:p xmlns:a="http://schemas.openxmlformats.org/drawingml/2006/main">
            <a:pPr>
              <a:defRPr sz="1725" b="1">
                <a:solidFill>
                  <a:srgbClr val="15181F"/>
                </a:solidFill>
                <a:latin typeface="Cairo"/>
                <a:ea typeface="Cairo"/>
                <a:cs typeface="Cairo"/>
              </a:defRPr>
            </a:pPr>
            <a:r>
              <a:rPr sz="1725" b="1">
                <a:solidFill>
                  <a:srgbClr val="15181F"/>
                </a:solidFill>
                <a:latin typeface="Cairo"/>
                <a:ea typeface="Cairo"/>
                <a:cs typeface="Cairo"/>
              </a:rPr>
              <a:t>Reference index</a:t>
            </a:r>
          </a:p>
        </p:txBody>
      </p:sp>
      <p:sp>
        <p:nvSpPr>
          <p:cNvPr id="12" name="text-11">
            <a:extLst xmlns:a="http://schemas.openxmlformats.org/drawingml/2006/main">
              <a:ext uri="{FF2B5EF4-FFF2-40B4-BE49-F238E27FC236}">
                <a16:creationId xmlns:a16="http://schemas.microsoft.com/office/drawing/2014/main" id="{F0CDC8A5-541C-4633-9A0E-ED3352EAB454}"/>
              </a:ext>
            </a:extLst>
          </p:cNvPr>
          <p:cNvSpPr>
            <a:spLocks xmlns:a="http://schemas.openxmlformats.org/drawingml/2006/main" noGrp="1"/>
          </p:cNvSpPr>
          <p:nvPr/>
        </p:nvSpPr>
        <p:spPr>
          <a:xfrm xmlns:a="http://schemas.openxmlformats.org/drawingml/2006/main">
            <a:off x="1123950" y="347662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87182"/>
                </a:solidFill>
                <a:latin typeface="Cairo"/>
                <a:ea typeface="Cairo"/>
                <a:cs typeface="Cairo"/>
              </a:defRPr>
            </a:defPPr>
          </a:lstStyle>
          <a:p xmlns:a="http://schemas.openxmlformats.org/drawingml/2006/main">
            <a:pPr>
              <a:defRPr sz="1350" b="0">
                <a:solidFill>
                  <a:srgbClr val="687182"/>
                </a:solidFill>
                <a:latin typeface="Cairo"/>
                <a:ea typeface="Cairo"/>
                <a:cs typeface="Cairo"/>
              </a:defRPr>
            </a:pPr>
            <a:r>
              <a:rPr sz="1350" b="0">
                <a:solidFill>
                  <a:srgbClr val="687182"/>
                </a:solidFill>
                <a:latin typeface="Cairo"/>
                <a:ea typeface="Cairo"/>
                <a:cs typeface="Cairo"/>
              </a:rPr>
              <a:t>BWA / faidx</a:t>
            </a:r>
          </a:p>
        </p:txBody>
      </p:sp>
      <p:sp>
        <p:nvSpPr>
          <p:cNvPr id="13" name="text-12">
            <a:extLst xmlns:a="http://schemas.openxmlformats.org/drawingml/2006/main">
              <a:ext uri="{FF2B5EF4-FFF2-40B4-BE49-F238E27FC236}">
                <a16:creationId xmlns:a16="http://schemas.microsoft.com/office/drawing/2014/main" id="{4C80F584-13E5-447D-B94E-188A098EE0B6}"/>
              </a:ext>
            </a:extLst>
          </p:cNvPr>
          <p:cNvSpPr>
            <a:spLocks xmlns:a="http://schemas.openxmlformats.org/drawingml/2006/main" noGrp="1"/>
          </p:cNvSpPr>
          <p:nvPr/>
        </p:nvSpPr>
        <p:spPr>
          <a:xfrm xmlns:a="http://schemas.openxmlformats.org/drawingml/2006/main">
            <a:off x="533400" y="3838575"/>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457FF"/>
                </a:solidFill>
                <a:latin typeface="Cairo"/>
                <a:ea typeface="Cairo"/>
                <a:cs typeface="Cairo"/>
              </a:defRPr>
            </a:defPPr>
          </a:lstStyle>
          <a:p xmlns:a="http://schemas.openxmlformats.org/drawingml/2006/main">
            <a:pPr>
              <a:defRPr sz="1875" b="1">
                <a:solidFill>
                  <a:srgbClr val="2457FF"/>
                </a:solidFill>
                <a:latin typeface="Cairo"/>
                <a:ea typeface="Cairo"/>
                <a:cs typeface="Cairo"/>
              </a:defRPr>
            </a:pPr>
            <a:r>
              <a:rPr sz="1875" b="1">
                <a:solidFill>
                  <a:srgbClr val="2457FF"/>
                </a:solidFill>
                <a:latin typeface="Cairo"/>
                <a:ea typeface="Cairo"/>
                <a:cs typeface="Cairo"/>
              </a:rPr>
              <a:t>04</a:t>
            </a:r>
          </a:p>
        </p:txBody>
      </p:sp>
      <p:sp>
        <p:nvSpPr>
          <p:cNvPr id="14" name="text-13">
            <a:extLst xmlns:a="http://schemas.openxmlformats.org/drawingml/2006/main">
              <a:ext uri="{FF2B5EF4-FFF2-40B4-BE49-F238E27FC236}">
                <a16:creationId xmlns:a16="http://schemas.microsoft.com/office/drawing/2014/main" id="{27CAB881-EA7B-41A1-B872-4675F1C98437}"/>
              </a:ext>
            </a:extLst>
          </p:cNvPr>
          <p:cNvSpPr>
            <a:spLocks xmlns:a="http://schemas.openxmlformats.org/drawingml/2006/main" noGrp="1"/>
          </p:cNvSpPr>
          <p:nvPr/>
        </p:nvSpPr>
        <p:spPr>
          <a:xfrm xmlns:a="http://schemas.openxmlformats.org/drawingml/2006/main">
            <a:off x="1123950" y="3838575"/>
            <a:ext cx="271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5181F"/>
                </a:solidFill>
                <a:latin typeface="Cairo"/>
                <a:ea typeface="Cairo"/>
                <a:cs typeface="Cairo"/>
              </a:defRPr>
            </a:defPPr>
          </a:lstStyle>
          <a:p xmlns:a="http://schemas.openxmlformats.org/drawingml/2006/main">
            <a:pPr>
              <a:defRPr sz="1725" b="1">
                <a:solidFill>
                  <a:srgbClr val="15181F"/>
                </a:solidFill>
                <a:latin typeface="Cairo"/>
                <a:ea typeface="Cairo"/>
                <a:cs typeface="Cairo"/>
              </a:defRPr>
            </a:pPr>
            <a:r>
              <a:rPr sz="1725" b="1">
                <a:solidFill>
                  <a:srgbClr val="15181F"/>
                </a:solidFill>
                <a:latin typeface="Cairo"/>
                <a:ea typeface="Cairo"/>
                <a:cs typeface="Cairo"/>
              </a:rPr>
              <a:t>Alignment</a:t>
            </a:r>
          </a:p>
        </p:txBody>
      </p:sp>
      <p:sp>
        <p:nvSpPr>
          <p:cNvPr id="15" name="text-14">
            <a:extLst xmlns:a="http://schemas.openxmlformats.org/drawingml/2006/main">
              <a:ext uri="{FF2B5EF4-FFF2-40B4-BE49-F238E27FC236}">
                <a16:creationId xmlns:a16="http://schemas.microsoft.com/office/drawing/2014/main" id="{A53F1841-AEF9-4148-8A03-DB86FB474F94}"/>
              </a:ext>
            </a:extLst>
          </p:cNvPr>
          <p:cNvSpPr>
            <a:spLocks xmlns:a="http://schemas.openxmlformats.org/drawingml/2006/main" noGrp="1"/>
          </p:cNvSpPr>
          <p:nvPr/>
        </p:nvSpPr>
        <p:spPr>
          <a:xfrm xmlns:a="http://schemas.openxmlformats.org/drawingml/2006/main">
            <a:off x="1123950" y="41719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87182"/>
                </a:solidFill>
                <a:latin typeface="Cairo"/>
                <a:ea typeface="Cairo"/>
                <a:cs typeface="Cairo"/>
              </a:defRPr>
            </a:defPPr>
          </a:lstStyle>
          <a:p xmlns:a="http://schemas.openxmlformats.org/drawingml/2006/main">
            <a:pPr>
              <a:defRPr sz="1350" b="0">
                <a:solidFill>
                  <a:srgbClr val="687182"/>
                </a:solidFill>
                <a:latin typeface="Cairo"/>
                <a:ea typeface="Cairo"/>
                <a:cs typeface="Cairo"/>
              </a:defRPr>
            </a:pPr>
            <a:r>
              <a:rPr sz="1350" b="0">
                <a:solidFill>
                  <a:srgbClr val="687182"/>
                </a:solidFill>
                <a:latin typeface="Cairo"/>
                <a:ea typeface="Cairo"/>
                <a:cs typeface="Cairo"/>
              </a:rPr>
              <a:t>bwa mem</a:t>
            </a:r>
          </a:p>
        </p:txBody>
      </p:sp>
      <p:sp>
        <p:nvSpPr>
          <p:cNvPr id="16" name="text-15">
            <a:extLst xmlns:a="http://schemas.openxmlformats.org/drawingml/2006/main">
              <a:ext uri="{FF2B5EF4-FFF2-40B4-BE49-F238E27FC236}">
                <a16:creationId xmlns:a16="http://schemas.microsoft.com/office/drawing/2014/main" id="{CC149227-C6CE-4637-A8BE-CFB68039A2DE}"/>
              </a:ext>
            </a:extLst>
          </p:cNvPr>
          <p:cNvSpPr>
            <a:spLocks xmlns:a="http://schemas.openxmlformats.org/drawingml/2006/main" noGrp="1"/>
          </p:cNvSpPr>
          <p:nvPr/>
        </p:nvSpPr>
        <p:spPr>
          <a:xfrm xmlns:a="http://schemas.openxmlformats.org/drawingml/2006/main">
            <a:off x="533400" y="4533900"/>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457FF"/>
                </a:solidFill>
                <a:latin typeface="Cairo"/>
                <a:ea typeface="Cairo"/>
                <a:cs typeface="Cairo"/>
              </a:defRPr>
            </a:defPPr>
          </a:lstStyle>
          <a:p xmlns:a="http://schemas.openxmlformats.org/drawingml/2006/main">
            <a:pPr>
              <a:defRPr sz="1875" b="1">
                <a:solidFill>
                  <a:srgbClr val="2457FF"/>
                </a:solidFill>
                <a:latin typeface="Cairo"/>
                <a:ea typeface="Cairo"/>
                <a:cs typeface="Cairo"/>
              </a:defRPr>
            </a:pPr>
            <a:r>
              <a:rPr sz="1875" b="1">
                <a:solidFill>
                  <a:srgbClr val="2457FF"/>
                </a:solidFill>
                <a:latin typeface="Cairo"/>
                <a:ea typeface="Cairo"/>
                <a:cs typeface="Cairo"/>
              </a:rPr>
              <a:t>05</a:t>
            </a:r>
          </a:p>
        </p:txBody>
      </p:sp>
      <p:sp>
        <p:nvSpPr>
          <p:cNvPr id="17" name="text-16">
            <a:extLst xmlns:a="http://schemas.openxmlformats.org/drawingml/2006/main">
              <a:ext uri="{FF2B5EF4-FFF2-40B4-BE49-F238E27FC236}">
                <a16:creationId xmlns:a16="http://schemas.microsoft.com/office/drawing/2014/main" id="{6F9A4318-7C1F-44D3-9FD4-4D905DF920C9}"/>
              </a:ext>
            </a:extLst>
          </p:cNvPr>
          <p:cNvSpPr>
            <a:spLocks xmlns:a="http://schemas.openxmlformats.org/drawingml/2006/main" noGrp="1"/>
          </p:cNvSpPr>
          <p:nvPr/>
        </p:nvSpPr>
        <p:spPr>
          <a:xfrm xmlns:a="http://schemas.openxmlformats.org/drawingml/2006/main">
            <a:off x="1123950" y="4533900"/>
            <a:ext cx="271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5181F"/>
                </a:solidFill>
                <a:latin typeface="Cairo"/>
                <a:ea typeface="Cairo"/>
                <a:cs typeface="Cairo"/>
              </a:defRPr>
            </a:defPPr>
          </a:lstStyle>
          <a:p xmlns:a="http://schemas.openxmlformats.org/drawingml/2006/main">
            <a:pPr>
              <a:defRPr sz="1725" b="1">
                <a:solidFill>
                  <a:srgbClr val="15181F"/>
                </a:solidFill>
                <a:latin typeface="Cairo"/>
                <a:ea typeface="Cairo"/>
                <a:cs typeface="Cairo"/>
              </a:defRPr>
            </a:pPr>
            <a:r>
              <a:rPr sz="1725" b="1">
                <a:solidFill>
                  <a:srgbClr val="15181F"/>
                </a:solidFill>
                <a:latin typeface="Cairo"/>
                <a:ea typeface="Cairo"/>
                <a:cs typeface="Cairo"/>
              </a:rPr>
              <a:t>Convert</a:t>
            </a:r>
          </a:p>
        </p:txBody>
      </p:sp>
      <p:sp>
        <p:nvSpPr>
          <p:cNvPr id="18" name="text-17">
            <a:extLst xmlns:a="http://schemas.openxmlformats.org/drawingml/2006/main">
              <a:ext uri="{FF2B5EF4-FFF2-40B4-BE49-F238E27FC236}">
                <a16:creationId xmlns:a16="http://schemas.microsoft.com/office/drawing/2014/main" id="{E7D67901-8CB8-4F7A-95E9-AA957452B51D}"/>
              </a:ext>
            </a:extLst>
          </p:cNvPr>
          <p:cNvSpPr>
            <a:spLocks xmlns:a="http://schemas.openxmlformats.org/drawingml/2006/main" noGrp="1"/>
          </p:cNvSpPr>
          <p:nvPr/>
        </p:nvSpPr>
        <p:spPr>
          <a:xfrm xmlns:a="http://schemas.openxmlformats.org/drawingml/2006/main">
            <a:off x="1123950" y="48672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87182"/>
                </a:solidFill>
                <a:latin typeface="Cairo"/>
                <a:ea typeface="Cairo"/>
                <a:cs typeface="Cairo"/>
              </a:defRPr>
            </a:defPPr>
          </a:lstStyle>
          <a:p xmlns:a="http://schemas.openxmlformats.org/drawingml/2006/main">
            <a:pPr>
              <a:defRPr sz="1350" b="0">
                <a:solidFill>
                  <a:srgbClr val="687182"/>
                </a:solidFill>
                <a:latin typeface="Cairo"/>
                <a:ea typeface="Cairo"/>
                <a:cs typeface="Cairo"/>
              </a:defRPr>
            </a:pPr>
            <a:r>
              <a:rPr sz="1350" b="0">
                <a:solidFill>
                  <a:srgbClr val="687182"/>
                </a:solidFill>
                <a:latin typeface="Cairo"/>
                <a:ea typeface="Cairo"/>
                <a:cs typeface="Cairo"/>
              </a:rPr>
              <a:t>samtools view</a:t>
            </a:r>
          </a:p>
        </p:txBody>
      </p:sp>
      <p:sp>
        <p:nvSpPr>
          <p:cNvPr id="19" name="text-18">
            <a:extLst xmlns:a="http://schemas.openxmlformats.org/drawingml/2006/main">
              <a:ext uri="{FF2B5EF4-FFF2-40B4-BE49-F238E27FC236}">
                <a16:creationId xmlns:a16="http://schemas.microsoft.com/office/drawing/2014/main" id="{106E2C20-33B4-4BE0-B120-CA31FA667B94}"/>
              </a:ext>
            </a:extLst>
          </p:cNvPr>
          <p:cNvSpPr>
            <a:spLocks xmlns:a="http://schemas.openxmlformats.org/drawingml/2006/main" noGrp="1"/>
          </p:cNvSpPr>
          <p:nvPr/>
        </p:nvSpPr>
        <p:spPr>
          <a:xfrm xmlns:a="http://schemas.openxmlformats.org/drawingml/2006/main">
            <a:off x="533400" y="5229225"/>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457FF"/>
                </a:solidFill>
                <a:latin typeface="Cairo"/>
                <a:ea typeface="Cairo"/>
                <a:cs typeface="Cairo"/>
              </a:defRPr>
            </a:defPPr>
          </a:lstStyle>
          <a:p xmlns:a="http://schemas.openxmlformats.org/drawingml/2006/main">
            <a:pPr>
              <a:defRPr sz="1875" b="1">
                <a:solidFill>
                  <a:srgbClr val="2457FF"/>
                </a:solidFill>
                <a:latin typeface="Cairo"/>
                <a:ea typeface="Cairo"/>
                <a:cs typeface="Cairo"/>
              </a:defRPr>
            </a:pPr>
            <a:r>
              <a:rPr sz="1875" b="1">
                <a:solidFill>
                  <a:srgbClr val="2457FF"/>
                </a:solidFill>
                <a:latin typeface="Cairo"/>
                <a:ea typeface="Cairo"/>
                <a:cs typeface="Cairo"/>
              </a:rPr>
              <a:t>06</a:t>
            </a:r>
          </a:p>
        </p:txBody>
      </p:sp>
      <p:sp>
        <p:nvSpPr>
          <p:cNvPr id="20" name="text-19">
            <a:extLst xmlns:a="http://schemas.openxmlformats.org/drawingml/2006/main">
              <a:ext uri="{FF2B5EF4-FFF2-40B4-BE49-F238E27FC236}">
                <a16:creationId xmlns:a16="http://schemas.microsoft.com/office/drawing/2014/main" id="{F419CC03-0A26-49BA-820A-CB027EA72DCC}"/>
              </a:ext>
            </a:extLst>
          </p:cNvPr>
          <p:cNvSpPr>
            <a:spLocks xmlns:a="http://schemas.openxmlformats.org/drawingml/2006/main" noGrp="1"/>
          </p:cNvSpPr>
          <p:nvPr/>
        </p:nvSpPr>
        <p:spPr>
          <a:xfrm xmlns:a="http://schemas.openxmlformats.org/drawingml/2006/main">
            <a:off x="1123950" y="5229225"/>
            <a:ext cx="271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5181F"/>
                </a:solidFill>
                <a:latin typeface="Cairo"/>
                <a:ea typeface="Cairo"/>
                <a:cs typeface="Cairo"/>
              </a:defRPr>
            </a:defPPr>
          </a:lstStyle>
          <a:p xmlns:a="http://schemas.openxmlformats.org/drawingml/2006/main">
            <a:pPr>
              <a:defRPr sz="1725" b="1">
                <a:solidFill>
                  <a:srgbClr val="15181F"/>
                </a:solidFill>
                <a:latin typeface="Cairo"/>
                <a:ea typeface="Cairo"/>
                <a:cs typeface="Cairo"/>
              </a:defRPr>
            </a:pPr>
            <a:r>
              <a:rPr sz="1725" b="1">
                <a:solidFill>
                  <a:srgbClr val="15181F"/>
                </a:solidFill>
                <a:latin typeface="Cairo"/>
                <a:ea typeface="Cairo"/>
                <a:cs typeface="Cairo"/>
              </a:rPr>
              <a:t>Basic check</a:t>
            </a:r>
          </a:p>
        </p:txBody>
      </p:sp>
      <p:sp>
        <p:nvSpPr>
          <p:cNvPr id="21" name="text-20">
            <a:extLst xmlns:a="http://schemas.openxmlformats.org/drawingml/2006/main">
              <a:ext uri="{FF2B5EF4-FFF2-40B4-BE49-F238E27FC236}">
                <a16:creationId xmlns:a16="http://schemas.microsoft.com/office/drawing/2014/main" id="{5848F45F-40F3-400F-BFD6-CFC129E248B8}"/>
              </a:ext>
            </a:extLst>
          </p:cNvPr>
          <p:cNvSpPr>
            <a:spLocks xmlns:a="http://schemas.openxmlformats.org/drawingml/2006/main" noGrp="1"/>
          </p:cNvSpPr>
          <p:nvPr/>
        </p:nvSpPr>
        <p:spPr>
          <a:xfrm xmlns:a="http://schemas.openxmlformats.org/drawingml/2006/main">
            <a:off x="1123950" y="556260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87182"/>
                </a:solidFill>
                <a:latin typeface="Cairo"/>
                <a:ea typeface="Cairo"/>
                <a:cs typeface="Cairo"/>
              </a:defRPr>
            </a:defPPr>
          </a:lstStyle>
          <a:p xmlns:a="http://schemas.openxmlformats.org/drawingml/2006/main">
            <a:pPr>
              <a:defRPr sz="1350" b="0">
                <a:solidFill>
                  <a:srgbClr val="687182"/>
                </a:solidFill>
                <a:latin typeface="Cairo"/>
                <a:ea typeface="Cairo"/>
                <a:cs typeface="Cairo"/>
              </a:defRPr>
            </a:pPr>
            <a:r>
              <a:rPr sz="1350" b="0">
                <a:solidFill>
                  <a:srgbClr val="687182"/>
                </a:solidFill>
                <a:latin typeface="Cairo"/>
                <a:ea typeface="Cairo"/>
                <a:cs typeface="Cairo"/>
              </a:rPr>
              <a:t>quickcheck</a:t>
            </a:r>
          </a:p>
        </p:txBody>
      </p:sp>
      <p:sp>
        <p:nvSpPr>
          <p:cNvPr id="22" name="text-21">
            <a:extLst xmlns:a="http://schemas.openxmlformats.org/drawingml/2006/main">
              <a:ext uri="{FF2B5EF4-FFF2-40B4-BE49-F238E27FC236}">
                <a16:creationId xmlns:a16="http://schemas.microsoft.com/office/drawing/2014/main" id="{5BE55091-46DD-40D0-BB84-925A7C4B832B}"/>
              </a:ext>
            </a:extLst>
          </p:cNvPr>
          <p:cNvSpPr>
            <a:spLocks xmlns:a="http://schemas.openxmlformats.org/drawingml/2006/main" noGrp="1"/>
          </p:cNvSpPr>
          <p:nvPr/>
        </p:nvSpPr>
        <p:spPr>
          <a:xfrm xmlns:a="http://schemas.openxmlformats.org/drawingml/2006/main">
            <a:off x="4362450" y="1752600"/>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457FF"/>
                </a:solidFill>
                <a:latin typeface="Cairo"/>
                <a:ea typeface="Cairo"/>
                <a:cs typeface="Cairo"/>
              </a:defRPr>
            </a:defPPr>
          </a:lstStyle>
          <a:p xmlns:a="http://schemas.openxmlformats.org/drawingml/2006/main">
            <a:pPr>
              <a:defRPr sz="1875" b="1">
                <a:solidFill>
                  <a:srgbClr val="2457FF"/>
                </a:solidFill>
                <a:latin typeface="Cairo"/>
                <a:ea typeface="Cairo"/>
                <a:cs typeface="Cairo"/>
              </a:defRPr>
            </a:pPr>
            <a:r>
              <a:rPr sz="1875" b="1">
                <a:solidFill>
                  <a:srgbClr val="2457FF"/>
                </a:solidFill>
                <a:latin typeface="Cairo"/>
                <a:ea typeface="Cairo"/>
                <a:cs typeface="Cairo"/>
              </a:rPr>
              <a:t>07</a:t>
            </a:r>
          </a:p>
        </p:txBody>
      </p:sp>
      <p:sp>
        <p:nvSpPr>
          <p:cNvPr id="23" name="text-22">
            <a:extLst xmlns:a="http://schemas.openxmlformats.org/drawingml/2006/main">
              <a:ext uri="{FF2B5EF4-FFF2-40B4-BE49-F238E27FC236}">
                <a16:creationId xmlns:a16="http://schemas.microsoft.com/office/drawing/2014/main" id="{037D8A69-BE71-401F-86E5-9889AFF957CE}"/>
              </a:ext>
            </a:extLst>
          </p:cNvPr>
          <p:cNvSpPr>
            <a:spLocks xmlns:a="http://schemas.openxmlformats.org/drawingml/2006/main" noGrp="1"/>
          </p:cNvSpPr>
          <p:nvPr/>
        </p:nvSpPr>
        <p:spPr>
          <a:xfrm xmlns:a="http://schemas.openxmlformats.org/drawingml/2006/main">
            <a:off x="4953000" y="1752600"/>
            <a:ext cx="271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5181F"/>
                </a:solidFill>
                <a:latin typeface="Cairo"/>
                <a:ea typeface="Cairo"/>
                <a:cs typeface="Cairo"/>
              </a:defRPr>
            </a:defPPr>
          </a:lstStyle>
          <a:p xmlns:a="http://schemas.openxmlformats.org/drawingml/2006/main">
            <a:pPr>
              <a:defRPr sz="1725" b="1">
                <a:solidFill>
                  <a:srgbClr val="15181F"/>
                </a:solidFill>
                <a:latin typeface="Cairo"/>
                <a:ea typeface="Cairo"/>
                <a:cs typeface="Cairo"/>
              </a:defRPr>
            </a:pPr>
            <a:r>
              <a:rPr sz="1725" b="1">
                <a:solidFill>
                  <a:srgbClr val="15181F"/>
                </a:solidFill>
                <a:latin typeface="Cairo"/>
                <a:ea typeface="Cairo"/>
                <a:cs typeface="Cairo"/>
              </a:rPr>
              <a:t>Group mates</a:t>
            </a:r>
          </a:p>
        </p:txBody>
      </p:sp>
      <p:sp>
        <p:nvSpPr>
          <p:cNvPr id="24" name="text-23">
            <a:extLst xmlns:a="http://schemas.openxmlformats.org/drawingml/2006/main">
              <a:ext uri="{FF2B5EF4-FFF2-40B4-BE49-F238E27FC236}">
                <a16:creationId xmlns:a16="http://schemas.microsoft.com/office/drawing/2014/main" id="{978593CA-7423-4768-8773-B0DDFF00B6E1}"/>
              </a:ext>
            </a:extLst>
          </p:cNvPr>
          <p:cNvSpPr>
            <a:spLocks xmlns:a="http://schemas.openxmlformats.org/drawingml/2006/main" noGrp="1"/>
          </p:cNvSpPr>
          <p:nvPr/>
        </p:nvSpPr>
        <p:spPr>
          <a:xfrm xmlns:a="http://schemas.openxmlformats.org/drawingml/2006/main">
            <a:off x="4953000" y="20859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87182"/>
                </a:solidFill>
                <a:latin typeface="Cairo"/>
                <a:ea typeface="Cairo"/>
                <a:cs typeface="Cairo"/>
              </a:defRPr>
            </a:defPPr>
          </a:lstStyle>
          <a:p xmlns:a="http://schemas.openxmlformats.org/drawingml/2006/main">
            <a:pPr>
              <a:defRPr sz="1350" b="0">
                <a:solidFill>
                  <a:srgbClr val="687182"/>
                </a:solidFill>
                <a:latin typeface="Cairo"/>
                <a:ea typeface="Cairo"/>
                <a:cs typeface="Cairo"/>
              </a:defRPr>
            </a:pPr>
            <a:r>
              <a:rPr sz="1350" b="0">
                <a:solidFill>
                  <a:srgbClr val="687182"/>
                </a:solidFill>
                <a:latin typeface="Cairo"/>
                <a:ea typeface="Cairo"/>
                <a:cs typeface="Cairo"/>
              </a:rPr>
              <a:t>collate</a:t>
            </a:r>
          </a:p>
        </p:txBody>
      </p:sp>
      <p:sp>
        <p:nvSpPr>
          <p:cNvPr id="25" name="text-24">
            <a:extLst xmlns:a="http://schemas.openxmlformats.org/drawingml/2006/main">
              <a:ext uri="{FF2B5EF4-FFF2-40B4-BE49-F238E27FC236}">
                <a16:creationId xmlns:a16="http://schemas.microsoft.com/office/drawing/2014/main" id="{8E8F4F01-EC3E-42BB-980C-86B67C378467}"/>
              </a:ext>
            </a:extLst>
          </p:cNvPr>
          <p:cNvSpPr>
            <a:spLocks xmlns:a="http://schemas.openxmlformats.org/drawingml/2006/main" noGrp="1"/>
          </p:cNvSpPr>
          <p:nvPr/>
        </p:nvSpPr>
        <p:spPr>
          <a:xfrm xmlns:a="http://schemas.openxmlformats.org/drawingml/2006/main">
            <a:off x="4362450" y="2447925"/>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457FF"/>
                </a:solidFill>
                <a:latin typeface="Cairo"/>
                <a:ea typeface="Cairo"/>
                <a:cs typeface="Cairo"/>
              </a:defRPr>
            </a:defPPr>
          </a:lstStyle>
          <a:p xmlns:a="http://schemas.openxmlformats.org/drawingml/2006/main">
            <a:pPr>
              <a:defRPr sz="1875" b="1">
                <a:solidFill>
                  <a:srgbClr val="2457FF"/>
                </a:solidFill>
                <a:latin typeface="Cairo"/>
                <a:ea typeface="Cairo"/>
                <a:cs typeface="Cairo"/>
              </a:defRPr>
            </a:pPr>
            <a:r>
              <a:rPr sz="1875" b="1">
                <a:solidFill>
                  <a:srgbClr val="2457FF"/>
                </a:solidFill>
                <a:latin typeface="Cairo"/>
                <a:ea typeface="Cairo"/>
                <a:cs typeface="Cairo"/>
              </a:rPr>
              <a:t>08</a:t>
            </a:r>
          </a:p>
        </p:txBody>
      </p:sp>
      <p:sp>
        <p:nvSpPr>
          <p:cNvPr id="26" name="text-25">
            <a:extLst xmlns:a="http://schemas.openxmlformats.org/drawingml/2006/main">
              <a:ext uri="{FF2B5EF4-FFF2-40B4-BE49-F238E27FC236}">
                <a16:creationId xmlns:a16="http://schemas.microsoft.com/office/drawing/2014/main" id="{75B87EA4-8EAC-46D9-819B-8FE7CDF660D2}"/>
              </a:ext>
            </a:extLst>
          </p:cNvPr>
          <p:cNvSpPr>
            <a:spLocks xmlns:a="http://schemas.openxmlformats.org/drawingml/2006/main" noGrp="1"/>
          </p:cNvSpPr>
          <p:nvPr/>
        </p:nvSpPr>
        <p:spPr>
          <a:xfrm xmlns:a="http://schemas.openxmlformats.org/drawingml/2006/main">
            <a:off x="4953000" y="2447925"/>
            <a:ext cx="271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5181F"/>
                </a:solidFill>
                <a:latin typeface="Cairo"/>
                <a:ea typeface="Cairo"/>
                <a:cs typeface="Cairo"/>
              </a:defRPr>
            </a:defPPr>
          </a:lstStyle>
          <a:p xmlns:a="http://schemas.openxmlformats.org/drawingml/2006/main">
            <a:pPr>
              <a:defRPr sz="1725" b="1">
                <a:solidFill>
                  <a:srgbClr val="15181F"/>
                </a:solidFill>
                <a:latin typeface="Cairo"/>
                <a:ea typeface="Cairo"/>
                <a:cs typeface="Cairo"/>
              </a:defRPr>
            </a:pPr>
            <a:r>
              <a:rPr sz="1725" b="1">
                <a:solidFill>
                  <a:srgbClr val="15181F"/>
                </a:solidFill>
                <a:latin typeface="Cairo"/>
                <a:ea typeface="Cairo"/>
                <a:cs typeface="Cairo"/>
              </a:rPr>
              <a:t>Mate tags</a:t>
            </a:r>
          </a:p>
        </p:txBody>
      </p:sp>
      <p:sp>
        <p:nvSpPr>
          <p:cNvPr id="27" name="text-26">
            <a:extLst xmlns:a="http://schemas.openxmlformats.org/drawingml/2006/main">
              <a:ext uri="{FF2B5EF4-FFF2-40B4-BE49-F238E27FC236}">
                <a16:creationId xmlns:a16="http://schemas.microsoft.com/office/drawing/2014/main" id="{EE2135FE-7C1E-4A8B-AA91-C90823051742}"/>
              </a:ext>
            </a:extLst>
          </p:cNvPr>
          <p:cNvSpPr>
            <a:spLocks xmlns:a="http://schemas.openxmlformats.org/drawingml/2006/main" noGrp="1"/>
          </p:cNvSpPr>
          <p:nvPr/>
        </p:nvSpPr>
        <p:spPr>
          <a:xfrm xmlns:a="http://schemas.openxmlformats.org/drawingml/2006/main">
            <a:off x="4953000" y="278130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87182"/>
                </a:solidFill>
                <a:latin typeface="Cairo"/>
                <a:ea typeface="Cairo"/>
                <a:cs typeface="Cairo"/>
              </a:defRPr>
            </a:defPPr>
          </a:lstStyle>
          <a:p xmlns:a="http://schemas.openxmlformats.org/drawingml/2006/main">
            <a:pPr>
              <a:defRPr sz="1350" b="0">
                <a:solidFill>
                  <a:srgbClr val="687182"/>
                </a:solidFill>
                <a:latin typeface="Cairo"/>
                <a:ea typeface="Cairo"/>
                <a:cs typeface="Cairo"/>
              </a:defRPr>
            </a:pPr>
            <a:r>
              <a:rPr sz="1350" b="0">
                <a:solidFill>
                  <a:srgbClr val="687182"/>
                </a:solidFill>
                <a:latin typeface="Cairo"/>
                <a:ea typeface="Cairo"/>
                <a:cs typeface="Cairo"/>
              </a:rPr>
              <a:t>fixmate -m</a:t>
            </a:r>
          </a:p>
        </p:txBody>
      </p:sp>
      <p:sp>
        <p:nvSpPr>
          <p:cNvPr id="28" name="text-27">
            <a:extLst xmlns:a="http://schemas.openxmlformats.org/drawingml/2006/main">
              <a:ext uri="{FF2B5EF4-FFF2-40B4-BE49-F238E27FC236}">
                <a16:creationId xmlns:a16="http://schemas.microsoft.com/office/drawing/2014/main" id="{418C5D49-0B7A-4906-AEDF-2292CC6AB1BC}"/>
              </a:ext>
            </a:extLst>
          </p:cNvPr>
          <p:cNvSpPr>
            <a:spLocks xmlns:a="http://schemas.openxmlformats.org/drawingml/2006/main" noGrp="1"/>
          </p:cNvSpPr>
          <p:nvPr/>
        </p:nvSpPr>
        <p:spPr>
          <a:xfrm xmlns:a="http://schemas.openxmlformats.org/drawingml/2006/main">
            <a:off x="4362450" y="3143250"/>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457FF"/>
                </a:solidFill>
                <a:latin typeface="Cairo"/>
                <a:ea typeface="Cairo"/>
                <a:cs typeface="Cairo"/>
              </a:defRPr>
            </a:defPPr>
          </a:lstStyle>
          <a:p xmlns:a="http://schemas.openxmlformats.org/drawingml/2006/main">
            <a:pPr>
              <a:defRPr sz="1875" b="1">
                <a:solidFill>
                  <a:srgbClr val="2457FF"/>
                </a:solidFill>
                <a:latin typeface="Cairo"/>
                <a:ea typeface="Cairo"/>
                <a:cs typeface="Cairo"/>
              </a:defRPr>
            </a:pPr>
            <a:r>
              <a:rPr sz="1875" b="1">
                <a:solidFill>
                  <a:srgbClr val="2457FF"/>
                </a:solidFill>
                <a:latin typeface="Cairo"/>
                <a:ea typeface="Cairo"/>
                <a:cs typeface="Cairo"/>
              </a:rPr>
              <a:t>09</a:t>
            </a:r>
          </a:p>
        </p:txBody>
      </p:sp>
      <p:sp>
        <p:nvSpPr>
          <p:cNvPr id="29" name="text-28">
            <a:extLst xmlns:a="http://schemas.openxmlformats.org/drawingml/2006/main">
              <a:ext uri="{FF2B5EF4-FFF2-40B4-BE49-F238E27FC236}">
                <a16:creationId xmlns:a16="http://schemas.microsoft.com/office/drawing/2014/main" id="{503FA544-E28E-43CB-BE89-6DF09D1366A1}"/>
              </a:ext>
            </a:extLst>
          </p:cNvPr>
          <p:cNvSpPr>
            <a:spLocks xmlns:a="http://schemas.openxmlformats.org/drawingml/2006/main" noGrp="1"/>
          </p:cNvSpPr>
          <p:nvPr/>
        </p:nvSpPr>
        <p:spPr>
          <a:xfrm xmlns:a="http://schemas.openxmlformats.org/drawingml/2006/main">
            <a:off x="4953000" y="3143250"/>
            <a:ext cx="271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5181F"/>
                </a:solidFill>
                <a:latin typeface="Cairo"/>
                <a:ea typeface="Cairo"/>
                <a:cs typeface="Cairo"/>
              </a:defRPr>
            </a:defPPr>
          </a:lstStyle>
          <a:p xmlns:a="http://schemas.openxmlformats.org/drawingml/2006/main">
            <a:pPr>
              <a:defRPr sz="1725" b="1">
                <a:solidFill>
                  <a:srgbClr val="15181F"/>
                </a:solidFill>
                <a:latin typeface="Cairo"/>
                <a:ea typeface="Cairo"/>
                <a:cs typeface="Cairo"/>
              </a:defRPr>
            </a:pPr>
            <a:r>
              <a:rPr sz="1725" b="1">
                <a:solidFill>
                  <a:srgbClr val="15181F"/>
                </a:solidFill>
                <a:latin typeface="Cairo"/>
                <a:ea typeface="Cairo"/>
                <a:cs typeface="Cairo"/>
              </a:rPr>
              <a:t>Sort</a:t>
            </a:r>
          </a:p>
        </p:txBody>
      </p:sp>
      <p:sp>
        <p:nvSpPr>
          <p:cNvPr id="30" name="text-29">
            <a:extLst xmlns:a="http://schemas.openxmlformats.org/drawingml/2006/main">
              <a:ext uri="{FF2B5EF4-FFF2-40B4-BE49-F238E27FC236}">
                <a16:creationId xmlns:a16="http://schemas.microsoft.com/office/drawing/2014/main" id="{F12648A8-7EBA-4ECD-8B76-FFFFFE6E2AB6}"/>
              </a:ext>
            </a:extLst>
          </p:cNvPr>
          <p:cNvSpPr>
            <a:spLocks xmlns:a="http://schemas.openxmlformats.org/drawingml/2006/main" noGrp="1"/>
          </p:cNvSpPr>
          <p:nvPr/>
        </p:nvSpPr>
        <p:spPr>
          <a:xfrm xmlns:a="http://schemas.openxmlformats.org/drawingml/2006/main">
            <a:off x="4953000" y="347662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87182"/>
                </a:solidFill>
                <a:latin typeface="Cairo"/>
                <a:ea typeface="Cairo"/>
                <a:cs typeface="Cairo"/>
              </a:defRPr>
            </a:defPPr>
          </a:lstStyle>
          <a:p xmlns:a="http://schemas.openxmlformats.org/drawingml/2006/main">
            <a:pPr>
              <a:defRPr sz="1350" b="0">
                <a:solidFill>
                  <a:srgbClr val="687182"/>
                </a:solidFill>
                <a:latin typeface="Cairo"/>
                <a:ea typeface="Cairo"/>
                <a:cs typeface="Cairo"/>
              </a:defRPr>
            </a:pPr>
            <a:r>
              <a:rPr sz="1350" b="0">
                <a:solidFill>
                  <a:srgbClr val="687182"/>
                </a:solidFill>
                <a:latin typeface="Cairo"/>
                <a:ea typeface="Cairo"/>
                <a:cs typeface="Cairo"/>
              </a:rPr>
              <a:t>samtools sort</a:t>
            </a:r>
          </a:p>
        </p:txBody>
      </p:sp>
      <p:sp>
        <p:nvSpPr>
          <p:cNvPr id="31" name="text-30">
            <a:extLst xmlns:a="http://schemas.openxmlformats.org/drawingml/2006/main">
              <a:ext uri="{FF2B5EF4-FFF2-40B4-BE49-F238E27FC236}">
                <a16:creationId xmlns:a16="http://schemas.microsoft.com/office/drawing/2014/main" id="{142BE605-BF16-4D7B-94F7-688FC0B7A8DC}"/>
              </a:ext>
            </a:extLst>
          </p:cNvPr>
          <p:cNvSpPr>
            <a:spLocks xmlns:a="http://schemas.openxmlformats.org/drawingml/2006/main" noGrp="1"/>
          </p:cNvSpPr>
          <p:nvPr/>
        </p:nvSpPr>
        <p:spPr>
          <a:xfrm xmlns:a="http://schemas.openxmlformats.org/drawingml/2006/main">
            <a:off x="4362450" y="3838575"/>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457FF"/>
                </a:solidFill>
                <a:latin typeface="Cairo"/>
                <a:ea typeface="Cairo"/>
                <a:cs typeface="Cairo"/>
              </a:defRPr>
            </a:defPPr>
          </a:lstStyle>
          <a:p xmlns:a="http://schemas.openxmlformats.org/drawingml/2006/main">
            <a:pPr>
              <a:defRPr sz="1875" b="1">
                <a:solidFill>
                  <a:srgbClr val="2457FF"/>
                </a:solidFill>
                <a:latin typeface="Cairo"/>
                <a:ea typeface="Cairo"/>
                <a:cs typeface="Cairo"/>
              </a:defRPr>
            </a:pPr>
            <a:r>
              <a:rPr sz="1875" b="1">
                <a:solidFill>
                  <a:srgbClr val="2457FF"/>
                </a:solidFill>
                <a:latin typeface="Cairo"/>
                <a:ea typeface="Cairo"/>
                <a:cs typeface="Cairo"/>
              </a:rPr>
              <a:t>10</a:t>
            </a:r>
          </a:p>
        </p:txBody>
      </p:sp>
      <p:sp>
        <p:nvSpPr>
          <p:cNvPr id="32" name="text-31">
            <a:extLst xmlns:a="http://schemas.openxmlformats.org/drawingml/2006/main">
              <a:ext uri="{FF2B5EF4-FFF2-40B4-BE49-F238E27FC236}">
                <a16:creationId xmlns:a16="http://schemas.microsoft.com/office/drawing/2014/main" id="{48FB4CF6-D777-4932-9875-D1EB39EAA4B1}"/>
              </a:ext>
            </a:extLst>
          </p:cNvPr>
          <p:cNvSpPr>
            <a:spLocks xmlns:a="http://schemas.openxmlformats.org/drawingml/2006/main" noGrp="1"/>
          </p:cNvSpPr>
          <p:nvPr/>
        </p:nvSpPr>
        <p:spPr>
          <a:xfrm xmlns:a="http://schemas.openxmlformats.org/drawingml/2006/main">
            <a:off x="4953000" y="3838575"/>
            <a:ext cx="271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5181F"/>
                </a:solidFill>
                <a:latin typeface="Cairo"/>
                <a:ea typeface="Cairo"/>
                <a:cs typeface="Cairo"/>
              </a:defRPr>
            </a:defPPr>
          </a:lstStyle>
          <a:p xmlns:a="http://schemas.openxmlformats.org/drawingml/2006/main">
            <a:pPr>
              <a:defRPr sz="1725" b="1">
                <a:solidFill>
                  <a:srgbClr val="15181F"/>
                </a:solidFill>
                <a:latin typeface="Cairo"/>
                <a:ea typeface="Cairo"/>
                <a:cs typeface="Cairo"/>
              </a:defRPr>
            </a:pPr>
            <a:r>
              <a:rPr sz="1725" b="1">
                <a:solidFill>
                  <a:srgbClr val="15181F"/>
                </a:solidFill>
                <a:latin typeface="Cairo"/>
                <a:ea typeface="Cairo"/>
                <a:cs typeface="Cairo"/>
              </a:rPr>
              <a:t>Duplicate flags</a:t>
            </a:r>
          </a:p>
        </p:txBody>
      </p:sp>
      <p:sp>
        <p:nvSpPr>
          <p:cNvPr id="33" name="text-32">
            <a:extLst xmlns:a="http://schemas.openxmlformats.org/drawingml/2006/main">
              <a:ext uri="{FF2B5EF4-FFF2-40B4-BE49-F238E27FC236}">
                <a16:creationId xmlns:a16="http://schemas.microsoft.com/office/drawing/2014/main" id="{BDBE6A2B-2655-4969-B58C-CEE74D45B4E2}"/>
              </a:ext>
            </a:extLst>
          </p:cNvPr>
          <p:cNvSpPr>
            <a:spLocks xmlns:a="http://schemas.openxmlformats.org/drawingml/2006/main" noGrp="1"/>
          </p:cNvSpPr>
          <p:nvPr/>
        </p:nvSpPr>
        <p:spPr>
          <a:xfrm xmlns:a="http://schemas.openxmlformats.org/drawingml/2006/main">
            <a:off x="4953000" y="41719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87182"/>
                </a:solidFill>
                <a:latin typeface="Cairo"/>
                <a:ea typeface="Cairo"/>
                <a:cs typeface="Cairo"/>
              </a:defRPr>
            </a:defPPr>
          </a:lstStyle>
          <a:p xmlns:a="http://schemas.openxmlformats.org/drawingml/2006/main">
            <a:pPr>
              <a:defRPr sz="1350" b="0">
                <a:solidFill>
                  <a:srgbClr val="687182"/>
                </a:solidFill>
                <a:latin typeface="Cairo"/>
                <a:ea typeface="Cairo"/>
                <a:cs typeface="Cairo"/>
              </a:defRPr>
            </a:pPr>
            <a:r>
              <a:rPr sz="1350" b="0">
                <a:solidFill>
                  <a:srgbClr val="687182"/>
                </a:solidFill>
                <a:latin typeface="Cairo"/>
                <a:ea typeface="Cairo"/>
                <a:cs typeface="Cairo"/>
              </a:rPr>
              <a:t>markdup</a:t>
            </a:r>
          </a:p>
        </p:txBody>
      </p:sp>
      <p:sp>
        <p:nvSpPr>
          <p:cNvPr id="34" name="text-33">
            <a:extLst xmlns:a="http://schemas.openxmlformats.org/drawingml/2006/main">
              <a:ext uri="{FF2B5EF4-FFF2-40B4-BE49-F238E27FC236}">
                <a16:creationId xmlns:a16="http://schemas.microsoft.com/office/drawing/2014/main" id="{9887B3E5-8DEC-44B3-A592-AA46DA26D08D}"/>
              </a:ext>
            </a:extLst>
          </p:cNvPr>
          <p:cNvSpPr>
            <a:spLocks xmlns:a="http://schemas.openxmlformats.org/drawingml/2006/main" noGrp="1"/>
          </p:cNvSpPr>
          <p:nvPr/>
        </p:nvSpPr>
        <p:spPr>
          <a:xfrm xmlns:a="http://schemas.openxmlformats.org/drawingml/2006/main">
            <a:off x="4362450" y="4533900"/>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457FF"/>
                </a:solidFill>
                <a:latin typeface="Cairo"/>
                <a:ea typeface="Cairo"/>
                <a:cs typeface="Cairo"/>
              </a:defRPr>
            </a:defPPr>
          </a:lstStyle>
          <a:p xmlns:a="http://schemas.openxmlformats.org/drawingml/2006/main">
            <a:pPr>
              <a:defRPr sz="1875" b="1">
                <a:solidFill>
                  <a:srgbClr val="2457FF"/>
                </a:solidFill>
                <a:latin typeface="Cairo"/>
                <a:ea typeface="Cairo"/>
                <a:cs typeface="Cairo"/>
              </a:defRPr>
            </a:pPr>
            <a:r>
              <a:rPr sz="1875" b="1">
                <a:solidFill>
                  <a:srgbClr val="2457FF"/>
                </a:solidFill>
                <a:latin typeface="Cairo"/>
                <a:ea typeface="Cairo"/>
                <a:cs typeface="Cairo"/>
              </a:rPr>
              <a:t>11</a:t>
            </a:r>
          </a:p>
        </p:txBody>
      </p:sp>
      <p:sp>
        <p:nvSpPr>
          <p:cNvPr id="35" name="text-34">
            <a:extLst xmlns:a="http://schemas.openxmlformats.org/drawingml/2006/main">
              <a:ext uri="{FF2B5EF4-FFF2-40B4-BE49-F238E27FC236}">
                <a16:creationId xmlns:a16="http://schemas.microsoft.com/office/drawing/2014/main" id="{0CA4FA07-00EB-48A9-9C7E-D69A9A26B1CA}"/>
              </a:ext>
            </a:extLst>
          </p:cNvPr>
          <p:cNvSpPr>
            <a:spLocks xmlns:a="http://schemas.openxmlformats.org/drawingml/2006/main" noGrp="1"/>
          </p:cNvSpPr>
          <p:nvPr/>
        </p:nvSpPr>
        <p:spPr>
          <a:xfrm xmlns:a="http://schemas.openxmlformats.org/drawingml/2006/main">
            <a:off x="4953000" y="4533900"/>
            <a:ext cx="271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5181F"/>
                </a:solidFill>
                <a:latin typeface="Cairo"/>
                <a:ea typeface="Cairo"/>
                <a:cs typeface="Cairo"/>
              </a:defRPr>
            </a:defPPr>
          </a:lstStyle>
          <a:p xmlns:a="http://schemas.openxmlformats.org/drawingml/2006/main">
            <a:pPr>
              <a:defRPr sz="1725" b="1">
                <a:solidFill>
                  <a:srgbClr val="15181F"/>
                </a:solidFill>
                <a:latin typeface="Cairo"/>
                <a:ea typeface="Cairo"/>
                <a:cs typeface="Cairo"/>
              </a:defRPr>
            </a:pPr>
            <a:r>
              <a:rPr sz="1725" b="1">
                <a:solidFill>
                  <a:srgbClr val="15181F"/>
                </a:solidFill>
                <a:latin typeface="Cairo"/>
                <a:ea typeface="Cairo"/>
                <a:cs typeface="Cairo"/>
              </a:rPr>
              <a:t>BAM index</a:t>
            </a:r>
          </a:p>
        </p:txBody>
      </p:sp>
      <p:sp>
        <p:nvSpPr>
          <p:cNvPr id="36" name="text-35">
            <a:extLst xmlns:a="http://schemas.openxmlformats.org/drawingml/2006/main">
              <a:ext uri="{FF2B5EF4-FFF2-40B4-BE49-F238E27FC236}">
                <a16:creationId xmlns:a16="http://schemas.microsoft.com/office/drawing/2014/main" id="{61865ABA-4CBA-41F9-838B-0DE686B7F7FF}"/>
              </a:ext>
            </a:extLst>
          </p:cNvPr>
          <p:cNvSpPr>
            <a:spLocks xmlns:a="http://schemas.openxmlformats.org/drawingml/2006/main" noGrp="1"/>
          </p:cNvSpPr>
          <p:nvPr/>
        </p:nvSpPr>
        <p:spPr>
          <a:xfrm xmlns:a="http://schemas.openxmlformats.org/drawingml/2006/main">
            <a:off x="4953000" y="48672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87182"/>
                </a:solidFill>
                <a:latin typeface="Cairo"/>
                <a:ea typeface="Cairo"/>
                <a:cs typeface="Cairo"/>
              </a:defRPr>
            </a:defPPr>
          </a:lstStyle>
          <a:p xmlns:a="http://schemas.openxmlformats.org/drawingml/2006/main">
            <a:pPr>
              <a:defRPr sz="1350" b="0">
                <a:solidFill>
                  <a:srgbClr val="687182"/>
                </a:solidFill>
                <a:latin typeface="Cairo"/>
                <a:ea typeface="Cairo"/>
                <a:cs typeface="Cairo"/>
              </a:defRPr>
            </a:pPr>
            <a:r>
              <a:rPr sz="1350" b="0">
                <a:solidFill>
                  <a:srgbClr val="687182"/>
                </a:solidFill>
                <a:latin typeface="Cairo"/>
                <a:ea typeface="Cairo"/>
                <a:cs typeface="Cairo"/>
              </a:rPr>
              <a:t>samtools index</a:t>
            </a:r>
          </a:p>
        </p:txBody>
      </p:sp>
      <p:sp>
        <p:nvSpPr>
          <p:cNvPr id="37" name="text-36">
            <a:extLst xmlns:a="http://schemas.openxmlformats.org/drawingml/2006/main">
              <a:ext uri="{FF2B5EF4-FFF2-40B4-BE49-F238E27FC236}">
                <a16:creationId xmlns:a16="http://schemas.microsoft.com/office/drawing/2014/main" id="{D2998AEC-B8BF-42DC-A413-9DC4BB2F036E}"/>
              </a:ext>
            </a:extLst>
          </p:cNvPr>
          <p:cNvSpPr>
            <a:spLocks xmlns:a="http://schemas.openxmlformats.org/drawingml/2006/main" noGrp="1"/>
          </p:cNvSpPr>
          <p:nvPr/>
        </p:nvSpPr>
        <p:spPr>
          <a:xfrm xmlns:a="http://schemas.openxmlformats.org/drawingml/2006/main">
            <a:off x="4362450" y="5229225"/>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457FF"/>
                </a:solidFill>
                <a:latin typeface="Cairo"/>
                <a:ea typeface="Cairo"/>
                <a:cs typeface="Cairo"/>
              </a:defRPr>
            </a:defPPr>
          </a:lstStyle>
          <a:p xmlns:a="http://schemas.openxmlformats.org/drawingml/2006/main">
            <a:pPr>
              <a:defRPr sz="1875" b="1">
                <a:solidFill>
                  <a:srgbClr val="2457FF"/>
                </a:solidFill>
                <a:latin typeface="Cairo"/>
                <a:ea typeface="Cairo"/>
                <a:cs typeface="Cairo"/>
              </a:defRPr>
            </a:pPr>
            <a:r>
              <a:rPr sz="1875" b="1">
                <a:solidFill>
                  <a:srgbClr val="2457FF"/>
                </a:solidFill>
                <a:latin typeface="Cairo"/>
                <a:ea typeface="Cairo"/>
                <a:cs typeface="Cairo"/>
              </a:rPr>
              <a:t>12</a:t>
            </a:r>
          </a:p>
        </p:txBody>
      </p:sp>
      <p:sp>
        <p:nvSpPr>
          <p:cNvPr id="38" name="text-37">
            <a:extLst xmlns:a="http://schemas.openxmlformats.org/drawingml/2006/main">
              <a:ext uri="{FF2B5EF4-FFF2-40B4-BE49-F238E27FC236}">
                <a16:creationId xmlns:a16="http://schemas.microsoft.com/office/drawing/2014/main" id="{B2594D99-989A-44A9-ABE9-1468003CCD15}"/>
              </a:ext>
            </a:extLst>
          </p:cNvPr>
          <p:cNvSpPr>
            <a:spLocks xmlns:a="http://schemas.openxmlformats.org/drawingml/2006/main" noGrp="1"/>
          </p:cNvSpPr>
          <p:nvPr/>
        </p:nvSpPr>
        <p:spPr>
          <a:xfrm xmlns:a="http://schemas.openxmlformats.org/drawingml/2006/main">
            <a:off x="4953000" y="5229225"/>
            <a:ext cx="271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5181F"/>
                </a:solidFill>
                <a:latin typeface="Cairo"/>
                <a:ea typeface="Cairo"/>
                <a:cs typeface="Cairo"/>
              </a:defRPr>
            </a:defPPr>
          </a:lstStyle>
          <a:p xmlns:a="http://schemas.openxmlformats.org/drawingml/2006/main">
            <a:pPr>
              <a:defRPr sz="1725" b="1">
                <a:solidFill>
                  <a:srgbClr val="15181F"/>
                </a:solidFill>
                <a:latin typeface="Cairo"/>
                <a:ea typeface="Cairo"/>
                <a:cs typeface="Cairo"/>
              </a:defRPr>
            </a:pPr>
            <a:r>
              <a:rPr sz="1725" b="1">
                <a:solidFill>
                  <a:srgbClr val="15181F"/>
                </a:solidFill>
                <a:latin typeface="Cairo"/>
                <a:ea typeface="Cairo"/>
                <a:cs typeface="Cairo"/>
              </a:rPr>
              <a:t>Metrics</a:t>
            </a:r>
          </a:p>
        </p:txBody>
      </p:sp>
      <p:sp>
        <p:nvSpPr>
          <p:cNvPr id="39" name="text-38">
            <a:extLst xmlns:a="http://schemas.openxmlformats.org/drawingml/2006/main">
              <a:ext uri="{FF2B5EF4-FFF2-40B4-BE49-F238E27FC236}">
                <a16:creationId xmlns:a16="http://schemas.microsoft.com/office/drawing/2014/main" id="{A80FAB3E-1110-4078-A704-8B1C8BB4DBD9}"/>
              </a:ext>
            </a:extLst>
          </p:cNvPr>
          <p:cNvSpPr>
            <a:spLocks xmlns:a="http://schemas.openxmlformats.org/drawingml/2006/main" noGrp="1"/>
          </p:cNvSpPr>
          <p:nvPr/>
        </p:nvSpPr>
        <p:spPr>
          <a:xfrm xmlns:a="http://schemas.openxmlformats.org/drawingml/2006/main">
            <a:off x="4953000" y="556260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87182"/>
                </a:solidFill>
                <a:latin typeface="Cairo"/>
                <a:ea typeface="Cairo"/>
                <a:cs typeface="Cairo"/>
              </a:defRPr>
            </a:defPPr>
          </a:lstStyle>
          <a:p xmlns:a="http://schemas.openxmlformats.org/drawingml/2006/main">
            <a:pPr>
              <a:defRPr sz="1350" b="0">
                <a:solidFill>
                  <a:srgbClr val="687182"/>
                </a:solidFill>
                <a:latin typeface="Cairo"/>
                <a:ea typeface="Cairo"/>
                <a:cs typeface="Cairo"/>
              </a:defRPr>
            </a:pPr>
            <a:r>
              <a:rPr sz="1350" b="0">
                <a:solidFill>
                  <a:srgbClr val="687182"/>
                </a:solidFill>
                <a:latin typeface="Cairo"/>
                <a:ea typeface="Cairo"/>
                <a:cs typeface="Cairo"/>
              </a:rPr>
              <a:t>flagstat / coverage</a:t>
            </a:r>
          </a:p>
        </p:txBody>
      </p:sp>
      <p:sp>
        <p:nvSpPr>
          <p:cNvPr id="40" name="text-39">
            <a:extLst xmlns:a="http://schemas.openxmlformats.org/drawingml/2006/main">
              <a:ext uri="{FF2B5EF4-FFF2-40B4-BE49-F238E27FC236}">
                <a16:creationId xmlns:a16="http://schemas.microsoft.com/office/drawing/2014/main" id="{D0564B9A-93A1-4AD5-A973-F6931987FAE4}"/>
              </a:ext>
            </a:extLst>
          </p:cNvPr>
          <p:cNvSpPr>
            <a:spLocks xmlns:a="http://schemas.openxmlformats.org/drawingml/2006/main" noGrp="1"/>
          </p:cNvSpPr>
          <p:nvPr/>
        </p:nvSpPr>
        <p:spPr>
          <a:xfrm xmlns:a="http://schemas.openxmlformats.org/drawingml/2006/main">
            <a:off x="8191500" y="1752600"/>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457FF"/>
                </a:solidFill>
                <a:latin typeface="Cairo"/>
                <a:ea typeface="Cairo"/>
                <a:cs typeface="Cairo"/>
              </a:defRPr>
            </a:defPPr>
          </a:lstStyle>
          <a:p xmlns:a="http://schemas.openxmlformats.org/drawingml/2006/main">
            <a:pPr>
              <a:defRPr sz="1875" b="1">
                <a:solidFill>
                  <a:srgbClr val="2457FF"/>
                </a:solidFill>
                <a:latin typeface="Cairo"/>
                <a:ea typeface="Cairo"/>
                <a:cs typeface="Cairo"/>
              </a:defRPr>
            </a:pPr>
            <a:r>
              <a:rPr sz="1875" b="1">
                <a:solidFill>
                  <a:srgbClr val="2457FF"/>
                </a:solidFill>
                <a:latin typeface="Cairo"/>
                <a:ea typeface="Cairo"/>
                <a:cs typeface="Cairo"/>
              </a:rPr>
              <a:t>13</a:t>
            </a:r>
          </a:p>
        </p:txBody>
      </p:sp>
      <p:sp>
        <p:nvSpPr>
          <p:cNvPr id="41" name="text-40">
            <a:extLst xmlns:a="http://schemas.openxmlformats.org/drawingml/2006/main">
              <a:ext uri="{FF2B5EF4-FFF2-40B4-BE49-F238E27FC236}">
                <a16:creationId xmlns:a16="http://schemas.microsoft.com/office/drawing/2014/main" id="{80A2E512-37C5-45F8-9F4F-142BAE97210E}"/>
              </a:ext>
            </a:extLst>
          </p:cNvPr>
          <p:cNvSpPr>
            <a:spLocks xmlns:a="http://schemas.openxmlformats.org/drawingml/2006/main" noGrp="1"/>
          </p:cNvSpPr>
          <p:nvPr/>
        </p:nvSpPr>
        <p:spPr>
          <a:xfrm xmlns:a="http://schemas.openxmlformats.org/drawingml/2006/main">
            <a:off x="8782050" y="1752600"/>
            <a:ext cx="271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5181F"/>
                </a:solidFill>
                <a:latin typeface="Cairo"/>
                <a:ea typeface="Cairo"/>
                <a:cs typeface="Cairo"/>
              </a:defRPr>
            </a:defPPr>
          </a:lstStyle>
          <a:p xmlns:a="http://schemas.openxmlformats.org/drawingml/2006/main">
            <a:pPr>
              <a:defRPr sz="1725" b="1">
                <a:solidFill>
                  <a:srgbClr val="15181F"/>
                </a:solidFill>
                <a:latin typeface="Cairo"/>
                <a:ea typeface="Cairo"/>
                <a:cs typeface="Cairo"/>
              </a:defRPr>
            </a:pPr>
            <a:r>
              <a:rPr sz="1725" b="1">
                <a:solidFill>
                  <a:srgbClr val="15181F"/>
                </a:solidFill>
                <a:latin typeface="Cairo"/>
                <a:ea typeface="Cairo"/>
                <a:cs typeface="Cairo"/>
              </a:rPr>
              <a:t>Call</a:t>
            </a:r>
          </a:p>
        </p:txBody>
      </p:sp>
      <p:sp>
        <p:nvSpPr>
          <p:cNvPr id="42" name="text-41">
            <a:extLst xmlns:a="http://schemas.openxmlformats.org/drawingml/2006/main">
              <a:ext uri="{FF2B5EF4-FFF2-40B4-BE49-F238E27FC236}">
                <a16:creationId xmlns:a16="http://schemas.microsoft.com/office/drawing/2014/main" id="{C1788CEB-6F3A-4BF0-8A9D-A02E1AC300D0}"/>
              </a:ext>
            </a:extLst>
          </p:cNvPr>
          <p:cNvSpPr>
            <a:spLocks xmlns:a="http://schemas.openxmlformats.org/drawingml/2006/main" noGrp="1"/>
          </p:cNvSpPr>
          <p:nvPr/>
        </p:nvSpPr>
        <p:spPr>
          <a:xfrm xmlns:a="http://schemas.openxmlformats.org/drawingml/2006/main">
            <a:off x="8782050" y="20859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87182"/>
                </a:solidFill>
                <a:latin typeface="Cairo"/>
                <a:ea typeface="Cairo"/>
                <a:cs typeface="Cairo"/>
              </a:defRPr>
            </a:defPPr>
          </a:lstStyle>
          <a:p xmlns:a="http://schemas.openxmlformats.org/drawingml/2006/main">
            <a:pPr>
              <a:defRPr sz="1350" b="0">
                <a:solidFill>
                  <a:srgbClr val="687182"/>
                </a:solidFill>
                <a:latin typeface="Cairo"/>
                <a:ea typeface="Cairo"/>
                <a:cs typeface="Cairo"/>
              </a:defRPr>
            </a:pPr>
            <a:r>
              <a:rPr sz="1350" b="0">
                <a:solidFill>
                  <a:srgbClr val="687182"/>
                </a:solidFill>
                <a:latin typeface="Cairo"/>
                <a:ea typeface="Cairo"/>
                <a:cs typeface="Cairo"/>
              </a:rPr>
              <a:t>mpileup / call</a:t>
            </a:r>
          </a:p>
        </p:txBody>
      </p:sp>
      <p:sp>
        <p:nvSpPr>
          <p:cNvPr id="43" name="text-42">
            <a:extLst xmlns:a="http://schemas.openxmlformats.org/drawingml/2006/main">
              <a:ext uri="{FF2B5EF4-FFF2-40B4-BE49-F238E27FC236}">
                <a16:creationId xmlns:a16="http://schemas.microsoft.com/office/drawing/2014/main" id="{A1A67B79-0FEE-4475-9ECA-2109EBE45CB2}"/>
              </a:ext>
            </a:extLst>
          </p:cNvPr>
          <p:cNvSpPr>
            <a:spLocks xmlns:a="http://schemas.openxmlformats.org/drawingml/2006/main" noGrp="1"/>
          </p:cNvSpPr>
          <p:nvPr/>
        </p:nvSpPr>
        <p:spPr>
          <a:xfrm xmlns:a="http://schemas.openxmlformats.org/drawingml/2006/main">
            <a:off x="8191500" y="2447925"/>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457FF"/>
                </a:solidFill>
                <a:latin typeface="Cairo"/>
                <a:ea typeface="Cairo"/>
                <a:cs typeface="Cairo"/>
              </a:defRPr>
            </a:defPPr>
          </a:lstStyle>
          <a:p xmlns:a="http://schemas.openxmlformats.org/drawingml/2006/main">
            <a:pPr>
              <a:defRPr sz="1875" b="1">
                <a:solidFill>
                  <a:srgbClr val="2457FF"/>
                </a:solidFill>
                <a:latin typeface="Cairo"/>
                <a:ea typeface="Cairo"/>
                <a:cs typeface="Cairo"/>
              </a:defRPr>
            </a:pPr>
            <a:r>
              <a:rPr sz="1875" b="1">
                <a:solidFill>
                  <a:srgbClr val="2457FF"/>
                </a:solidFill>
                <a:latin typeface="Cairo"/>
                <a:ea typeface="Cairo"/>
                <a:cs typeface="Cairo"/>
              </a:rPr>
              <a:t>14</a:t>
            </a:r>
          </a:p>
        </p:txBody>
      </p:sp>
      <p:sp>
        <p:nvSpPr>
          <p:cNvPr id="44" name="text-43">
            <a:extLst xmlns:a="http://schemas.openxmlformats.org/drawingml/2006/main">
              <a:ext uri="{FF2B5EF4-FFF2-40B4-BE49-F238E27FC236}">
                <a16:creationId xmlns:a16="http://schemas.microsoft.com/office/drawing/2014/main" id="{A63282C8-DCE6-49B3-B0F3-C8402CAAD5D8}"/>
              </a:ext>
            </a:extLst>
          </p:cNvPr>
          <p:cNvSpPr>
            <a:spLocks xmlns:a="http://schemas.openxmlformats.org/drawingml/2006/main" noGrp="1"/>
          </p:cNvSpPr>
          <p:nvPr/>
        </p:nvSpPr>
        <p:spPr>
          <a:xfrm xmlns:a="http://schemas.openxmlformats.org/drawingml/2006/main">
            <a:off x="8782050" y="2447925"/>
            <a:ext cx="271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5181F"/>
                </a:solidFill>
                <a:latin typeface="Cairo"/>
                <a:ea typeface="Cairo"/>
                <a:cs typeface="Cairo"/>
              </a:defRPr>
            </a:defPPr>
          </a:lstStyle>
          <a:p xmlns:a="http://schemas.openxmlformats.org/drawingml/2006/main">
            <a:pPr>
              <a:defRPr sz="1725" b="1">
                <a:solidFill>
                  <a:srgbClr val="15181F"/>
                </a:solidFill>
                <a:latin typeface="Cairo"/>
                <a:ea typeface="Cairo"/>
                <a:cs typeface="Cairo"/>
              </a:defRPr>
            </a:pPr>
            <a:r>
              <a:rPr sz="1725" b="1">
                <a:solidFill>
                  <a:srgbClr val="15181F"/>
                </a:solidFill>
                <a:latin typeface="Cairo"/>
                <a:ea typeface="Cairo"/>
                <a:cs typeface="Cairo"/>
              </a:rPr>
              <a:t>Filter</a:t>
            </a:r>
          </a:p>
        </p:txBody>
      </p:sp>
      <p:sp>
        <p:nvSpPr>
          <p:cNvPr id="45" name="text-44">
            <a:extLst xmlns:a="http://schemas.openxmlformats.org/drawingml/2006/main">
              <a:ext uri="{FF2B5EF4-FFF2-40B4-BE49-F238E27FC236}">
                <a16:creationId xmlns:a16="http://schemas.microsoft.com/office/drawing/2014/main" id="{E494A2D4-32C2-4491-8E45-95FD3E147418}"/>
              </a:ext>
            </a:extLst>
          </p:cNvPr>
          <p:cNvSpPr>
            <a:spLocks xmlns:a="http://schemas.openxmlformats.org/drawingml/2006/main" noGrp="1"/>
          </p:cNvSpPr>
          <p:nvPr/>
        </p:nvSpPr>
        <p:spPr>
          <a:xfrm xmlns:a="http://schemas.openxmlformats.org/drawingml/2006/main">
            <a:off x="8782050" y="278130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87182"/>
                </a:solidFill>
                <a:latin typeface="Cairo"/>
                <a:ea typeface="Cairo"/>
                <a:cs typeface="Cairo"/>
              </a:defRPr>
            </a:defPPr>
          </a:lstStyle>
          <a:p xmlns:a="http://schemas.openxmlformats.org/drawingml/2006/main">
            <a:pPr>
              <a:defRPr sz="1350" b="0">
                <a:solidFill>
                  <a:srgbClr val="687182"/>
                </a:solidFill>
                <a:latin typeface="Cairo"/>
                <a:ea typeface="Cairo"/>
                <a:cs typeface="Cairo"/>
              </a:defRPr>
            </a:pPr>
            <a:r>
              <a:rPr sz="1350" b="0">
                <a:solidFill>
                  <a:srgbClr val="687182"/>
                </a:solidFill>
                <a:latin typeface="Cairo"/>
                <a:ea typeface="Cairo"/>
                <a:cs typeface="Cairo"/>
              </a:rPr>
              <a:t>QUAL 30 / DP 5</a:t>
            </a:r>
          </a:p>
        </p:txBody>
      </p:sp>
      <p:sp>
        <p:nvSpPr>
          <p:cNvPr id="46" name="text-45">
            <a:extLst xmlns:a="http://schemas.openxmlformats.org/drawingml/2006/main">
              <a:ext uri="{FF2B5EF4-FFF2-40B4-BE49-F238E27FC236}">
                <a16:creationId xmlns:a16="http://schemas.microsoft.com/office/drawing/2014/main" id="{02A7B917-7248-4490-A968-8D135469AD6A}"/>
              </a:ext>
            </a:extLst>
          </p:cNvPr>
          <p:cNvSpPr>
            <a:spLocks xmlns:a="http://schemas.openxmlformats.org/drawingml/2006/main" noGrp="1"/>
          </p:cNvSpPr>
          <p:nvPr/>
        </p:nvSpPr>
        <p:spPr>
          <a:xfrm xmlns:a="http://schemas.openxmlformats.org/drawingml/2006/main">
            <a:off x="8191500" y="3143250"/>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457FF"/>
                </a:solidFill>
                <a:latin typeface="Cairo"/>
                <a:ea typeface="Cairo"/>
                <a:cs typeface="Cairo"/>
              </a:defRPr>
            </a:defPPr>
          </a:lstStyle>
          <a:p xmlns:a="http://schemas.openxmlformats.org/drawingml/2006/main">
            <a:pPr>
              <a:defRPr sz="1875" b="1">
                <a:solidFill>
                  <a:srgbClr val="2457FF"/>
                </a:solidFill>
                <a:latin typeface="Cairo"/>
                <a:ea typeface="Cairo"/>
                <a:cs typeface="Cairo"/>
              </a:defRPr>
            </a:pPr>
            <a:r>
              <a:rPr sz="1875" b="1">
                <a:solidFill>
                  <a:srgbClr val="2457FF"/>
                </a:solidFill>
                <a:latin typeface="Cairo"/>
                <a:ea typeface="Cairo"/>
                <a:cs typeface="Cairo"/>
              </a:rPr>
              <a:t>15</a:t>
            </a:r>
          </a:p>
        </p:txBody>
      </p:sp>
      <p:sp>
        <p:nvSpPr>
          <p:cNvPr id="47" name="text-46">
            <a:extLst xmlns:a="http://schemas.openxmlformats.org/drawingml/2006/main">
              <a:ext uri="{FF2B5EF4-FFF2-40B4-BE49-F238E27FC236}">
                <a16:creationId xmlns:a16="http://schemas.microsoft.com/office/drawing/2014/main" id="{76B2FF28-49A0-4865-A2A6-7200FA9D68E3}"/>
              </a:ext>
            </a:extLst>
          </p:cNvPr>
          <p:cNvSpPr>
            <a:spLocks xmlns:a="http://schemas.openxmlformats.org/drawingml/2006/main" noGrp="1"/>
          </p:cNvSpPr>
          <p:nvPr/>
        </p:nvSpPr>
        <p:spPr>
          <a:xfrm xmlns:a="http://schemas.openxmlformats.org/drawingml/2006/main">
            <a:off x="8782050" y="3143250"/>
            <a:ext cx="271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5181F"/>
                </a:solidFill>
                <a:latin typeface="Cairo"/>
                <a:ea typeface="Cairo"/>
                <a:cs typeface="Cairo"/>
              </a:defRPr>
            </a:defPPr>
          </a:lstStyle>
          <a:p xmlns:a="http://schemas.openxmlformats.org/drawingml/2006/main">
            <a:pPr>
              <a:defRPr sz="1725" b="1">
                <a:solidFill>
                  <a:srgbClr val="15181F"/>
                </a:solidFill>
                <a:latin typeface="Cairo"/>
                <a:ea typeface="Cairo"/>
                <a:cs typeface="Cairo"/>
              </a:defRPr>
            </a:pPr>
            <a:r>
              <a:rPr sz="1725" b="1">
                <a:solidFill>
                  <a:srgbClr val="15181F"/>
                </a:solidFill>
                <a:latin typeface="Cairo"/>
                <a:ea typeface="Cairo"/>
                <a:cs typeface="Cairo"/>
              </a:rPr>
              <a:t>VCF index</a:t>
            </a:r>
          </a:p>
        </p:txBody>
      </p:sp>
      <p:sp>
        <p:nvSpPr>
          <p:cNvPr id="48" name="text-47">
            <a:extLst xmlns:a="http://schemas.openxmlformats.org/drawingml/2006/main">
              <a:ext uri="{FF2B5EF4-FFF2-40B4-BE49-F238E27FC236}">
                <a16:creationId xmlns:a16="http://schemas.microsoft.com/office/drawing/2014/main" id="{AEEE1FAA-B01D-4276-976A-6AEE8211A088}"/>
              </a:ext>
            </a:extLst>
          </p:cNvPr>
          <p:cNvSpPr>
            <a:spLocks xmlns:a="http://schemas.openxmlformats.org/drawingml/2006/main" noGrp="1"/>
          </p:cNvSpPr>
          <p:nvPr/>
        </p:nvSpPr>
        <p:spPr>
          <a:xfrm xmlns:a="http://schemas.openxmlformats.org/drawingml/2006/main">
            <a:off x="8782050" y="347662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87182"/>
                </a:solidFill>
                <a:latin typeface="Cairo"/>
                <a:ea typeface="Cairo"/>
                <a:cs typeface="Cairo"/>
              </a:defRPr>
            </a:defPPr>
          </a:lstStyle>
          <a:p xmlns:a="http://schemas.openxmlformats.org/drawingml/2006/main">
            <a:pPr>
              <a:defRPr sz="1350" b="0">
                <a:solidFill>
                  <a:srgbClr val="687182"/>
                </a:solidFill>
                <a:latin typeface="Cairo"/>
                <a:ea typeface="Cairo"/>
                <a:cs typeface="Cairo"/>
              </a:defRPr>
            </a:pPr>
            <a:r>
              <a:rPr sz="1350" b="0">
                <a:solidFill>
                  <a:srgbClr val="687182"/>
                </a:solidFill>
                <a:latin typeface="Cairo"/>
                <a:ea typeface="Cairo"/>
                <a:cs typeface="Cairo"/>
              </a:rPr>
              <a:t>view -Oz / index</a:t>
            </a:r>
          </a:p>
        </p:txBody>
      </p:sp>
      <p:sp>
        <p:nvSpPr>
          <p:cNvPr id="49" name="text-48">
            <a:extLst xmlns:a="http://schemas.openxmlformats.org/drawingml/2006/main">
              <a:ext uri="{FF2B5EF4-FFF2-40B4-BE49-F238E27FC236}">
                <a16:creationId xmlns:a16="http://schemas.microsoft.com/office/drawing/2014/main" id="{A6BCC802-96B7-4F13-A525-0AFBFA1F549B}"/>
              </a:ext>
            </a:extLst>
          </p:cNvPr>
          <p:cNvSpPr>
            <a:spLocks xmlns:a="http://schemas.openxmlformats.org/drawingml/2006/main" noGrp="1"/>
          </p:cNvSpPr>
          <p:nvPr/>
        </p:nvSpPr>
        <p:spPr>
          <a:xfrm xmlns:a="http://schemas.openxmlformats.org/drawingml/2006/main">
            <a:off x="8191500" y="3838575"/>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457FF"/>
                </a:solidFill>
                <a:latin typeface="Cairo"/>
                <a:ea typeface="Cairo"/>
                <a:cs typeface="Cairo"/>
              </a:defRPr>
            </a:defPPr>
          </a:lstStyle>
          <a:p xmlns:a="http://schemas.openxmlformats.org/drawingml/2006/main">
            <a:pPr>
              <a:defRPr sz="1875" b="1">
                <a:solidFill>
                  <a:srgbClr val="2457FF"/>
                </a:solidFill>
                <a:latin typeface="Cairo"/>
                <a:ea typeface="Cairo"/>
                <a:cs typeface="Cairo"/>
              </a:defRPr>
            </a:pPr>
            <a:r>
              <a:rPr sz="1875" b="1">
                <a:solidFill>
                  <a:srgbClr val="2457FF"/>
                </a:solidFill>
                <a:latin typeface="Cairo"/>
                <a:ea typeface="Cairo"/>
                <a:cs typeface="Cairo"/>
              </a:rPr>
              <a:t>16</a:t>
            </a:r>
          </a:p>
        </p:txBody>
      </p:sp>
      <p:sp>
        <p:nvSpPr>
          <p:cNvPr id="50" name="text-49">
            <a:extLst xmlns:a="http://schemas.openxmlformats.org/drawingml/2006/main">
              <a:ext uri="{FF2B5EF4-FFF2-40B4-BE49-F238E27FC236}">
                <a16:creationId xmlns:a16="http://schemas.microsoft.com/office/drawing/2014/main" id="{6ECD4F42-55C2-43AE-97A1-A36D2794F38E}"/>
              </a:ext>
            </a:extLst>
          </p:cNvPr>
          <p:cNvSpPr>
            <a:spLocks xmlns:a="http://schemas.openxmlformats.org/drawingml/2006/main" noGrp="1"/>
          </p:cNvSpPr>
          <p:nvPr/>
        </p:nvSpPr>
        <p:spPr>
          <a:xfrm xmlns:a="http://schemas.openxmlformats.org/drawingml/2006/main">
            <a:off x="8782050" y="3838575"/>
            <a:ext cx="271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5181F"/>
                </a:solidFill>
                <a:latin typeface="Cairo"/>
                <a:ea typeface="Cairo"/>
                <a:cs typeface="Cairo"/>
              </a:defRPr>
            </a:defPPr>
          </a:lstStyle>
          <a:p xmlns:a="http://schemas.openxmlformats.org/drawingml/2006/main">
            <a:pPr>
              <a:defRPr sz="1725" b="1">
                <a:solidFill>
                  <a:srgbClr val="15181F"/>
                </a:solidFill>
                <a:latin typeface="Cairo"/>
                <a:ea typeface="Cairo"/>
                <a:cs typeface="Cairo"/>
              </a:defRPr>
            </a:pPr>
            <a:r>
              <a:rPr sz="1725" b="1">
                <a:solidFill>
                  <a:srgbClr val="15181F"/>
                </a:solidFill>
                <a:latin typeface="Cairo"/>
                <a:ea typeface="Cairo"/>
                <a:cs typeface="Cairo"/>
              </a:rPr>
              <a:t>Compare</a:t>
            </a:r>
          </a:p>
        </p:txBody>
      </p:sp>
      <p:sp>
        <p:nvSpPr>
          <p:cNvPr id="51" name="text-50">
            <a:extLst xmlns:a="http://schemas.openxmlformats.org/drawingml/2006/main">
              <a:ext uri="{FF2B5EF4-FFF2-40B4-BE49-F238E27FC236}">
                <a16:creationId xmlns:a16="http://schemas.microsoft.com/office/drawing/2014/main" id="{38D40845-3794-4BCE-90E4-132753CB37E1}"/>
              </a:ext>
            </a:extLst>
          </p:cNvPr>
          <p:cNvSpPr>
            <a:spLocks xmlns:a="http://schemas.openxmlformats.org/drawingml/2006/main" noGrp="1"/>
          </p:cNvSpPr>
          <p:nvPr/>
        </p:nvSpPr>
        <p:spPr>
          <a:xfrm xmlns:a="http://schemas.openxmlformats.org/drawingml/2006/main">
            <a:off x="8782050" y="41719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87182"/>
                </a:solidFill>
                <a:latin typeface="Cairo"/>
                <a:ea typeface="Cairo"/>
                <a:cs typeface="Cairo"/>
              </a:defRPr>
            </a:defPPr>
          </a:lstStyle>
          <a:p xmlns:a="http://schemas.openxmlformats.org/drawingml/2006/main">
            <a:pPr>
              <a:defRPr sz="1350" b="0">
                <a:solidFill>
                  <a:srgbClr val="687182"/>
                </a:solidFill>
                <a:latin typeface="Cairo"/>
                <a:ea typeface="Cairo"/>
                <a:cs typeface="Cairo"/>
              </a:defRPr>
            </a:pPr>
            <a:r>
              <a:rPr sz="1350" b="0">
                <a:solidFill>
                  <a:srgbClr val="687182"/>
                </a:solidFill>
                <a:latin typeface="Cairo"/>
                <a:ea typeface="Cairo"/>
                <a:cs typeface="Cairo"/>
              </a:rPr>
              <a:t>norm / isec</a:t>
            </a:r>
          </a:p>
        </p:txBody>
      </p:sp>
      <p:sp>
        <p:nvSpPr>
          <p:cNvPr id="52" name="text-51">
            <a:extLst xmlns:a="http://schemas.openxmlformats.org/drawingml/2006/main">
              <a:ext uri="{FF2B5EF4-FFF2-40B4-BE49-F238E27FC236}">
                <a16:creationId xmlns:a16="http://schemas.microsoft.com/office/drawing/2014/main" id="{029A2EA7-CB9B-4E9B-9453-3D2C896555E2}"/>
              </a:ext>
            </a:extLst>
          </p:cNvPr>
          <p:cNvSpPr>
            <a:spLocks xmlns:a="http://schemas.openxmlformats.org/drawingml/2006/main" noGrp="1"/>
          </p:cNvSpPr>
          <p:nvPr/>
        </p:nvSpPr>
        <p:spPr>
          <a:xfrm xmlns:a="http://schemas.openxmlformats.org/drawingml/2006/main">
            <a:off x="8191500" y="4533900"/>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457FF"/>
                </a:solidFill>
                <a:latin typeface="Cairo"/>
                <a:ea typeface="Cairo"/>
                <a:cs typeface="Cairo"/>
              </a:defRPr>
            </a:defPPr>
          </a:lstStyle>
          <a:p xmlns:a="http://schemas.openxmlformats.org/drawingml/2006/main">
            <a:pPr>
              <a:defRPr sz="1875" b="1">
                <a:solidFill>
                  <a:srgbClr val="2457FF"/>
                </a:solidFill>
                <a:latin typeface="Cairo"/>
                <a:ea typeface="Cairo"/>
                <a:cs typeface="Cairo"/>
              </a:defRPr>
            </a:pPr>
            <a:r>
              <a:rPr sz="1875" b="1">
                <a:solidFill>
                  <a:srgbClr val="2457FF"/>
                </a:solidFill>
                <a:latin typeface="Cairo"/>
                <a:ea typeface="Cairo"/>
                <a:cs typeface="Cairo"/>
              </a:rPr>
              <a:t>17</a:t>
            </a:r>
          </a:p>
        </p:txBody>
      </p:sp>
      <p:sp>
        <p:nvSpPr>
          <p:cNvPr id="53" name="text-52">
            <a:extLst xmlns:a="http://schemas.openxmlformats.org/drawingml/2006/main">
              <a:ext uri="{FF2B5EF4-FFF2-40B4-BE49-F238E27FC236}">
                <a16:creationId xmlns:a16="http://schemas.microsoft.com/office/drawing/2014/main" id="{09F81644-0BCB-4D07-A3FE-EDC8E70956EA}"/>
              </a:ext>
            </a:extLst>
          </p:cNvPr>
          <p:cNvSpPr>
            <a:spLocks xmlns:a="http://schemas.openxmlformats.org/drawingml/2006/main" noGrp="1"/>
          </p:cNvSpPr>
          <p:nvPr/>
        </p:nvSpPr>
        <p:spPr>
          <a:xfrm xmlns:a="http://schemas.openxmlformats.org/drawingml/2006/main">
            <a:off x="8782050" y="4533900"/>
            <a:ext cx="271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5181F"/>
                </a:solidFill>
                <a:latin typeface="Cairo"/>
                <a:ea typeface="Cairo"/>
                <a:cs typeface="Cairo"/>
              </a:defRPr>
            </a:defPPr>
          </a:lstStyle>
          <a:p xmlns:a="http://schemas.openxmlformats.org/drawingml/2006/main">
            <a:pPr>
              <a:defRPr sz="1725" b="1">
                <a:solidFill>
                  <a:srgbClr val="15181F"/>
                </a:solidFill>
                <a:latin typeface="Cairo"/>
                <a:ea typeface="Cairo"/>
                <a:cs typeface="Cairo"/>
              </a:defRPr>
            </a:pPr>
            <a:r>
              <a:rPr sz="1725" b="1">
                <a:solidFill>
                  <a:srgbClr val="15181F"/>
                </a:solidFill>
                <a:latin typeface="Cairo"/>
                <a:ea typeface="Cairo"/>
                <a:cs typeface="Cairo"/>
              </a:rPr>
              <a:t>Annotate</a:t>
            </a:r>
          </a:p>
        </p:txBody>
      </p:sp>
      <p:sp>
        <p:nvSpPr>
          <p:cNvPr id="54" name="text-53">
            <a:extLst xmlns:a="http://schemas.openxmlformats.org/drawingml/2006/main">
              <a:ext uri="{FF2B5EF4-FFF2-40B4-BE49-F238E27FC236}">
                <a16:creationId xmlns:a16="http://schemas.microsoft.com/office/drawing/2014/main" id="{01F91727-BA02-409B-9BF4-9995B8FE3A8C}"/>
              </a:ext>
            </a:extLst>
          </p:cNvPr>
          <p:cNvSpPr>
            <a:spLocks xmlns:a="http://schemas.openxmlformats.org/drawingml/2006/main" noGrp="1"/>
          </p:cNvSpPr>
          <p:nvPr/>
        </p:nvSpPr>
        <p:spPr>
          <a:xfrm xmlns:a="http://schemas.openxmlformats.org/drawingml/2006/main">
            <a:off x="8782050" y="48672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87182"/>
                </a:solidFill>
                <a:latin typeface="Cairo"/>
                <a:ea typeface="Cairo"/>
                <a:cs typeface="Cairo"/>
              </a:defRPr>
            </a:defPPr>
          </a:lstStyle>
          <a:p xmlns:a="http://schemas.openxmlformats.org/drawingml/2006/main">
            <a:pPr>
              <a:defRPr sz="1350" b="0">
                <a:solidFill>
                  <a:srgbClr val="687182"/>
                </a:solidFill>
                <a:latin typeface="Cairo"/>
                <a:ea typeface="Cairo"/>
                <a:cs typeface="Cairo"/>
              </a:defRPr>
            </a:pPr>
            <a:r>
              <a:rPr sz="1350" b="0">
                <a:solidFill>
                  <a:srgbClr val="687182"/>
                </a:solidFill>
                <a:latin typeface="Cairo"/>
                <a:ea typeface="Cairo"/>
                <a:cs typeface="Cairo"/>
              </a:rPr>
              <a:t>GFF / faidx</a:t>
            </a:r>
          </a:p>
        </p:txBody>
      </p:sp>
      <p:sp>
        <p:nvSpPr>
          <p:cNvPr id="55" name="text-54">
            <a:extLst xmlns:a="http://schemas.openxmlformats.org/drawingml/2006/main">
              <a:ext uri="{FF2B5EF4-FFF2-40B4-BE49-F238E27FC236}">
                <a16:creationId xmlns:a16="http://schemas.microsoft.com/office/drawing/2014/main" id="{22200612-FE66-4AE2-850C-B032AC490A31}"/>
              </a:ext>
            </a:extLst>
          </p:cNvPr>
          <p:cNvSpPr>
            <a:spLocks xmlns:a="http://schemas.openxmlformats.org/drawingml/2006/main" noGrp="1"/>
          </p:cNvSpPr>
          <p:nvPr/>
        </p:nvSpPr>
        <p:spPr>
          <a:xfrm xmlns:a="http://schemas.openxmlformats.org/drawingml/2006/main">
            <a:off x="8191500" y="5229225"/>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457FF"/>
                </a:solidFill>
                <a:latin typeface="Cairo"/>
                <a:ea typeface="Cairo"/>
                <a:cs typeface="Cairo"/>
              </a:defRPr>
            </a:defPPr>
          </a:lstStyle>
          <a:p xmlns:a="http://schemas.openxmlformats.org/drawingml/2006/main">
            <a:pPr>
              <a:defRPr sz="1875" b="1">
                <a:solidFill>
                  <a:srgbClr val="2457FF"/>
                </a:solidFill>
                <a:latin typeface="Cairo"/>
                <a:ea typeface="Cairo"/>
                <a:cs typeface="Cairo"/>
              </a:defRPr>
            </a:pPr>
            <a:r>
              <a:rPr sz="1875" b="1">
                <a:solidFill>
                  <a:srgbClr val="2457FF"/>
                </a:solidFill>
                <a:latin typeface="Cairo"/>
                <a:ea typeface="Cairo"/>
                <a:cs typeface="Cairo"/>
              </a:rPr>
              <a:t>18</a:t>
            </a:r>
          </a:p>
        </p:txBody>
      </p:sp>
      <p:sp>
        <p:nvSpPr>
          <p:cNvPr id="56" name="text-55">
            <a:extLst xmlns:a="http://schemas.openxmlformats.org/drawingml/2006/main">
              <a:ext uri="{FF2B5EF4-FFF2-40B4-BE49-F238E27FC236}">
                <a16:creationId xmlns:a16="http://schemas.microsoft.com/office/drawing/2014/main" id="{15B22133-6481-4CB4-A47A-33BFC9F50550}"/>
              </a:ext>
            </a:extLst>
          </p:cNvPr>
          <p:cNvSpPr>
            <a:spLocks xmlns:a="http://schemas.openxmlformats.org/drawingml/2006/main" noGrp="1"/>
          </p:cNvSpPr>
          <p:nvPr/>
        </p:nvSpPr>
        <p:spPr>
          <a:xfrm xmlns:a="http://schemas.openxmlformats.org/drawingml/2006/main">
            <a:off x="8782050" y="5229225"/>
            <a:ext cx="271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5181F"/>
                </a:solidFill>
                <a:latin typeface="Cairo"/>
                <a:ea typeface="Cairo"/>
                <a:cs typeface="Cairo"/>
              </a:defRPr>
            </a:defPPr>
          </a:lstStyle>
          <a:p xmlns:a="http://schemas.openxmlformats.org/drawingml/2006/main">
            <a:pPr>
              <a:defRPr sz="1725" b="1">
                <a:solidFill>
                  <a:srgbClr val="15181F"/>
                </a:solidFill>
                <a:latin typeface="Cairo"/>
                <a:ea typeface="Cairo"/>
                <a:cs typeface="Cairo"/>
              </a:defRPr>
            </a:pPr>
            <a:r>
              <a:rPr sz="1725" b="1">
                <a:solidFill>
                  <a:srgbClr val="15181F"/>
                </a:solidFill>
                <a:latin typeface="Cairo"/>
                <a:ea typeface="Cairo"/>
                <a:cs typeface="Cairo"/>
              </a:rPr>
              <a:t>Evidence</a:t>
            </a:r>
          </a:p>
        </p:txBody>
      </p:sp>
      <p:sp>
        <p:nvSpPr>
          <p:cNvPr id="57" name="text-56">
            <a:extLst xmlns:a="http://schemas.openxmlformats.org/drawingml/2006/main">
              <a:ext uri="{FF2B5EF4-FFF2-40B4-BE49-F238E27FC236}">
                <a16:creationId xmlns:a16="http://schemas.microsoft.com/office/drawing/2014/main" id="{6F4B28FE-5429-422D-AA4D-363BDB136833}"/>
              </a:ext>
            </a:extLst>
          </p:cNvPr>
          <p:cNvSpPr>
            <a:spLocks xmlns:a="http://schemas.openxmlformats.org/drawingml/2006/main" noGrp="1"/>
          </p:cNvSpPr>
          <p:nvPr/>
        </p:nvSpPr>
        <p:spPr>
          <a:xfrm xmlns:a="http://schemas.openxmlformats.org/drawingml/2006/main">
            <a:off x="8782050" y="556260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87182"/>
                </a:solidFill>
                <a:latin typeface="Cairo"/>
                <a:ea typeface="Cairo"/>
                <a:cs typeface="Cairo"/>
              </a:defRPr>
            </a:defPPr>
          </a:lstStyle>
          <a:p xmlns:a="http://schemas.openxmlformats.org/drawingml/2006/main">
            <a:pPr>
              <a:defRPr sz="1350" b="0">
                <a:solidFill>
                  <a:srgbClr val="687182"/>
                </a:solidFill>
                <a:latin typeface="Cairo"/>
                <a:ea typeface="Cairo"/>
                <a:cs typeface="Cairo"/>
              </a:defRPr>
            </a:pPr>
            <a:r>
              <a:rPr sz="1350" b="0">
                <a:solidFill>
                  <a:srgbClr val="687182"/>
                </a:solidFill>
                <a:latin typeface="Cairo"/>
                <a:ea typeface="Cairo"/>
                <a:cs typeface="Cairo"/>
              </a:rPr>
              <a:t>IGV / report</a:t>
            </a:r>
          </a:p>
        </p:txBody>
      </p:sp>
    </p:spTree>
    <p:extLst>
      <p:ext uri="{BB962C8B-B14F-4D97-AF65-F5344CB8AC3E}">
        <p14:creationId xmlns:p14="http://schemas.microsoft.com/office/powerpoint/2010/main" val="56619837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3BEE0A96-E29F-46BD-84E6-51D12F2BC8A7}"/>
              </a:ext>
            </a:extLst>
          </p:cNvPr>
          <p:cNvSpPr>
            <a:spLocks xmlns:a="http://schemas.openxmlformats.org/drawingml/2006/main" noGrp="1"/>
          </p:cNvSpPr>
          <p:nvPr/>
        </p:nvSpPr>
        <p:spPr>
          <a:xfrm xmlns:a="http://schemas.openxmlformats.org/drawingml/2006/main">
            <a:off x="533400" y="2571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2457FF"/>
                </a:solidFill>
                <a:latin typeface="Cairo"/>
                <a:ea typeface="Cairo"/>
                <a:cs typeface="Cairo"/>
              </a:defRPr>
            </a:defPPr>
          </a:lstStyle>
          <a:p xmlns:a="http://schemas.openxmlformats.org/drawingml/2006/main">
            <a:pPr>
              <a:defRPr sz="1200" b="1">
                <a:solidFill>
                  <a:srgbClr val="2457FF"/>
                </a:solidFill>
                <a:latin typeface="Cairo"/>
                <a:ea typeface="Cairo"/>
                <a:cs typeface="Cairo"/>
              </a:defRPr>
            </a:pPr>
            <a:r>
              <a:rPr sz="1200" b="1">
                <a:solidFill>
                  <a:srgbClr val="2457FF"/>
                </a:solidFill>
                <a:latin typeface="Cairo"/>
                <a:ea typeface="Cairo"/>
                <a:cs typeface="Cairo"/>
              </a:rPr>
              <a:t>BACKUP</a:t>
            </a:r>
          </a:p>
        </p:txBody>
      </p:sp>
      <p:sp>
        <p:nvSpPr>
          <p:cNvPr id="2" name="text-1">
            <a:extLst xmlns:a="http://schemas.openxmlformats.org/drawingml/2006/main">
              <a:ext uri="{FF2B5EF4-FFF2-40B4-BE49-F238E27FC236}">
                <a16:creationId xmlns:a16="http://schemas.microsoft.com/office/drawing/2014/main" id="{A754E9A9-243D-4B2E-B345-BE8D6F20C6C6}"/>
              </a:ext>
            </a:extLst>
          </p:cNvPr>
          <p:cNvSpPr>
            <a:spLocks xmlns:a="http://schemas.openxmlformats.org/drawingml/2006/main" noGrp="1"/>
          </p:cNvSpPr>
          <p:nvPr/>
        </p:nvSpPr>
        <p:spPr>
          <a:xfrm xmlns:a="http://schemas.openxmlformats.org/drawingml/2006/main">
            <a:off x="533400" y="64770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5181F"/>
                </a:solidFill>
                <a:latin typeface="Cairo"/>
                <a:ea typeface="Cairo"/>
                <a:cs typeface="Cairo"/>
              </a:defRPr>
            </a:defPPr>
          </a:lstStyle>
          <a:p xmlns:a="http://schemas.openxmlformats.org/drawingml/2006/main">
            <a:pPr>
              <a:defRPr sz="3150" b="1">
                <a:solidFill>
                  <a:srgbClr val="15181F"/>
                </a:solidFill>
                <a:latin typeface="Cairo"/>
                <a:ea typeface="Cairo"/>
                <a:cs typeface="Cairo"/>
              </a:defRPr>
            </a:pPr>
            <a:r>
              <a:rPr sz="3150" b="1">
                <a:solidFill>
                  <a:srgbClr val="15181F"/>
                </a:solidFill>
                <a:latin typeface="Cairo"/>
                <a:ea typeface="Cairo"/>
                <a:cs typeface="Cairo"/>
              </a:rPr>
              <a:t>Calling and filtering commands</a:t>
            </a:r>
          </a:p>
        </p:txBody>
      </p:sp>
      <p:sp>
        <p:nvSpPr>
          <p:cNvPr id="3" name="text-2">
            <a:extLst xmlns:a="http://schemas.openxmlformats.org/drawingml/2006/main">
              <a:ext uri="{FF2B5EF4-FFF2-40B4-BE49-F238E27FC236}">
                <a16:creationId xmlns:a16="http://schemas.microsoft.com/office/drawing/2014/main" id="{91A8DD4A-0241-4856-B71F-CDF71CD89AB2}"/>
              </a:ext>
            </a:extLst>
          </p:cNvPr>
          <p:cNvSpPr>
            <a:spLocks xmlns:a="http://schemas.openxmlformats.org/drawingml/2006/main" noGrp="1"/>
          </p:cNvSpPr>
          <p:nvPr/>
        </p:nvSpPr>
        <p:spPr>
          <a:xfrm xmlns:a="http://schemas.openxmlformats.org/drawingml/2006/main">
            <a:off x="11144250" y="64103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687182"/>
                </a:solidFill>
                <a:latin typeface="Cairo"/>
                <a:ea typeface="Cairo"/>
                <a:cs typeface="Cairo"/>
              </a:defRPr>
            </a:defPPr>
          </a:lstStyle>
          <a:p xmlns:a="http://schemas.openxmlformats.org/drawingml/2006/main">
            <a:pPr>
              <a:defRPr sz="1125" b="0">
                <a:solidFill>
                  <a:srgbClr val="687182"/>
                </a:solidFill>
                <a:latin typeface="Cairo"/>
                <a:ea typeface="Cairo"/>
                <a:cs typeface="Cairo"/>
              </a:defRPr>
            </a:pPr>
            <a:r>
              <a:rPr sz="1125" b="0">
                <a:solidFill>
                  <a:srgbClr val="687182"/>
                </a:solidFill>
                <a:latin typeface="Cairo"/>
                <a:ea typeface="Cairo"/>
                <a:cs typeface="Cairo"/>
              </a:rPr>
              <a:t>17</a:t>
            </a:r>
          </a:p>
        </p:txBody>
      </p:sp>
      <p:sp>
        <p:nvSpPr>
          <p:cNvPr id="4" name="">
            <a:extLst xmlns:a="http://schemas.openxmlformats.org/drawingml/2006/main">
              <a:ext uri="{FF2B5EF4-FFF2-40B4-BE49-F238E27FC236}">
                <a16:creationId xmlns:a16="http://schemas.microsoft.com/office/drawing/2014/main" id="{47EBCE0E-0418-4DD9-8054-1A44B57F6C5F}"/>
              </a:ext>
            </a:extLst>
          </p:cNvPr>
          <p:cNvSpPr>
            <a:spLocks xmlns:a="http://schemas.openxmlformats.org/drawingml/2006/main" noGrp="1"/>
          </p:cNvSpPr>
          <p:nvPr/>
        </p:nvSpPr>
        <p:spPr>
          <a:xfrm xmlns:a="http://schemas.openxmlformats.org/drawingml/2006/main">
            <a:off x="533400" y="1819275"/>
            <a:ext cx="11125200" cy="3333750"/>
          </a:xfrm>
          <a:prstGeom xmlns:a="http://schemas.openxmlformats.org/drawingml/2006/main" prst="rect">
            <a:avLst/>
          </a:prstGeom>
          <a:solidFill xmlns:a="http://schemas.openxmlformats.org/drawingml/2006/main">
            <a:srgbClr val="15181F"/>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58D2BA44-8033-4A51-8C66-AC5DF12191E6}"/>
              </a:ext>
            </a:extLst>
          </p:cNvPr>
          <p:cNvSpPr>
            <a:spLocks xmlns:a="http://schemas.openxmlformats.org/drawingml/2006/main" noGrp="1"/>
          </p:cNvSpPr>
          <p:nvPr/>
        </p:nvSpPr>
        <p:spPr>
          <a:xfrm xmlns:a="http://schemas.openxmlformats.org/drawingml/2006/main">
            <a:off x="752475" y="2009775"/>
            <a:ext cx="1068705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E6EBF2"/>
                </a:solidFill>
                <a:latin typeface="DejaVu Sans Mono"/>
                <a:ea typeface="DejaVu Sans Mono"/>
                <a:cs typeface="DejaVu Sans Mono"/>
              </a:defRPr>
            </a:defPPr>
          </a:lstStyle>
          <a:p xmlns:a="http://schemas.openxmlformats.org/drawingml/2006/main">
            <a:pPr>
              <a:defRPr sz="1800" b="0">
                <a:solidFill>
                  <a:srgbClr val="E6EBF2"/>
                </a:solidFill>
                <a:latin typeface="DejaVu Sans Mono"/>
                <a:ea typeface="DejaVu Sans Mono"/>
                <a:cs typeface="DejaVu Sans Mono"/>
              </a:defRPr>
            </a:pPr>
            <a:r>
              <a:rPr sz="1800" b="0">
                <a:solidFill>
                  <a:srgbClr val="E6EBF2"/>
                </a:solidFill>
                <a:latin typeface="DejaVu Sans Mono"/>
                <a:ea typeface="DejaVu Sans Mono"/>
                <a:cs typeface="DejaVu Sans Mono"/>
              </a:rPr>
              <a:t>bcftools mpileup -f "$REFERENCE" \</a:t>
            </a:r>
          </a:p>
          <a:p xmlns:a="http://schemas.openxmlformats.org/drawingml/2006/main">
            <a:pPr>
              <a:defRPr sz="1800" b="0">
                <a:solidFill>
                  <a:srgbClr val="E6EBF2"/>
                </a:solidFill>
                <a:latin typeface="DejaVu Sans Mono"/>
                <a:ea typeface="DejaVu Sans Mono"/>
                <a:cs typeface="DejaVu Sans Mono"/>
              </a:defRPr>
            </a:pPr>
            <a:r>
              <a:rPr sz="1800" b="0">
                <a:solidFill>
                  <a:srgbClr val="E6EBF2"/>
                </a:solidFill>
                <a:latin typeface="DejaVu Sans Mono"/>
                <a:ea typeface="DejaVu Sans Mono"/>
                <a:cs typeface="DejaVu Sans Mono"/>
              </a:rPr>
              <a:t>  -a FORMAT/DP,FORMAT/AD -Ou "$BAM" | \</a:t>
            </a:r>
          </a:p>
          <a:p xmlns:a="http://schemas.openxmlformats.org/drawingml/2006/main">
            <a:pPr>
              <a:defRPr sz="1800" b="0">
                <a:solidFill>
                  <a:srgbClr val="E6EBF2"/>
                </a:solidFill>
                <a:latin typeface="DejaVu Sans Mono"/>
                <a:ea typeface="DejaVu Sans Mono"/>
                <a:cs typeface="DejaVu Sans Mono"/>
              </a:defRPr>
            </a:pPr>
            <a:r>
              <a:rPr sz="1800" b="0">
                <a:solidFill>
                  <a:srgbClr val="E6EBF2"/>
                </a:solidFill>
                <a:latin typeface="DejaVu Sans Mono"/>
                <a:ea typeface="DejaVu Sans Mono"/>
                <a:cs typeface="DejaVu Sans Mono"/>
              </a:rPr>
              <a:t>  bcftools call --ploidy 1 -mv -Oz -o "$RAW_VCF"</a:t>
            </a:r>
          </a:p>
          <a:p xmlns:a="http://schemas.openxmlformats.org/drawingml/2006/main">
            <a:r>
              <a:t/>
            </a:r>
          </a:p>
          <a:p xmlns:a="http://schemas.openxmlformats.org/drawingml/2006/main">
            <a:pPr>
              <a:defRPr sz="1800" b="0">
                <a:solidFill>
                  <a:srgbClr val="E6EBF2"/>
                </a:solidFill>
                <a:latin typeface="DejaVu Sans Mono"/>
                <a:ea typeface="DejaVu Sans Mono"/>
                <a:cs typeface="DejaVu Sans Mono"/>
              </a:defRPr>
            </a:pPr>
            <a:r>
              <a:rPr sz="1800" b="0">
                <a:solidFill>
                  <a:srgbClr val="E6EBF2"/>
                </a:solidFill>
                <a:latin typeface="DejaVu Sans Mono"/>
                <a:ea typeface="DejaVu Sans Mono"/>
                <a:cs typeface="DejaVu Sans Mono"/>
              </a:rPr>
              <a:t>vcftools --gzvcf "$RAW_VCF" \</a:t>
            </a:r>
          </a:p>
          <a:p xmlns:a="http://schemas.openxmlformats.org/drawingml/2006/main">
            <a:pPr>
              <a:defRPr sz="1800" b="0">
                <a:solidFill>
                  <a:srgbClr val="E6EBF2"/>
                </a:solidFill>
                <a:latin typeface="DejaVu Sans Mono"/>
                <a:ea typeface="DejaVu Sans Mono"/>
                <a:cs typeface="DejaVu Sans Mono"/>
              </a:defRPr>
            </a:pPr>
            <a:r>
              <a:rPr sz="1800" b="0">
                <a:solidFill>
                  <a:srgbClr val="E6EBF2"/>
                </a:solidFill>
                <a:latin typeface="DejaVu Sans Mono"/>
                <a:ea typeface="DejaVu Sans Mono"/>
                <a:cs typeface="DejaVu Sans Mono"/>
              </a:rPr>
              <a:t>  --minQ 30 --minDP 5 --max-missing 1 \</a:t>
            </a:r>
          </a:p>
          <a:p xmlns:a="http://schemas.openxmlformats.org/drawingml/2006/main">
            <a:pPr>
              <a:defRPr sz="1800" b="0">
                <a:solidFill>
                  <a:srgbClr val="E6EBF2"/>
                </a:solidFill>
                <a:latin typeface="DejaVu Sans Mono"/>
                <a:ea typeface="DejaVu Sans Mono"/>
                <a:cs typeface="DejaVu Sans Mono"/>
              </a:defRPr>
            </a:pPr>
            <a:r>
              <a:rPr sz="1800" b="0">
                <a:solidFill>
                  <a:srgbClr val="E6EBF2"/>
                </a:solidFill>
                <a:latin typeface="DejaVu Sans Mono"/>
                <a:ea typeface="DejaVu Sans Mono"/>
                <a:cs typeface="DejaVu Sans Mono"/>
              </a:rPr>
              <a:t>  --recode --recode-INFO-all --out "$PREFIX"</a:t>
            </a:r>
          </a:p>
        </p:txBody>
      </p:sp>
      <p:sp>
        <p:nvSpPr>
          <p:cNvPr id="6" name="text-5">
            <a:extLst xmlns:a="http://schemas.openxmlformats.org/drawingml/2006/main">
              <a:ext uri="{FF2B5EF4-FFF2-40B4-BE49-F238E27FC236}">
                <a16:creationId xmlns:a16="http://schemas.microsoft.com/office/drawing/2014/main" id="{0352CC0D-F0EA-4BE7-B3D3-D2ED7F8C99E7}"/>
              </a:ext>
            </a:extLst>
          </p:cNvPr>
          <p:cNvSpPr>
            <a:spLocks xmlns:a="http://schemas.openxmlformats.org/drawingml/2006/main" noGrp="1"/>
          </p:cNvSpPr>
          <p:nvPr/>
        </p:nvSpPr>
        <p:spPr>
          <a:xfrm xmlns:a="http://schemas.openxmlformats.org/drawingml/2006/main">
            <a:off x="533400" y="6038850"/>
            <a:ext cx="1112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687182"/>
                </a:solidFill>
                <a:latin typeface="Cairo"/>
                <a:ea typeface="Cairo"/>
                <a:cs typeface="Cairo"/>
              </a:defRPr>
            </a:defPPr>
          </a:lstStyle>
          <a:p xmlns:a="http://schemas.openxmlformats.org/drawingml/2006/main">
            <a:pPr>
              <a:defRPr sz="1275" b="0">
                <a:solidFill>
                  <a:srgbClr val="687182"/>
                </a:solidFill>
                <a:latin typeface="Cairo"/>
                <a:ea typeface="Cairo"/>
                <a:cs typeface="Cairo"/>
              </a:defRPr>
            </a:pPr>
            <a:r>
              <a:rPr sz="1275" b="0">
                <a:solidFill>
                  <a:srgbClr val="687182"/>
                </a:solidFill>
                <a:latin typeface="Cairo"/>
                <a:ea typeface="Cairo"/>
                <a:cs typeface="Cairo"/>
              </a:rPr>
              <a:t>REFERENCE, BAM, RAW_VCF and PREFIX identify the corresponding per-sample paths.</a:t>
            </a:r>
          </a:p>
        </p:txBody>
      </p:sp>
    </p:spTree>
    <p:extLst>
      <p:ext uri="{BB962C8B-B14F-4D97-AF65-F5344CB8AC3E}">
        <p14:creationId xmlns:p14="http://schemas.microsoft.com/office/powerpoint/2010/main" val="193909643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3B7B9E8F-4F56-4CBF-87A9-B45A6F192FF0}"/>
              </a:ext>
            </a:extLst>
          </p:cNvPr>
          <p:cNvSpPr>
            <a:spLocks xmlns:a="http://schemas.openxmlformats.org/drawingml/2006/main" noGrp="1"/>
          </p:cNvSpPr>
          <p:nvPr/>
        </p:nvSpPr>
        <p:spPr>
          <a:xfrm xmlns:a="http://schemas.openxmlformats.org/drawingml/2006/main">
            <a:off x="533400" y="2571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2457FF"/>
                </a:solidFill>
                <a:latin typeface="Cairo"/>
                <a:ea typeface="Cairo"/>
                <a:cs typeface="Cairo"/>
              </a:defRPr>
            </a:defPPr>
          </a:lstStyle>
          <a:p xmlns:a="http://schemas.openxmlformats.org/drawingml/2006/main">
            <a:pPr>
              <a:defRPr sz="1200" b="1">
                <a:solidFill>
                  <a:srgbClr val="2457FF"/>
                </a:solidFill>
                <a:latin typeface="Cairo"/>
                <a:ea typeface="Cairo"/>
                <a:cs typeface="Cairo"/>
              </a:defRPr>
            </a:pPr>
            <a:r>
              <a:rPr sz="1200" b="1">
                <a:solidFill>
                  <a:srgbClr val="2457FF"/>
                </a:solidFill>
                <a:latin typeface="Cairo"/>
                <a:ea typeface="Cairo"/>
                <a:cs typeface="Cairo"/>
              </a:rPr>
              <a:t>BACKUP</a:t>
            </a:r>
          </a:p>
        </p:txBody>
      </p:sp>
      <p:sp>
        <p:nvSpPr>
          <p:cNvPr id="2" name="text-1">
            <a:extLst xmlns:a="http://schemas.openxmlformats.org/drawingml/2006/main">
              <a:ext uri="{FF2B5EF4-FFF2-40B4-BE49-F238E27FC236}">
                <a16:creationId xmlns:a16="http://schemas.microsoft.com/office/drawing/2014/main" id="{21B08ACA-53A3-4369-9460-52B88D10018D}"/>
              </a:ext>
            </a:extLst>
          </p:cNvPr>
          <p:cNvSpPr>
            <a:spLocks xmlns:a="http://schemas.openxmlformats.org/drawingml/2006/main" noGrp="1"/>
          </p:cNvSpPr>
          <p:nvPr/>
        </p:nvSpPr>
        <p:spPr>
          <a:xfrm xmlns:a="http://schemas.openxmlformats.org/drawingml/2006/main">
            <a:off x="533400" y="64770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5181F"/>
                </a:solidFill>
                <a:latin typeface="Cairo"/>
                <a:ea typeface="Cairo"/>
                <a:cs typeface="Cairo"/>
              </a:defRPr>
            </a:defPPr>
          </a:lstStyle>
          <a:p xmlns:a="http://schemas.openxmlformats.org/drawingml/2006/main">
            <a:pPr>
              <a:defRPr sz="3150" b="1">
                <a:solidFill>
                  <a:srgbClr val="15181F"/>
                </a:solidFill>
                <a:latin typeface="Cairo"/>
                <a:ea typeface="Cairo"/>
                <a:cs typeface="Cairo"/>
              </a:defRPr>
            </a:pPr>
            <a:r>
              <a:rPr sz="3150" b="1">
                <a:solidFill>
                  <a:srgbClr val="15181F"/>
                </a:solidFill>
                <a:latin typeface="Cairo"/>
                <a:ea typeface="Cairo"/>
                <a:cs typeface="Cairo"/>
              </a:rPr>
              <a:t>How the ytfN deletion changes the reading frame</a:t>
            </a:r>
          </a:p>
        </p:txBody>
      </p:sp>
      <p:sp>
        <p:nvSpPr>
          <p:cNvPr id="3" name="text-2">
            <a:extLst xmlns:a="http://schemas.openxmlformats.org/drawingml/2006/main">
              <a:ext uri="{FF2B5EF4-FFF2-40B4-BE49-F238E27FC236}">
                <a16:creationId xmlns:a16="http://schemas.microsoft.com/office/drawing/2014/main" id="{C5F24938-22E3-4000-9AA6-75C1CFF44903}"/>
              </a:ext>
            </a:extLst>
          </p:cNvPr>
          <p:cNvSpPr>
            <a:spLocks xmlns:a="http://schemas.openxmlformats.org/drawingml/2006/main" noGrp="1"/>
          </p:cNvSpPr>
          <p:nvPr/>
        </p:nvSpPr>
        <p:spPr>
          <a:xfrm xmlns:a="http://schemas.openxmlformats.org/drawingml/2006/main">
            <a:off x="11144250" y="64103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687182"/>
                </a:solidFill>
                <a:latin typeface="Cairo"/>
                <a:ea typeface="Cairo"/>
                <a:cs typeface="Cairo"/>
              </a:defRPr>
            </a:defPPr>
          </a:lstStyle>
          <a:p xmlns:a="http://schemas.openxmlformats.org/drawingml/2006/main">
            <a:pPr>
              <a:defRPr sz="1125" b="0">
                <a:solidFill>
                  <a:srgbClr val="687182"/>
                </a:solidFill>
                <a:latin typeface="Cairo"/>
                <a:ea typeface="Cairo"/>
                <a:cs typeface="Cairo"/>
              </a:defRPr>
            </a:pPr>
            <a:r>
              <a:rPr sz="1125" b="0">
                <a:solidFill>
                  <a:srgbClr val="687182"/>
                </a:solidFill>
                <a:latin typeface="Cairo"/>
                <a:ea typeface="Cairo"/>
                <a:cs typeface="Cairo"/>
              </a:rPr>
              <a:t>18</a:t>
            </a:r>
          </a:p>
        </p:txBody>
      </p:sp>
      <p:sp>
        <p:nvSpPr>
          <p:cNvPr id="4" name="text-3">
            <a:extLst xmlns:a="http://schemas.openxmlformats.org/drawingml/2006/main">
              <a:ext uri="{FF2B5EF4-FFF2-40B4-BE49-F238E27FC236}">
                <a16:creationId xmlns:a16="http://schemas.microsoft.com/office/drawing/2014/main" id="{295C6141-4060-4CDF-A3CD-3A1069B0AA98}"/>
              </a:ext>
            </a:extLst>
          </p:cNvPr>
          <p:cNvSpPr>
            <a:spLocks xmlns:a="http://schemas.openxmlformats.org/drawingml/2006/main" noGrp="1"/>
          </p:cNvSpPr>
          <p:nvPr/>
        </p:nvSpPr>
        <p:spPr>
          <a:xfrm xmlns:a="http://schemas.openxmlformats.org/drawingml/2006/main">
            <a:off x="533400" y="1790700"/>
            <a:ext cx="111252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687182"/>
                </a:solidFill>
                <a:latin typeface="Cairo"/>
                <a:ea typeface="Cairo"/>
                <a:cs typeface="Cairo"/>
              </a:defRPr>
            </a:defPPr>
          </a:lstStyle>
          <a:p xmlns:a="http://schemas.openxmlformats.org/drawingml/2006/main">
            <a:pPr>
              <a:defRPr sz="2025" b="0">
                <a:solidFill>
                  <a:srgbClr val="687182"/>
                </a:solidFill>
                <a:latin typeface="Cairo"/>
                <a:ea typeface="Cairo"/>
                <a:cs typeface="Cairo"/>
              </a:defRPr>
            </a:pPr>
            <a:r>
              <a:rPr sz="2025" b="0">
                <a:solidFill>
                  <a:srgbClr val="687182"/>
                </a:solidFill>
                <a:latin typeface="Cairo"/>
                <a:ea typeface="Cairo"/>
                <a:cs typeface="Cairo"/>
              </a:rPr>
              <a:t>Reference, from codon 1176</a:t>
            </a:r>
          </a:p>
        </p:txBody>
      </p:sp>
      <p:sp>
        <p:nvSpPr>
          <p:cNvPr id="5" name="text-4">
            <a:extLst xmlns:a="http://schemas.openxmlformats.org/drawingml/2006/main">
              <a:ext uri="{FF2B5EF4-FFF2-40B4-BE49-F238E27FC236}">
                <a16:creationId xmlns:a16="http://schemas.microsoft.com/office/drawing/2014/main" id="{BB9A1E89-1898-4487-BF1C-6A80679F7E45}"/>
              </a:ext>
            </a:extLst>
          </p:cNvPr>
          <p:cNvSpPr>
            <a:spLocks xmlns:a="http://schemas.openxmlformats.org/drawingml/2006/main" noGrp="1"/>
          </p:cNvSpPr>
          <p:nvPr/>
        </p:nvSpPr>
        <p:spPr>
          <a:xfrm xmlns:a="http://schemas.openxmlformats.org/drawingml/2006/main">
            <a:off x="533400" y="2381250"/>
            <a:ext cx="11125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75" b="1">
                <a:solidFill>
                  <a:srgbClr val="15181F"/>
                </a:solidFill>
                <a:latin typeface="DejaVu Sans Mono"/>
                <a:ea typeface="DejaVu Sans Mono"/>
                <a:cs typeface="DejaVu Sans Mono"/>
              </a:defRPr>
            </a:defPPr>
          </a:lstStyle>
          <a:p xmlns:a="http://schemas.openxmlformats.org/drawingml/2006/main">
            <a:pPr>
              <a:defRPr sz="3675" b="1">
                <a:solidFill>
                  <a:srgbClr val="15181F"/>
                </a:solidFill>
                <a:latin typeface="DejaVu Sans Mono"/>
                <a:ea typeface="DejaVu Sans Mono"/>
                <a:cs typeface="DejaVu Sans Mono"/>
              </a:defRPr>
            </a:pPr>
            <a:r>
              <a:rPr sz="3675" b="1">
                <a:solidFill>
                  <a:srgbClr val="15181F"/>
                </a:solidFill>
                <a:latin typeface="DejaVu Sans Mono"/>
                <a:ea typeface="DejaVu Sans Mono"/>
                <a:cs typeface="DejaVu Sans Mono"/>
              </a:rPr>
              <a:t>GGC  CAG  ATT  GTG  GGT</a:t>
            </a:r>
          </a:p>
        </p:txBody>
      </p:sp>
      <p:sp>
        <p:nvSpPr>
          <p:cNvPr id="6" name="">
            <a:extLst xmlns:a="http://schemas.openxmlformats.org/drawingml/2006/main">
              <a:ext uri="{FF2B5EF4-FFF2-40B4-BE49-F238E27FC236}">
                <a16:creationId xmlns:a16="http://schemas.microsoft.com/office/drawing/2014/main" id="{2EF2C705-630F-4292-B8DE-DFD02867F8A6}"/>
              </a:ext>
            </a:extLst>
          </p:cNvPr>
          <p:cNvSpPr>
            <a:spLocks xmlns:a="http://schemas.openxmlformats.org/drawingml/2006/main" noGrp="1"/>
          </p:cNvSpPr>
          <p:nvPr/>
        </p:nvSpPr>
        <p:spPr>
          <a:xfrm xmlns:a="http://schemas.openxmlformats.org/drawingml/2006/main">
            <a:off x="533400" y="3457575"/>
            <a:ext cx="11125200" cy="11430"/>
          </a:xfrm>
          <a:prstGeom xmlns:a="http://schemas.openxmlformats.org/drawingml/2006/main" prst="rect">
            <a:avLst/>
          </a:prstGeom>
          <a:solidFill xmlns:a="http://schemas.openxmlformats.org/drawingml/2006/main">
            <a:srgbClr val="E6EBF2"/>
          </a:solidFill>
          <a:ln xmlns:a="http://schemas.openxmlformats.org/drawingml/2006/main" w="0">
            <a:noFill/>
            <a:prstDash val="solid"/>
          </a:ln>
        </p:spPr>
      </p:sp>
      <p:sp>
        <p:nvSpPr>
          <p:cNvPr id="7" name="text-6">
            <a:extLst xmlns:a="http://schemas.openxmlformats.org/drawingml/2006/main">
              <a:ext uri="{FF2B5EF4-FFF2-40B4-BE49-F238E27FC236}">
                <a16:creationId xmlns:a16="http://schemas.microsoft.com/office/drawing/2014/main" id="{A27BAA7D-4B09-42C1-99D3-C3BF483FB862}"/>
              </a:ext>
            </a:extLst>
          </p:cNvPr>
          <p:cNvSpPr>
            <a:spLocks xmlns:a="http://schemas.openxmlformats.org/drawingml/2006/main" noGrp="1"/>
          </p:cNvSpPr>
          <p:nvPr/>
        </p:nvSpPr>
        <p:spPr>
          <a:xfrm xmlns:a="http://schemas.openxmlformats.org/drawingml/2006/main">
            <a:off x="533400" y="3848100"/>
            <a:ext cx="111252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687182"/>
                </a:solidFill>
                <a:latin typeface="Cairo"/>
                <a:ea typeface="Cairo"/>
                <a:cs typeface="Cairo"/>
              </a:defRPr>
            </a:defPPr>
          </a:lstStyle>
          <a:p xmlns:a="http://schemas.openxmlformats.org/drawingml/2006/main">
            <a:pPr>
              <a:defRPr sz="2025" b="0">
                <a:solidFill>
                  <a:srgbClr val="687182"/>
                </a:solidFill>
                <a:latin typeface="Cairo"/>
                <a:ea typeface="Cairo"/>
                <a:cs typeface="Cairo"/>
              </a:defRPr>
            </a:pPr>
            <a:r>
              <a:rPr sz="2025" b="0">
                <a:solidFill>
                  <a:srgbClr val="687182"/>
                </a:solidFill>
                <a:latin typeface="Cairo"/>
                <a:ea typeface="Cairo"/>
                <a:cs typeface="Cairo"/>
              </a:rPr>
              <a:t>After deleting the first GG</a:t>
            </a:r>
          </a:p>
        </p:txBody>
      </p:sp>
      <p:sp>
        <p:nvSpPr>
          <p:cNvPr id="8" name="text-7">
            <a:extLst xmlns:a="http://schemas.openxmlformats.org/drawingml/2006/main">
              <a:ext uri="{FF2B5EF4-FFF2-40B4-BE49-F238E27FC236}">
                <a16:creationId xmlns:a16="http://schemas.microsoft.com/office/drawing/2014/main" id="{A15BB9C8-44EF-4D34-B5C2-652347BE8EFF}"/>
              </a:ext>
            </a:extLst>
          </p:cNvPr>
          <p:cNvSpPr>
            <a:spLocks xmlns:a="http://schemas.openxmlformats.org/drawingml/2006/main" noGrp="1"/>
          </p:cNvSpPr>
          <p:nvPr/>
        </p:nvSpPr>
        <p:spPr>
          <a:xfrm xmlns:a="http://schemas.openxmlformats.org/drawingml/2006/main">
            <a:off x="533400" y="4448175"/>
            <a:ext cx="11125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75" b="1">
                <a:solidFill>
                  <a:srgbClr val="2457FF"/>
                </a:solidFill>
                <a:latin typeface="DejaVu Sans Mono"/>
                <a:ea typeface="DejaVu Sans Mono"/>
                <a:cs typeface="DejaVu Sans Mono"/>
              </a:defRPr>
            </a:defPPr>
          </a:lstStyle>
          <a:p xmlns:a="http://schemas.openxmlformats.org/drawingml/2006/main">
            <a:pPr>
              <a:defRPr sz="3675" b="1">
                <a:solidFill>
                  <a:srgbClr val="2457FF"/>
                </a:solidFill>
                <a:latin typeface="DejaVu Sans Mono"/>
                <a:ea typeface="DejaVu Sans Mono"/>
                <a:cs typeface="DejaVu Sans Mono"/>
              </a:defRPr>
            </a:pPr>
            <a:r>
              <a:rPr sz="3675" b="1">
                <a:solidFill>
                  <a:srgbClr val="2457FF"/>
                </a:solidFill>
                <a:latin typeface="DejaVu Sans Mono"/>
                <a:ea typeface="DejaVu Sans Mono"/>
                <a:cs typeface="DejaVu Sans Mono"/>
              </a:rPr>
              <a:t>CCA  GAT  TGT  GGG  TAA</a:t>
            </a:r>
          </a:p>
        </p:txBody>
      </p:sp>
      <p:sp>
        <p:nvSpPr>
          <p:cNvPr id="9" name="text-8">
            <a:extLst xmlns:a="http://schemas.openxmlformats.org/drawingml/2006/main">
              <a:ext uri="{FF2B5EF4-FFF2-40B4-BE49-F238E27FC236}">
                <a16:creationId xmlns:a16="http://schemas.microsoft.com/office/drawing/2014/main" id="{DC13C1C4-54D0-4C66-87EA-B31434629666}"/>
              </a:ext>
            </a:extLst>
          </p:cNvPr>
          <p:cNvSpPr>
            <a:spLocks xmlns:a="http://schemas.openxmlformats.org/drawingml/2006/main" noGrp="1"/>
          </p:cNvSpPr>
          <p:nvPr/>
        </p:nvSpPr>
        <p:spPr>
          <a:xfrm xmlns:a="http://schemas.openxmlformats.org/drawingml/2006/main">
            <a:off x="581025" y="5267325"/>
            <a:ext cx="11049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0">
                <a:solidFill>
                  <a:srgbClr val="687182"/>
                </a:solidFill>
                <a:latin typeface="Cairo"/>
                <a:ea typeface="Cairo"/>
                <a:cs typeface="Cairo"/>
              </a:defRPr>
            </a:defPPr>
          </a:lstStyle>
          <a:p xmlns:a="http://schemas.openxmlformats.org/drawingml/2006/main">
            <a:pPr>
              <a:defRPr sz="2250" b="0">
                <a:solidFill>
                  <a:srgbClr val="687182"/>
                </a:solidFill>
                <a:latin typeface="Cairo"/>
                <a:ea typeface="Cairo"/>
                <a:cs typeface="Cairo"/>
              </a:defRPr>
            </a:pPr>
            <a:r>
              <a:rPr sz="2250" b="0">
                <a:solidFill>
                  <a:srgbClr val="687182"/>
                </a:solidFill>
                <a:latin typeface="Cairo"/>
                <a:ea typeface="Cairo"/>
                <a:cs typeface="Cairo"/>
              </a:rPr>
              <a:t>Pro     Asp     Cys     Gly     STOP</a:t>
            </a:r>
          </a:p>
        </p:txBody>
      </p:sp>
      <p:sp>
        <p:nvSpPr>
          <p:cNvPr id="10" name="text-9">
            <a:extLst xmlns:a="http://schemas.openxmlformats.org/drawingml/2006/main">
              <a:ext uri="{FF2B5EF4-FFF2-40B4-BE49-F238E27FC236}">
                <a16:creationId xmlns:a16="http://schemas.microsoft.com/office/drawing/2014/main" id="{F949F84E-6647-4E1F-A5DA-CA91F5C9D320}"/>
              </a:ext>
            </a:extLst>
          </p:cNvPr>
          <p:cNvSpPr>
            <a:spLocks xmlns:a="http://schemas.openxmlformats.org/drawingml/2006/main" noGrp="1"/>
          </p:cNvSpPr>
          <p:nvPr/>
        </p:nvSpPr>
        <p:spPr>
          <a:xfrm xmlns:a="http://schemas.openxmlformats.org/drawingml/2006/main">
            <a:off x="533400" y="6038850"/>
            <a:ext cx="1112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687182"/>
                </a:solidFill>
                <a:latin typeface="Cairo"/>
                <a:ea typeface="Cairo"/>
                <a:cs typeface="Cairo"/>
              </a:defRPr>
            </a:defPPr>
          </a:lstStyle>
          <a:p xmlns:a="http://schemas.openxmlformats.org/drawingml/2006/main">
            <a:pPr>
              <a:defRPr sz="1275" b="0">
                <a:solidFill>
                  <a:srgbClr val="687182"/>
                </a:solidFill>
                <a:latin typeface="Cairo"/>
                <a:ea typeface="Cairo"/>
                <a:cs typeface="Cairo"/>
              </a:defRPr>
            </a:pPr>
            <a:r>
              <a:rPr sz="1275" b="0">
                <a:solidFill>
                  <a:srgbClr val="687182"/>
                </a:solidFill>
                <a:latin typeface="Cairo"/>
                <a:ea typeface="Cairo"/>
                <a:cs typeface="Cairo"/>
              </a:rPr>
              <a:t>Predicted p.Gly1176ProfsTer5. The fifth altered codon is a stop at residue 1180.</a:t>
            </a:r>
          </a:p>
        </p:txBody>
      </p:sp>
    </p:spTree>
    <p:extLst>
      <p:ext uri="{BB962C8B-B14F-4D97-AF65-F5344CB8AC3E}">
        <p14:creationId xmlns:p14="http://schemas.microsoft.com/office/powerpoint/2010/main" val="17656286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2BE08508-B675-4561-B557-5FC038F985CD}"/>
              </a:ext>
            </a:extLst>
          </p:cNvPr>
          <p:cNvSpPr>
            <a:spLocks xmlns:a="http://schemas.openxmlformats.org/drawingml/2006/main" noGrp="1"/>
          </p:cNvSpPr>
          <p:nvPr/>
        </p:nvSpPr>
        <p:spPr>
          <a:xfrm xmlns:a="http://schemas.openxmlformats.org/drawingml/2006/main">
            <a:off x="533400" y="2571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2457FF"/>
                </a:solidFill>
                <a:latin typeface="Cairo"/>
                <a:ea typeface="Cairo"/>
                <a:cs typeface="Cairo"/>
              </a:defRPr>
            </a:defPPr>
          </a:lstStyle>
          <a:p xmlns:a="http://schemas.openxmlformats.org/drawingml/2006/main">
            <a:pPr>
              <a:defRPr sz="1200" b="1">
                <a:solidFill>
                  <a:srgbClr val="2457FF"/>
                </a:solidFill>
                <a:latin typeface="Cairo"/>
                <a:ea typeface="Cairo"/>
                <a:cs typeface="Cairo"/>
              </a:defRPr>
            </a:pPr>
            <a:r>
              <a:rPr sz="1200" b="1">
                <a:solidFill>
                  <a:srgbClr val="2457FF"/>
                </a:solidFill>
                <a:latin typeface="Cairo"/>
                <a:ea typeface="Cairo"/>
                <a:cs typeface="Cairo"/>
              </a:rPr>
              <a:t>BACKUP</a:t>
            </a:r>
          </a:p>
        </p:txBody>
      </p:sp>
      <p:sp>
        <p:nvSpPr>
          <p:cNvPr id="2" name="text-1">
            <a:extLst xmlns:a="http://schemas.openxmlformats.org/drawingml/2006/main">
              <a:ext uri="{FF2B5EF4-FFF2-40B4-BE49-F238E27FC236}">
                <a16:creationId xmlns:a16="http://schemas.microsoft.com/office/drawing/2014/main" id="{CFCD91DA-B9F9-41C9-9445-E8E80E3DD71C}"/>
              </a:ext>
            </a:extLst>
          </p:cNvPr>
          <p:cNvSpPr>
            <a:spLocks xmlns:a="http://schemas.openxmlformats.org/drawingml/2006/main" noGrp="1"/>
          </p:cNvSpPr>
          <p:nvPr/>
        </p:nvSpPr>
        <p:spPr>
          <a:xfrm xmlns:a="http://schemas.openxmlformats.org/drawingml/2006/main">
            <a:off x="533400" y="64770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5181F"/>
                </a:solidFill>
                <a:latin typeface="Cairo"/>
                <a:ea typeface="Cairo"/>
                <a:cs typeface="Cairo"/>
              </a:defRPr>
            </a:defPPr>
          </a:lstStyle>
          <a:p xmlns:a="http://schemas.openxmlformats.org/drawingml/2006/main">
            <a:pPr>
              <a:defRPr sz="3150" b="1">
                <a:solidFill>
                  <a:srgbClr val="15181F"/>
                </a:solidFill>
                <a:latin typeface="Cairo"/>
                <a:ea typeface="Cairo"/>
                <a:cs typeface="Cairo"/>
              </a:defRPr>
            </a:pPr>
            <a:r>
              <a:rPr sz="3150" b="1">
                <a:solidFill>
                  <a:srgbClr val="15181F"/>
                </a:solidFill>
                <a:latin typeface="Cairo"/>
                <a:ea typeface="Cairo"/>
                <a:cs typeface="Cairo"/>
              </a:rPr>
              <a:t>SNP comparison at position 9972</a:t>
            </a:r>
          </a:p>
        </p:txBody>
      </p:sp>
      <p:sp>
        <p:nvSpPr>
          <p:cNvPr id="3" name="text-2">
            <a:extLst xmlns:a="http://schemas.openxmlformats.org/drawingml/2006/main">
              <a:ext uri="{FF2B5EF4-FFF2-40B4-BE49-F238E27FC236}">
                <a16:creationId xmlns:a16="http://schemas.microsoft.com/office/drawing/2014/main" id="{66D1D120-4B54-461E-AB41-DE120B880228}"/>
              </a:ext>
            </a:extLst>
          </p:cNvPr>
          <p:cNvSpPr>
            <a:spLocks xmlns:a="http://schemas.openxmlformats.org/drawingml/2006/main" noGrp="1"/>
          </p:cNvSpPr>
          <p:nvPr/>
        </p:nvSpPr>
        <p:spPr>
          <a:xfrm xmlns:a="http://schemas.openxmlformats.org/drawingml/2006/main">
            <a:off x="11144250" y="64103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687182"/>
                </a:solidFill>
                <a:latin typeface="Cairo"/>
                <a:ea typeface="Cairo"/>
                <a:cs typeface="Cairo"/>
              </a:defRPr>
            </a:defPPr>
          </a:lstStyle>
          <a:p xmlns:a="http://schemas.openxmlformats.org/drawingml/2006/main">
            <a:pPr>
              <a:defRPr sz="1125" b="0">
                <a:solidFill>
                  <a:srgbClr val="687182"/>
                </a:solidFill>
                <a:latin typeface="Cairo"/>
                <a:ea typeface="Cairo"/>
                <a:cs typeface="Cairo"/>
              </a:defRPr>
            </a:pPr>
            <a:r>
              <a:rPr sz="1125" b="0">
                <a:solidFill>
                  <a:srgbClr val="687182"/>
                </a:solidFill>
                <a:latin typeface="Cairo"/>
                <a:ea typeface="Cairo"/>
                <a:cs typeface="Cairo"/>
              </a:rPr>
              <a:t>19</a:t>
            </a:r>
          </a:p>
        </p:txBody>
      </p:sp>
      <p:pic>
        <p:nvPicPr>
          <p:cNvPr id="4" name="">
            <a:extLst xmlns:a="http://schemas.openxmlformats.org/drawingml/2006/main">
              <a:ext uri="{FF2B5EF4-FFF2-40B4-BE49-F238E27FC236}">
                <a16:creationId xmlns:a16="http://schemas.microsoft.com/office/drawing/2014/main" id="{E2741E6D-F05C-457A-85B2-5A307F6DB430}"/>
              </a:ext>
            </a:extLst>
          </p:cNvPr>
          <p:cNvPicPr>
            <a:picLocks xmlns:a="http://schemas.openxmlformats.org/drawingml/2006/main" noChangeAspect="1"/>
          </p:cNvPicPr>
          <p:nvPr/>
        </p:nvPicPr>
        <p:blipFill>
          <a:blip xmlns:r="http://schemas.openxmlformats.org/officeDocument/2006/relationships" xmlns:a="http://schemas.openxmlformats.org/drawingml/2006/main" r:embed="R40138fa2b1c44a7b"/>
          <a:stretch xmlns:a="http://schemas.openxmlformats.org/drawingml/2006/main"/>
        </p:blipFill>
        <p:spPr>
          <a:xfrm xmlns:a="http://schemas.openxmlformats.org/drawingml/2006/main">
            <a:off x="1334596" y="1752600"/>
            <a:ext cx="7446357" cy="409575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7B7A508E-85DA-4B05-A538-FDB002673957}"/>
              </a:ext>
            </a:extLst>
          </p:cNvPr>
          <p:cNvSpPr>
            <a:spLocks xmlns:a="http://schemas.openxmlformats.org/drawingml/2006/main" noGrp="1"/>
          </p:cNvSpPr>
          <p:nvPr/>
        </p:nvSpPr>
        <p:spPr>
          <a:xfrm xmlns:a="http://schemas.openxmlformats.org/drawingml/2006/main">
            <a:off x="9906000" y="200977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2457FF"/>
                </a:solidFill>
                <a:latin typeface="Cairo"/>
                <a:ea typeface="Cairo"/>
                <a:cs typeface="Cairo"/>
              </a:defRPr>
            </a:defPPr>
          </a:lstStyle>
          <a:p xmlns:a="http://schemas.openxmlformats.org/drawingml/2006/main">
            <a:pPr>
              <a:defRPr sz="3225" b="1">
                <a:solidFill>
                  <a:srgbClr val="2457FF"/>
                </a:solidFill>
                <a:latin typeface="Cairo"/>
                <a:ea typeface="Cairo"/>
                <a:cs typeface="Cairo"/>
              </a:defRPr>
            </a:pPr>
            <a:r>
              <a:rPr sz="3225" b="1">
                <a:solidFill>
                  <a:srgbClr val="2457FF"/>
                </a:solidFill>
                <a:latin typeface="Cairo"/>
                <a:ea typeface="Cairo"/>
                <a:cs typeface="Cairo"/>
              </a:rPr>
              <a:t>T → G</a:t>
            </a:r>
          </a:p>
        </p:txBody>
      </p:sp>
      <p:sp>
        <p:nvSpPr>
          <p:cNvPr id="6" name="text-4">
            <a:extLst xmlns:a="http://schemas.openxmlformats.org/drawingml/2006/main">
              <a:ext uri="{FF2B5EF4-FFF2-40B4-BE49-F238E27FC236}">
                <a16:creationId xmlns:a16="http://schemas.microsoft.com/office/drawing/2014/main" id="{364FDB94-5242-4C43-AE08-E6AFB79E87ED}"/>
              </a:ext>
            </a:extLst>
          </p:cNvPr>
          <p:cNvSpPr>
            <a:spLocks xmlns:a="http://schemas.openxmlformats.org/drawingml/2006/main" noGrp="1"/>
          </p:cNvSpPr>
          <p:nvPr/>
        </p:nvSpPr>
        <p:spPr>
          <a:xfrm xmlns:a="http://schemas.openxmlformats.org/drawingml/2006/main">
            <a:off x="9886950" y="3333750"/>
            <a:ext cx="1809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687182"/>
                </a:solidFill>
                <a:latin typeface="Cairo"/>
                <a:ea typeface="Cairo"/>
                <a:cs typeface="Cairo"/>
              </a:defRPr>
            </a:defPPr>
          </a:lstStyle>
          <a:p xmlns:a="http://schemas.openxmlformats.org/drawingml/2006/main">
            <a:pPr>
              <a:defRPr sz="1800" b="0">
                <a:solidFill>
                  <a:srgbClr val="687182"/>
                </a:solidFill>
                <a:latin typeface="Cairo"/>
                <a:ea typeface="Cairo"/>
                <a:cs typeface="Cairo"/>
              </a:defRPr>
            </a:pPr>
            <a:r>
              <a:rPr sz="1800" b="0">
                <a:solidFill>
                  <a:srgbClr val="687182"/>
                </a:solidFill>
                <a:latin typeface="Cairo"/>
                <a:ea typeface="Cairo"/>
                <a:cs typeface="Cairo"/>
              </a:rPr>
              <a:t>4863 raw DP: 4</a:t>
            </a:r>
          </a:p>
          <a:p xmlns:a="http://schemas.openxmlformats.org/drawingml/2006/main">
            <a:pPr>
              <a:defRPr sz="1800" b="0">
                <a:solidFill>
                  <a:srgbClr val="687182"/>
                </a:solidFill>
                <a:latin typeface="Cairo"/>
                <a:ea typeface="Cairo"/>
                <a:cs typeface="Cairo"/>
              </a:defRPr>
            </a:pPr>
            <a:r>
              <a:rPr sz="1800" b="0">
                <a:solidFill>
                  <a:srgbClr val="687182"/>
                </a:solidFill>
                <a:latin typeface="Cairo"/>
                <a:ea typeface="Cairo"/>
                <a:cs typeface="Cairo"/>
              </a:rPr>
              <a:t>Fails DP ≥ 5</a:t>
            </a:r>
          </a:p>
        </p:txBody>
      </p:sp>
      <p:sp>
        <p:nvSpPr>
          <p:cNvPr id="7" name="text-5">
            <a:extLst xmlns:a="http://schemas.openxmlformats.org/drawingml/2006/main">
              <a:ext uri="{FF2B5EF4-FFF2-40B4-BE49-F238E27FC236}">
                <a16:creationId xmlns:a16="http://schemas.microsoft.com/office/drawing/2014/main" id="{5D25AB43-B1C5-4959-88BA-BB7DC55B82FE}"/>
              </a:ext>
            </a:extLst>
          </p:cNvPr>
          <p:cNvSpPr>
            <a:spLocks xmlns:a="http://schemas.openxmlformats.org/drawingml/2006/main" noGrp="1"/>
          </p:cNvSpPr>
          <p:nvPr/>
        </p:nvSpPr>
        <p:spPr>
          <a:xfrm xmlns:a="http://schemas.openxmlformats.org/drawingml/2006/main">
            <a:off x="533400" y="6038850"/>
            <a:ext cx="1112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687182"/>
                </a:solidFill>
                <a:latin typeface="Cairo"/>
                <a:ea typeface="Cairo"/>
                <a:cs typeface="Cairo"/>
              </a:defRPr>
            </a:defPPr>
          </a:lstStyle>
          <a:p xmlns:a="http://schemas.openxmlformats.org/drawingml/2006/main">
            <a:pPr>
              <a:defRPr sz="1275" b="0">
                <a:solidFill>
                  <a:srgbClr val="687182"/>
                </a:solidFill>
                <a:latin typeface="Cairo"/>
                <a:ea typeface="Cairo"/>
                <a:cs typeface="Cairo"/>
              </a:defRPr>
            </a:pPr>
            <a:r>
              <a:rPr sz="1275" b="0">
                <a:solidFill>
                  <a:srgbClr val="687182"/>
                </a:solidFill>
                <a:latin typeface="Cairo"/>
                <a:ea typeface="Cairo"/>
                <a:cs typeface="Cairo"/>
              </a:rPr>
              <a:t>A second example of threshold-dependent differences in filtered call sets.</a:t>
            </a:r>
          </a:p>
        </p:txBody>
      </p:sp>
    </p:spTree>
    <p:extLst>
      <p:ext uri="{BB962C8B-B14F-4D97-AF65-F5344CB8AC3E}">
        <p14:creationId xmlns:p14="http://schemas.microsoft.com/office/powerpoint/2010/main" val="1173440377"/>
      </p:ext>
    </p:extLst>
  </p:cSld>
</p:sld>
</file>

<file path=ppt/theme/theme1.xml><?xml version="1.0" encoding="utf-8"?>
<a:theme xmlns:a="http://schemas.openxmlformats.org/drawingml/2006/main" name="ChatGPT">
  <a:themeElements>
    <a:clrScheme name="Scientific Editorial">
      <a:dk1>
        <a:srgbClr val="15181F"/>
      </a:dk1>
      <a:lt1>
        <a:srgbClr val="FFFFFF"/>
      </a:lt1>
      <a:dk2>
        <a:srgbClr val="252B36"/>
      </a:dk2>
      <a:lt2>
        <a:srgbClr val="F3F6FB"/>
      </a:lt2>
      <a:accent1>
        <a:srgbClr val="2457FF"/>
      </a:accent1>
      <a:accent2>
        <a:srgbClr val="A6B5D7"/>
      </a:accent2>
      <a:accent3>
        <a:srgbClr val="15181F"/>
      </a:accent3>
      <a:accent4>
        <a:srgbClr val="8B94A5"/>
      </a:accent4>
      <a:accent5>
        <a:srgbClr val="CFD8EE"/>
      </a:accent5>
      <a:accent6>
        <a:srgbClr val="DCE4F7"/>
      </a:accent6>
      <a:hlink>
        <a:srgbClr val="2457FF"/>
      </a:hlink>
      <a:folHlink>
        <a:srgbClr val="2457FF"/>
      </a:folHlink>
    </a:clrScheme>
    <a:fontScheme name="">
      <a:majorFont>
        <a:latin typeface="Cairo"/>
        <a:ea typeface=""/>
        <a:cs typeface=""/>
      </a:majorFont>
      <a:minorFont>
        <a:latin typeface="Cairo"/>
        <a:ea typeface=""/>
        <a:cs typeface=""/>
      </a:minorFont>
    </a:fontScheme>
    <a:fmtScheme name="Scientific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2026-10-15T11:49:56.1760000Z</dcterms:created>
  <dcterms:modified xsi:type="dcterms:W3CDTF">2026-10-15T11:49:56.1760000Z</dcterms:modified>
</coreProperties>
</file>